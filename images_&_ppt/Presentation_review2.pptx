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81" r:id="rId3"/>
    <p:sldId id="259" r:id="rId4"/>
    <p:sldId id="258" r:id="rId5"/>
    <p:sldId id="260" r:id="rId6"/>
    <p:sldId id="262" r:id="rId7"/>
    <p:sldId id="263" r:id="rId8"/>
    <p:sldId id="261" r:id="rId9"/>
    <p:sldId id="275" r:id="rId10"/>
    <p:sldId id="264" r:id="rId11"/>
    <p:sldId id="265" r:id="rId12"/>
    <p:sldId id="266" r:id="rId13"/>
    <p:sldId id="267" r:id="rId14"/>
    <p:sldId id="292" r:id="rId15"/>
    <p:sldId id="268" r:id="rId16"/>
    <p:sldId id="269" r:id="rId17"/>
    <p:sldId id="284" r:id="rId18"/>
    <p:sldId id="270" r:id="rId19"/>
    <p:sldId id="271" r:id="rId20"/>
    <p:sldId id="272" r:id="rId21"/>
    <p:sldId id="276" r:id="rId22"/>
    <p:sldId id="282" r:id="rId23"/>
    <p:sldId id="283" r:id="rId24"/>
    <p:sldId id="277" r:id="rId25"/>
    <p:sldId id="286" r:id="rId26"/>
    <p:sldId id="285" r:id="rId27"/>
    <p:sldId id="287" r:id="rId28"/>
    <p:sldId id="288" r:id="rId29"/>
    <p:sldId id="289" r:id="rId30"/>
    <p:sldId id="290" r:id="rId31"/>
    <p:sldId id="291" r:id="rId32"/>
    <p:sldId id="273" r:id="rId33"/>
    <p:sldId id="27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B32914-A54D-4F07-BC95-46859A3C8BB0}" v="6" dt="2026-10-01T05:15:32.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jain" userId="7da93378ce1f4180" providerId="LiveId" clId="{70528977-33EB-4F6F-9B23-6479A39892F8}"/>
    <pc:docChg chg="undo redo custSel addSld modSld sldOrd">
      <pc:chgData name="harsh jain" userId="7da93378ce1f4180" providerId="LiveId" clId="{70528977-33EB-4F6F-9B23-6479A39892F8}" dt="2026-10-01T05:16:02.014" v="485" actId="5793"/>
      <pc:docMkLst>
        <pc:docMk/>
      </pc:docMkLst>
      <pc:sldChg chg="addSp delSp modSp mod">
        <pc:chgData name="harsh jain" userId="7da93378ce1f4180" providerId="LiveId" clId="{70528977-33EB-4F6F-9B23-6479A39892F8}" dt="2026-09-30T15:58:39.394" v="463" actId="478"/>
        <pc:sldMkLst>
          <pc:docMk/>
          <pc:sldMk cId="0" sldId="256"/>
        </pc:sldMkLst>
        <pc:spChg chg="add del mod">
          <ac:chgData name="harsh jain" userId="7da93378ce1f4180" providerId="LiveId" clId="{70528977-33EB-4F6F-9B23-6479A39892F8}" dt="2026-09-30T15:58:39.394" v="463" actId="478"/>
          <ac:spMkLst>
            <pc:docMk/>
            <pc:sldMk cId="0" sldId="256"/>
            <ac:spMk id="2" creationId="{183DF10E-29F2-FD8D-F315-1986A7F0C9AF}"/>
          </ac:spMkLst>
        </pc:spChg>
        <pc:spChg chg="add del mod">
          <ac:chgData name="harsh jain" userId="7da93378ce1f4180" providerId="LiveId" clId="{70528977-33EB-4F6F-9B23-6479A39892F8}" dt="2026-09-30T15:56:37.946" v="420" actId="478"/>
          <ac:spMkLst>
            <pc:docMk/>
            <pc:sldMk cId="0" sldId="256"/>
            <ac:spMk id="4" creationId="{34C5EE3B-5D41-D58F-B989-47B3191A21F3}"/>
          </ac:spMkLst>
        </pc:spChg>
        <pc:spChg chg="add del mod">
          <ac:chgData name="harsh jain" userId="7da93378ce1f4180" providerId="LiveId" clId="{70528977-33EB-4F6F-9B23-6479A39892F8}" dt="2026-09-30T15:56:37.946" v="420" actId="478"/>
          <ac:spMkLst>
            <pc:docMk/>
            <pc:sldMk cId="0" sldId="256"/>
            <ac:spMk id="77" creationId="{00000000-0000-0000-0000-000000000000}"/>
          </ac:spMkLst>
        </pc:spChg>
        <pc:spChg chg="add del mod">
          <ac:chgData name="harsh jain" userId="7da93378ce1f4180" providerId="LiveId" clId="{70528977-33EB-4F6F-9B23-6479A39892F8}" dt="2026-09-30T15:56:37.946" v="420" actId="478"/>
          <ac:spMkLst>
            <pc:docMk/>
            <pc:sldMk cId="0" sldId="256"/>
            <ac:spMk id="79" creationId="{00000000-0000-0000-0000-000000000000}"/>
          </ac:spMkLst>
        </pc:spChg>
        <pc:spChg chg="add del">
          <ac:chgData name="harsh jain" userId="7da93378ce1f4180" providerId="LiveId" clId="{70528977-33EB-4F6F-9B23-6479A39892F8}" dt="2026-09-30T15:56:37.946" v="420" actId="478"/>
          <ac:spMkLst>
            <pc:docMk/>
            <pc:sldMk cId="0" sldId="256"/>
            <ac:spMk id="80" creationId="{00000000-0000-0000-0000-000000000000}"/>
          </ac:spMkLst>
        </pc:spChg>
        <pc:spChg chg="add del">
          <ac:chgData name="harsh jain" userId="7da93378ce1f4180" providerId="LiveId" clId="{70528977-33EB-4F6F-9B23-6479A39892F8}" dt="2026-09-30T15:56:37.946" v="420" actId="478"/>
          <ac:spMkLst>
            <pc:docMk/>
            <pc:sldMk cId="0" sldId="256"/>
            <ac:spMk id="81" creationId="{00000000-0000-0000-0000-000000000000}"/>
          </ac:spMkLst>
        </pc:spChg>
        <pc:picChg chg="add del">
          <ac:chgData name="harsh jain" userId="7da93378ce1f4180" providerId="LiveId" clId="{70528977-33EB-4F6F-9B23-6479A39892F8}" dt="2026-09-30T15:56:37.946" v="420" actId="478"/>
          <ac:picMkLst>
            <pc:docMk/>
            <pc:sldMk cId="0" sldId="256"/>
            <ac:picMk id="78" creationId="{00000000-0000-0000-0000-000000000000}"/>
          </ac:picMkLst>
        </pc:picChg>
      </pc:sldChg>
      <pc:sldChg chg="addSp delSp modSp mod">
        <pc:chgData name="harsh jain" userId="7da93378ce1f4180" providerId="LiveId" clId="{70528977-33EB-4F6F-9B23-6479A39892F8}" dt="2026-09-30T15:58:34.020" v="460" actId="22"/>
        <pc:sldMkLst>
          <pc:docMk/>
          <pc:sldMk cId="1271796461" sldId="258"/>
        </pc:sldMkLst>
        <pc:spChg chg="mod">
          <ac:chgData name="harsh jain" userId="7da93378ce1f4180" providerId="LiveId" clId="{70528977-33EB-4F6F-9B23-6479A39892F8}" dt="2026-09-27T10:58:01.732" v="45" actId="2711"/>
          <ac:spMkLst>
            <pc:docMk/>
            <pc:sldMk cId="1271796461" sldId="258"/>
            <ac:spMk id="3" creationId="{11EB8F4C-5C19-9E46-3DFA-37E60975185D}"/>
          </ac:spMkLst>
        </pc:spChg>
        <pc:picChg chg="add del mod">
          <ac:chgData name="harsh jain" userId="7da93378ce1f4180" providerId="LiveId" clId="{70528977-33EB-4F6F-9B23-6479A39892F8}" dt="2026-09-30T15:58:34.020" v="460" actId="22"/>
          <ac:picMkLst>
            <pc:docMk/>
            <pc:sldMk cId="1271796461" sldId="258"/>
            <ac:picMk id="5" creationId="{75718114-FC67-6BC9-189C-03C327530292}"/>
          </ac:picMkLst>
        </pc:picChg>
      </pc:sldChg>
      <pc:sldChg chg="addSp delSp modSp mod">
        <pc:chgData name="harsh jain" userId="7da93378ce1f4180" providerId="LiveId" clId="{70528977-33EB-4F6F-9B23-6479A39892F8}" dt="2026-09-30T15:58:34.525" v="461" actId="22"/>
        <pc:sldMkLst>
          <pc:docMk/>
          <pc:sldMk cId="1185055669" sldId="259"/>
        </pc:sldMkLst>
        <pc:spChg chg="mod">
          <ac:chgData name="harsh jain" userId="7da93378ce1f4180" providerId="LiveId" clId="{70528977-33EB-4F6F-9B23-6479A39892F8}" dt="2026-09-27T10:53:30.942" v="40" actId="20577"/>
          <ac:spMkLst>
            <pc:docMk/>
            <pc:sldMk cId="1185055669" sldId="259"/>
            <ac:spMk id="3" creationId="{D277CFB5-783E-5DDC-2901-72CAD1042412}"/>
          </ac:spMkLst>
        </pc:spChg>
        <pc:spChg chg="add del mod">
          <ac:chgData name="harsh jain" userId="7da93378ce1f4180" providerId="LiveId" clId="{70528977-33EB-4F6F-9B23-6479A39892F8}" dt="2026-09-30T06:02:00.576" v="388" actId="478"/>
          <ac:spMkLst>
            <pc:docMk/>
            <pc:sldMk cId="1185055669" sldId="259"/>
            <ac:spMk id="4" creationId="{249F28C5-3306-B47B-2581-2FF75B46F539}"/>
          </ac:spMkLst>
        </pc:spChg>
        <pc:picChg chg="add del">
          <ac:chgData name="harsh jain" userId="7da93378ce1f4180" providerId="LiveId" clId="{70528977-33EB-4F6F-9B23-6479A39892F8}" dt="2026-09-30T15:58:34.525" v="461" actId="22"/>
          <ac:picMkLst>
            <pc:docMk/>
            <pc:sldMk cId="1185055669" sldId="259"/>
            <ac:picMk id="5" creationId="{01E29FF7-F92C-0B05-0FF7-1DBCB45A252A}"/>
          </ac:picMkLst>
        </pc:picChg>
      </pc:sldChg>
      <pc:sldChg chg="addSp delSp modSp mod">
        <pc:chgData name="harsh jain" userId="7da93378ce1f4180" providerId="LiveId" clId="{70528977-33EB-4F6F-9B23-6479A39892F8}" dt="2026-09-30T15:58:33.352" v="458" actId="22"/>
        <pc:sldMkLst>
          <pc:docMk/>
          <pc:sldMk cId="1487381267" sldId="260"/>
        </pc:sldMkLst>
        <pc:picChg chg="add del mod">
          <ac:chgData name="harsh jain" userId="7da93378ce1f4180" providerId="LiveId" clId="{70528977-33EB-4F6F-9B23-6479A39892F8}" dt="2026-09-30T15:58:33.352" v="458" actId="22"/>
          <ac:picMkLst>
            <pc:docMk/>
            <pc:sldMk cId="1487381267" sldId="260"/>
            <ac:picMk id="3" creationId="{DF70AC34-4DA3-E3F4-7370-8E43DB5761F9}"/>
          </ac:picMkLst>
        </pc:picChg>
      </pc:sldChg>
      <pc:sldChg chg="addSp delSp mod">
        <pc:chgData name="harsh jain" userId="7da93378ce1f4180" providerId="LiveId" clId="{70528977-33EB-4F6F-9B23-6479A39892F8}" dt="2026-09-30T15:58:32.567" v="455" actId="22"/>
        <pc:sldMkLst>
          <pc:docMk/>
          <pc:sldMk cId="3960635546" sldId="261"/>
        </pc:sldMkLst>
        <pc:picChg chg="add del">
          <ac:chgData name="harsh jain" userId="7da93378ce1f4180" providerId="LiveId" clId="{70528977-33EB-4F6F-9B23-6479A39892F8}" dt="2026-09-30T15:58:32.567" v="455" actId="22"/>
          <ac:picMkLst>
            <pc:docMk/>
            <pc:sldMk cId="3960635546" sldId="261"/>
            <ac:picMk id="3" creationId="{DFA5D63E-8679-D89F-7905-77C6988C2ABC}"/>
          </ac:picMkLst>
        </pc:picChg>
      </pc:sldChg>
      <pc:sldChg chg="addSp delSp modSp mod">
        <pc:chgData name="harsh jain" userId="7da93378ce1f4180" providerId="LiveId" clId="{70528977-33EB-4F6F-9B23-6479A39892F8}" dt="2026-09-30T15:58:32.065" v="453" actId="22"/>
        <pc:sldMkLst>
          <pc:docMk/>
          <pc:sldMk cId="2455687332" sldId="264"/>
        </pc:sldMkLst>
        <pc:picChg chg="add del mod">
          <ac:chgData name="harsh jain" userId="7da93378ce1f4180" providerId="LiveId" clId="{70528977-33EB-4F6F-9B23-6479A39892F8}" dt="2026-09-30T15:58:32.065" v="453" actId="22"/>
          <ac:picMkLst>
            <pc:docMk/>
            <pc:sldMk cId="2455687332" sldId="264"/>
            <ac:picMk id="5" creationId="{855460A9-1B08-4E34-BBC7-65782AF2D3F9}"/>
          </ac:picMkLst>
        </pc:picChg>
      </pc:sldChg>
      <pc:sldChg chg="addSp delSp mod">
        <pc:chgData name="harsh jain" userId="7da93378ce1f4180" providerId="LiveId" clId="{70528977-33EB-4F6F-9B23-6479A39892F8}" dt="2026-09-30T15:58:31.097" v="449" actId="22"/>
        <pc:sldMkLst>
          <pc:docMk/>
          <pc:sldMk cId="516225442" sldId="265"/>
        </pc:sldMkLst>
        <pc:picChg chg="add del">
          <ac:chgData name="harsh jain" userId="7da93378ce1f4180" providerId="LiveId" clId="{70528977-33EB-4F6F-9B23-6479A39892F8}" dt="2026-09-30T15:58:31.097" v="449" actId="22"/>
          <ac:picMkLst>
            <pc:docMk/>
            <pc:sldMk cId="516225442" sldId="265"/>
            <ac:picMk id="5" creationId="{97021463-0711-BC9B-4E63-247333CA4E21}"/>
          </ac:picMkLst>
        </pc:picChg>
      </pc:sldChg>
      <pc:sldChg chg="addSp delSp modSp mod">
        <pc:chgData name="harsh jain" userId="7da93378ce1f4180" providerId="LiveId" clId="{70528977-33EB-4F6F-9B23-6479A39892F8}" dt="2026-09-30T15:58:30.855" v="448" actId="22"/>
        <pc:sldMkLst>
          <pc:docMk/>
          <pc:sldMk cId="1998835834" sldId="266"/>
        </pc:sldMkLst>
        <pc:spChg chg="mod">
          <ac:chgData name="harsh jain" userId="7da93378ce1f4180" providerId="LiveId" clId="{70528977-33EB-4F6F-9B23-6479A39892F8}" dt="2026-09-28T14:08:15.154" v="343" actId="20577"/>
          <ac:spMkLst>
            <pc:docMk/>
            <pc:sldMk cId="1998835834" sldId="266"/>
            <ac:spMk id="3" creationId="{31FBCEF3-F3AC-957E-97C2-82666D559C8C}"/>
          </ac:spMkLst>
        </pc:spChg>
        <pc:picChg chg="add del">
          <ac:chgData name="harsh jain" userId="7da93378ce1f4180" providerId="LiveId" clId="{70528977-33EB-4F6F-9B23-6479A39892F8}" dt="2026-09-30T15:58:30.855" v="448" actId="22"/>
          <ac:picMkLst>
            <pc:docMk/>
            <pc:sldMk cId="1998835834" sldId="266"/>
            <ac:picMk id="5" creationId="{36195B24-B7F1-3CD1-5EEB-0D5A6EE7DD0B}"/>
          </ac:picMkLst>
        </pc:picChg>
      </pc:sldChg>
      <pc:sldChg chg="addSp delSp modSp mod">
        <pc:chgData name="harsh jain" userId="7da93378ce1f4180" providerId="LiveId" clId="{70528977-33EB-4F6F-9B23-6479A39892F8}" dt="2026-10-01T05:15:05.875" v="475" actId="15"/>
        <pc:sldMkLst>
          <pc:docMk/>
          <pc:sldMk cId="1061025541" sldId="267"/>
        </pc:sldMkLst>
        <pc:spChg chg="mod">
          <ac:chgData name="harsh jain" userId="7da93378ce1f4180" providerId="LiveId" clId="{70528977-33EB-4F6F-9B23-6479A39892F8}" dt="2026-10-01T05:14:01.237" v="466" actId="1076"/>
          <ac:spMkLst>
            <pc:docMk/>
            <pc:sldMk cId="1061025541" sldId="267"/>
            <ac:spMk id="2" creationId="{2277C868-1FC7-1622-5BEA-15D7BF35A974}"/>
          </ac:spMkLst>
        </pc:spChg>
        <pc:spChg chg="mod">
          <ac:chgData name="harsh jain" userId="7da93378ce1f4180" providerId="LiveId" clId="{70528977-33EB-4F6F-9B23-6479A39892F8}" dt="2026-10-01T05:15:05.875" v="475" actId="15"/>
          <ac:spMkLst>
            <pc:docMk/>
            <pc:sldMk cId="1061025541" sldId="267"/>
            <ac:spMk id="3" creationId="{F1B77F1E-520E-161C-17E4-3044C0F03C3E}"/>
          </ac:spMkLst>
        </pc:spChg>
        <pc:picChg chg="add del">
          <ac:chgData name="harsh jain" userId="7da93378ce1f4180" providerId="LiveId" clId="{70528977-33EB-4F6F-9B23-6479A39892F8}" dt="2026-09-30T15:58:30.613" v="447" actId="22"/>
          <ac:picMkLst>
            <pc:docMk/>
            <pc:sldMk cId="1061025541" sldId="267"/>
            <ac:picMk id="5" creationId="{5E2083FF-3FCD-7E54-7B3D-3C5D0EA90DD5}"/>
          </ac:picMkLst>
        </pc:picChg>
      </pc:sldChg>
      <pc:sldChg chg="addSp delSp modSp mod">
        <pc:chgData name="harsh jain" userId="7da93378ce1f4180" providerId="LiveId" clId="{70528977-33EB-4F6F-9B23-6479A39892F8}" dt="2026-09-30T15:58:30.293" v="446" actId="22"/>
        <pc:sldMkLst>
          <pc:docMk/>
          <pc:sldMk cId="289726130" sldId="268"/>
        </pc:sldMkLst>
        <pc:spChg chg="mod">
          <ac:chgData name="harsh jain" userId="7da93378ce1f4180" providerId="LiveId" clId="{70528977-33EB-4F6F-9B23-6479A39892F8}" dt="2026-09-28T14:07:40.622" v="339" actId="1076"/>
          <ac:spMkLst>
            <pc:docMk/>
            <pc:sldMk cId="289726130" sldId="268"/>
            <ac:spMk id="2" creationId="{BF4E10FE-0A07-223D-774D-B944A28BFC84}"/>
          </ac:spMkLst>
        </pc:spChg>
        <pc:spChg chg="mod">
          <ac:chgData name="harsh jain" userId="7da93378ce1f4180" providerId="LiveId" clId="{70528977-33EB-4F6F-9B23-6479A39892F8}" dt="2026-09-28T14:04:35.396" v="301" actId="2711"/>
          <ac:spMkLst>
            <pc:docMk/>
            <pc:sldMk cId="289726130" sldId="268"/>
            <ac:spMk id="3" creationId="{51844B9D-2B3F-BA82-6A86-313028EBB8D4}"/>
          </ac:spMkLst>
        </pc:spChg>
        <pc:spChg chg="add mod">
          <ac:chgData name="harsh jain" userId="7da93378ce1f4180" providerId="LiveId" clId="{70528977-33EB-4F6F-9B23-6479A39892F8}" dt="2026-09-28T14:04:35.396" v="301" actId="2711"/>
          <ac:spMkLst>
            <pc:docMk/>
            <pc:sldMk cId="289726130" sldId="268"/>
            <ac:spMk id="4" creationId="{CA8E0D66-E8F5-E32A-79EF-1359B353EB6F}"/>
          </ac:spMkLst>
        </pc:spChg>
        <pc:spChg chg="add mod">
          <ac:chgData name="harsh jain" userId="7da93378ce1f4180" providerId="LiveId" clId="{70528977-33EB-4F6F-9B23-6479A39892F8}" dt="2026-09-28T14:04:35.396" v="301" actId="2711"/>
          <ac:spMkLst>
            <pc:docMk/>
            <pc:sldMk cId="289726130" sldId="268"/>
            <ac:spMk id="5" creationId="{FD0E507A-B9AB-1979-E095-6652B491B8D6}"/>
          </ac:spMkLst>
        </pc:spChg>
        <pc:spChg chg="add mod">
          <ac:chgData name="harsh jain" userId="7da93378ce1f4180" providerId="LiveId" clId="{70528977-33EB-4F6F-9B23-6479A39892F8}" dt="2026-09-28T14:04:35.396" v="301" actId="2711"/>
          <ac:spMkLst>
            <pc:docMk/>
            <pc:sldMk cId="289726130" sldId="268"/>
            <ac:spMk id="6" creationId="{B60327CE-9F4C-9C38-88AB-E1D0797243D5}"/>
          </ac:spMkLst>
        </pc:spChg>
        <pc:spChg chg="add mod">
          <ac:chgData name="harsh jain" userId="7da93378ce1f4180" providerId="LiveId" clId="{70528977-33EB-4F6F-9B23-6479A39892F8}" dt="2026-09-28T14:04:35.396" v="301" actId="2711"/>
          <ac:spMkLst>
            <pc:docMk/>
            <pc:sldMk cId="289726130" sldId="268"/>
            <ac:spMk id="8" creationId="{CCCC296B-3D30-6C19-CDFC-C56CE5DB66DB}"/>
          </ac:spMkLst>
        </pc:spChg>
        <pc:spChg chg="add mod">
          <ac:chgData name="harsh jain" userId="7da93378ce1f4180" providerId="LiveId" clId="{70528977-33EB-4F6F-9B23-6479A39892F8}" dt="2026-09-28T14:04:35.396" v="301" actId="2711"/>
          <ac:spMkLst>
            <pc:docMk/>
            <pc:sldMk cId="289726130" sldId="268"/>
            <ac:spMk id="10" creationId="{3FEA7DE5-1F1B-0018-904A-1FB53BC68019}"/>
          </ac:spMkLst>
        </pc:spChg>
        <pc:spChg chg="add mod">
          <ac:chgData name="harsh jain" userId="7da93378ce1f4180" providerId="LiveId" clId="{70528977-33EB-4F6F-9B23-6479A39892F8}" dt="2026-09-28T14:04:35.396" v="301" actId="2711"/>
          <ac:spMkLst>
            <pc:docMk/>
            <pc:sldMk cId="289726130" sldId="268"/>
            <ac:spMk id="12" creationId="{FCEB7485-7A41-AEAF-10B7-40B1F36166FE}"/>
          </ac:spMkLst>
        </pc:spChg>
        <pc:spChg chg="add mod">
          <ac:chgData name="harsh jain" userId="7da93378ce1f4180" providerId="LiveId" clId="{70528977-33EB-4F6F-9B23-6479A39892F8}" dt="2026-09-28T14:04:35.396" v="301" actId="2711"/>
          <ac:spMkLst>
            <pc:docMk/>
            <pc:sldMk cId="289726130" sldId="268"/>
            <ac:spMk id="14" creationId="{1DF26D07-C62F-207D-B756-16E33F2DD13D}"/>
          </ac:spMkLst>
        </pc:spChg>
        <pc:spChg chg="add mod">
          <ac:chgData name="harsh jain" userId="7da93378ce1f4180" providerId="LiveId" clId="{70528977-33EB-4F6F-9B23-6479A39892F8}" dt="2026-09-28T14:04:35.396" v="301" actId="2711"/>
          <ac:spMkLst>
            <pc:docMk/>
            <pc:sldMk cId="289726130" sldId="268"/>
            <ac:spMk id="16" creationId="{D02F1608-F5A1-6951-A69F-B0B2E4FDBB3B}"/>
          </ac:spMkLst>
        </pc:spChg>
        <pc:picChg chg="add del">
          <ac:chgData name="harsh jain" userId="7da93378ce1f4180" providerId="LiveId" clId="{70528977-33EB-4F6F-9B23-6479A39892F8}" dt="2026-09-30T15:58:30.293" v="446" actId="22"/>
          <ac:picMkLst>
            <pc:docMk/>
            <pc:sldMk cId="289726130" sldId="268"/>
            <ac:picMk id="9" creationId="{8B21FD76-CF21-631C-E59B-38B5BFD4BCA0}"/>
          </ac:picMkLst>
        </pc:picChg>
      </pc:sldChg>
      <pc:sldChg chg="addSp delSp modSp mod">
        <pc:chgData name="harsh jain" userId="7da93378ce1f4180" providerId="LiveId" clId="{70528977-33EB-4F6F-9B23-6479A39892F8}" dt="2026-09-30T15:58:30.061" v="445" actId="22"/>
        <pc:sldMkLst>
          <pc:docMk/>
          <pc:sldMk cId="915307179" sldId="269"/>
        </pc:sldMkLst>
        <pc:spChg chg="mod">
          <ac:chgData name="harsh jain" userId="7da93378ce1f4180" providerId="LiveId" clId="{70528977-33EB-4F6F-9B23-6479A39892F8}" dt="2026-09-30T15:58:29.809" v="444" actId="14100"/>
          <ac:spMkLst>
            <pc:docMk/>
            <pc:sldMk cId="915307179" sldId="269"/>
            <ac:spMk id="2" creationId="{2E86EAB5-29CB-467F-BB01-048ED04FEB1A}"/>
          </ac:spMkLst>
        </pc:spChg>
        <pc:spChg chg="add mod">
          <ac:chgData name="harsh jain" userId="7da93378ce1f4180" providerId="LiveId" clId="{70528977-33EB-4F6F-9B23-6479A39892F8}" dt="2026-09-28T14:07:20.163" v="337" actId="2711"/>
          <ac:spMkLst>
            <pc:docMk/>
            <pc:sldMk cId="915307179" sldId="269"/>
            <ac:spMk id="4" creationId="{07F9F0DE-D513-9D7E-DDA0-EE339850C742}"/>
          </ac:spMkLst>
        </pc:spChg>
        <pc:spChg chg="add mod">
          <ac:chgData name="harsh jain" userId="7da93378ce1f4180" providerId="LiveId" clId="{70528977-33EB-4F6F-9B23-6479A39892F8}" dt="2026-09-28T14:07:20.163" v="337" actId="2711"/>
          <ac:spMkLst>
            <pc:docMk/>
            <pc:sldMk cId="915307179" sldId="269"/>
            <ac:spMk id="6" creationId="{4215E241-7980-E356-9704-0569E0C10F0E}"/>
          </ac:spMkLst>
        </pc:spChg>
        <pc:spChg chg="add mod">
          <ac:chgData name="harsh jain" userId="7da93378ce1f4180" providerId="LiveId" clId="{70528977-33EB-4F6F-9B23-6479A39892F8}" dt="2026-09-28T14:07:20.163" v="337" actId="2711"/>
          <ac:spMkLst>
            <pc:docMk/>
            <pc:sldMk cId="915307179" sldId="269"/>
            <ac:spMk id="7" creationId="{94B31904-B2BE-C289-3F47-B0E7425DA8BF}"/>
          </ac:spMkLst>
        </pc:spChg>
        <pc:picChg chg="add del">
          <ac:chgData name="harsh jain" userId="7da93378ce1f4180" providerId="LiveId" clId="{70528977-33EB-4F6F-9B23-6479A39892F8}" dt="2026-09-30T15:58:30.061" v="445" actId="22"/>
          <ac:picMkLst>
            <pc:docMk/>
            <pc:sldMk cId="915307179" sldId="269"/>
            <ac:picMk id="5" creationId="{B97FC411-AC35-3979-C60B-99F3777B0581}"/>
          </ac:picMkLst>
        </pc:picChg>
      </pc:sldChg>
      <pc:sldChg chg="addSp delSp modSp mod">
        <pc:chgData name="harsh jain" userId="7da93378ce1f4180" providerId="LiveId" clId="{70528977-33EB-4F6F-9B23-6479A39892F8}" dt="2026-09-27T11:26:49.818" v="59" actId="931"/>
        <pc:sldMkLst>
          <pc:docMk/>
          <pc:sldMk cId="3274400203" sldId="270"/>
        </pc:sldMkLst>
        <pc:picChg chg="add mod">
          <ac:chgData name="harsh jain" userId="7da93378ce1f4180" providerId="LiveId" clId="{70528977-33EB-4F6F-9B23-6479A39892F8}" dt="2026-09-27T11:26:49.818" v="59" actId="931"/>
          <ac:picMkLst>
            <pc:docMk/>
            <pc:sldMk cId="3274400203" sldId="270"/>
            <ac:picMk id="4" creationId="{C02410AD-F705-436A-7411-524E95C6ADEA}"/>
          </ac:picMkLst>
        </pc:picChg>
      </pc:sldChg>
      <pc:sldChg chg="addSp delSp modSp mod">
        <pc:chgData name="harsh jain" userId="7da93378ce1f4180" providerId="LiveId" clId="{70528977-33EB-4F6F-9B23-6479A39892F8}" dt="2026-09-27T11:37:42.391" v="61" actId="931"/>
        <pc:sldMkLst>
          <pc:docMk/>
          <pc:sldMk cId="2043271346" sldId="271"/>
        </pc:sldMkLst>
        <pc:picChg chg="add mod">
          <ac:chgData name="harsh jain" userId="7da93378ce1f4180" providerId="LiveId" clId="{70528977-33EB-4F6F-9B23-6479A39892F8}" dt="2026-09-27T11:37:42.391" v="61" actId="931"/>
          <ac:picMkLst>
            <pc:docMk/>
            <pc:sldMk cId="2043271346" sldId="271"/>
            <ac:picMk id="4" creationId="{074FB8A0-E3DF-AFDD-1643-F476C62173DD}"/>
          </ac:picMkLst>
        </pc:picChg>
      </pc:sldChg>
      <pc:sldChg chg="addSp delSp modSp mod">
        <pc:chgData name="harsh jain" userId="7da93378ce1f4180" providerId="LiveId" clId="{70528977-33EB-4F6F-9B23-6479A39892F8}" dt="2026-09-27T11:49:03.410" v="63" actId="931"/>
        <pc:sldMkLst>
          <pc:docMk/>
          <pc:sldMk cId="19459461" sldId="272"/>
        </pc:sldMkLst>
        <pc:picChg chg="add mod">
          <ac:chgData name="harsh jain" userId="7da93378ce1f4180" providerId="LiveId" clId="{70528977-33EB-4F6F-9B23-6479A39892F8}" dt="2026-09-27T11:49:03.410" v="63" actId="931"/>
          <ac:picMkLst>
            <pc:docMk/>
            <pc:sldMk cId="19459461" sldId="272"/>
            <ac:picMk id="4" creationId="{3F3D17FC-2E0C-B87C-B602-072710B3DF84}"/>
          </ac:picMkLst>
        </pc:picChg>
      </pc:sldChg>
      <pc:sldChg chg="modSp mod">
        <pc:chgData name="harsh jain" userId="7da93378ce1f4180" providerId="LiveId" clId="{70528977-33EB-4F6F-9B23-6479A39892F8}" dt="2026-09-30T15:50:32.738" v="413" actId="2711"/>
        <pc:sldMkLst>
          <pc:docMk/>
          <pc:sldMk cId="1377666795" sldId="273"/>
        </pc:sldMkLst>
        <pc:spChg chg="mod">
          <ac:chgData name="harsh jain" userId="7da93378ce1f4180" providerId="LiveId" clId="{70528977-33EB-4F6F-9B23-6479A39892F8}" dt="2026-09-30T15:50:32.738" v="413" actId="2711"/>
          <ac:spMkLst>
            <pc:docMk/>
            <pc:sldMk cId="1377666795" sldId="273"/>
            <ac:spMk id="3" creationId="{DBCF1A47-512F-6407-8ACD-C78E796ED96E}"/>
          </ac:spMkLst>
        </pc:spChg>
      </pc:sldChg>
      <pc:sldChg chg="modSp mod">
        <pc:chgData name="harsh jain" userId="7da93378ce1f4180" providerId="LiveId" clId="{70528977-33EB-4F6F-9B23-6479A39892F8}" dt="2026-09-30T15:53:51.220" v="418"/>
        <pc:sldMkLst>
          <pc:docMk/>
          <pc:sldMk cId="1970901064" sldId="274"/>
        </pc:sldMkLst>
        <pc:spChg chg="mod">
          <ac:chgData name="harsh jain" userId="7da93378ce1f4180" providerId="LiveId" clId="{70528977-33EB-4F6F-9B23-6479A39892F8}" dt="2026-09-30T15:53:51.220" v="418"/>
          <ac:spMkLst>
            <pc:docMk/>
            <pc:sldMk cId="1970901064" sldId="274"/>
            <ac:spMk id="3" creationId="{323A1C7B-8DFB-C9A3-9DA0-16564EF39626}"/>
          </ac:spMkLst>
        </pc:spChg>
      </pc:sldChg>
      <pc:sldChg chg="addSp delSp modSp mod">
        <pc:chgData name="harsh jain" userId="7da93378ce1f4180" providerId="LiveId" clId="{70528977-33EB-4F6F-9B23-6479A39892F8}" dt="2026-09-28T13:18:08.994" v="204" actId="478"/>
        <pc:sldMkLst>
          <pc:docMk/>
          <pc:sldMk cId="2513325364" sldId="276"/>
        </pc:sldMkLst>
        <pc:spChg chg="add mod">
          <ac:chgData name="harsh jain" userId="7da93378ce1f4180" providerId="LiveId" clId="{70528977-33EB-4F6F-9B23-6479A39892F8}" dt="2026-09-27T12:59:37.408" v="152" actId="1076"/>
          <ac:spMkLst>
            <pc:docMk/>
            <pc:sldMk cId="2513325364" sldId="276"/>
            <ac:spMk id="7" creationId="{BDCE4975-D621-9A71-0417-0D2BD535593C}"/>
          </ac:spMkLst>
        </pc:spChg>
        <pc:picChg chg="add mod">
          <ac:chgData name="harsh jain" userId="7da93378ce1f4180" providerId="LiveId" clId="{70528977-33EB-4F6F-9B23-6479A39892F8}" dt="2026-09-28T11:46:31.592" v="182" actId="931"/>
          <ac:picMkLst>
            <pc:docMk/>
            <pc:sldMk cId="2513325364" sldId="276"/>
            <ac:picMk id="5" creationId="{59FF027B-5088-B39D-A11D-8632BAEA0EB7}"/>
          </ac:picMkLst>
        </pc:picChg>
      </pc:sldChg>
      <pc:sldChg chg="addSp delSp modSp mod">
        <pc:chgData name="harsh jain" userId="7da93378ce1f4180" providerId="LiveId" clId="{70528977-33EB-4F6F-9B23-6479A39892F8}" dt="2026-09-28T12:34:13.787" v="201" actId="931"/>
        <pc:sldMkLst>
          <pc:docMk/>
          <pc:sldMk cId="4169463890" sldId="277"/>
        </pc:sldMkLst>
        <pc:picChg chg="add mod">
          <ac:chgData name="harsh jain" userId="7da93378ce1f4180" providerId="LiveId" clId="{70528977-33EB-4F6F-9B23-6479A39892F8}" dt="2026-09-28T12:34:13.787" v="201" actId="931"/>
          <ac:picMkLst>
            <pc:docMk/>
            <pc:sldMk cId="4169463890" sldId="277"/>
            <ac:picMk id="3" creationId="{ABA68F28-2D6F-0C4A-5234-52E3A26B5CF4}"/>
          </ac:picMkLst>
        </pc:picChg>
      </pc:sldChg>
      <pc:sldChg chg="delSp modSp add mod">
        <pc:chgData name="harsh jain" userId="7da93378ce1f4180" providerId="LiveId" clId="{70528977-33EB-4F6F-9B23-6479A39892F8}" dt="2026-09-27T11:01:10.520" v="57" actId="1076"/>
        <pc:sldMkLst>
          <pc:docMk/>
          <pc:sldMk cId="0" sldId="281"/>
        </pc:sldMkLst>
        <pc:graphicFrameChg chg="mod modGraphic">
          <ac:chgData name="harsh jain" userId="7da93378ce1f4180" providerId="LiveId" clId="{70528977-33EB-4F6F-9B23-6479A39892F8}" dt="2026-09-27T11:01:10.520" v="57" actId="1076"/>
          <ac:graphicFrameMkLst>
            <pc:docMk/>
            <pc:sldMk cId="0" sldId="281"/>
            <ac:graphicFrameMk id="2" creationId="{00000000-0000-0000-0000-000000000000}"/>
          </ac:graphicFrameMkLst>
        </pc:graphicFrameChg>
      </pc:sldChg>
      <pc:sldChg chg="addSp delSp modSp new mod">
        <pc:chgData name="harsh jain" userId="7da93378ce1f4180" providerId="LiveId" clId="{70528977-33EB-4F6F-9B23-6479A39892F8}" dt="2026-09-30T15:42:08.718" v="407" actId="1076"/>
        <pc:sldMkLst>
          <pc:docMk/>
          <pc:sldMk cId="3138171367" sldId="282"/>
        </pc:sldMkLst>
        <pc:spChg chg="add mod">
          <ac:chgData name="harsh jain" userId="7da93378ce1f4180" providerId="LiveId" clId="{70528977-33EB-4F6F-9B23-6479A39892F8}" dt="2026-09-28T11:47:21.650" v="199" actId="20577"/>
          <ac:spMkLst>
            <pc:docMk/>
            <pc:sldMk cId="3138171367" sldId="282"/>
            <ac:spMk id="16" creationId="{3F192163-7367-6D51-8057-D7C7A860DE83}"/>
          </ac:spMkLst>
        </pc:spChg>
        <pc:picChg chg="add del mod">
          <ac:chgData name="harsh jain" userId="7da93378ce1f4180" providerId="LiveId" clId="{70528977-33EB-4F6F-9B23-6479A39892F8}" dt="2026-09-30T15:41:58.840" v="405" actId="478"/>
          <ac:picMkLst>
            <pc:docMk/>
            <pc:sldMk cId="3138171367" sldId="282"/>
            <ac:picMk id="3" creationId="{A11B5CF1-3DCE-34A2-615D-E236F2DCECCD}"/>
          </ac:picMkLst>
        </pc:picChg>
        <pc:picChg chg="add mod">
          <ac:chgData name="harsh jain" userId="7da93378ce1f4180" providerId="LiveId" clId="{70528977-33EB-4F6F-9B23-6479A39892F8}" dt="2026-09-30T15:42:08.718" v="407" actId="1076"/>
          <ac:picMkLst>
            <pc:docMk/>
            <pc:sldMk cId="3138171367" sldId="282"/>
            <ac:picMk id="5" creationId="{2F55F1E3-CD31-9308-EBC1-7E0B1309ED23}"/>
          </ac:picMkLst>
        </pc:picChg>
        <pc:picChg chg="add del mod">
          <ac:chgData name="harsh jain" userId="7da93378ce1f4180" providerId="LiveId" clId="{70528977-33EB-4F6F-9B23-6479A39892F8}" dt="2026-09-30T15:33:19.223" v="395" actId="478"/>
          <ac:picMkLst>
            <pc:docMk/>
            <pc:sldMk cId="3138171367" sldId="282"/>
            <ac:picMk id="12" creationId="{292AEC5E-137C-1EE7-B053-53AEAA8D62D3}"/>
          </ac:picMkLst>
        </pc:picChg>
      </pc:sldChg>
      <pc:sldChg chg="addSp delSp modSp add mod">
        <pc:chgData name="harsh jain" userId="7da93378ce1f4180" providerId="LiveId" clId="{70528977-33EB-4F6F-9B23-6479A39892F8}" dt="2026-09-30T15:35:17.062" v="404" actId="1076"/>
        <pc:sldMkLst>
          <pc:docMk/>
          <pc:sldMk cId="3702595538" sldId="283"/>
        </pc:sldMkLst>
        <pc:spChg chg="mod">
          <ac:chgData name="harsh jain" userId="7da93378ce1f4180" providerId="LiveId" clId="{70528977-33EB-4F6F-9B23-6479A39892F8}" dt="2026-09-28T13:18:33.644" v="209" actId="20577"/>
          <ac:spMkLst>
            <pc:docMk/>
            <pc:sldMk cId="3702595538" sldId="283"/>
            <ac:spMk id="16" creationId="{FD26D9B5-73E7-51D6-0855-47FD36776AD4}"/>
          </ac:spMkLst>
        </pc:spChg>
        <pc:picChg chg="add del mod">
          <ac:chgData name="harsh jain" userId="7da93378ce1f4180" providerId="LiveId" clId="{70528977-33EB-4F6F-9B23-6479A39892F8}" dt="2026-09-30T15:33:49.466" v="398" actId="478"/>
          <ac:picMkLst>
            <pc:docMk/>
            <pc:sldMk cId="3702595538" sldId="283"/>
            <ac:picMk id="3" creationId="{04036370-89D0-26C8-4F56-63463ED6FC04}"/>
          </ac:picMkLst>
        </pc:picChg>
        <pc:picChg chg="add del mod">
          <ac:chgData name="harsh jain" userId="7da93378ce1f4180" providerId="LiveId" clId="{70528977-33EB-4F6F-9B23-6479A39892F8}" dt="2026-09-30T15:35:05.661" v="402" actId="478"/>
          <ac:picMkLst>
            <pc:docMk/>
            <pc:sldMk cId="3702595538" sldId="283"/>
            <ac:picMk id="4" creationId="{7AB0FA30-A90A-828F-0FAD-907C77F8FF2C}"/>
          </ac:picMkLst>
        </pc:picChg>
        <pc:picChg chg="add mod">
          <ac:chgData name="harsh jain" userId="7da93378ce1f4180" providerId="LiveId" clId="{70528977-33EB-4F6F-9B23-6479A39892F8}" dt="2026-09-30T15:35:17.062" v="404" actId="1076"/>
          <ac:picMkLst>
            <pc:docMk/>
            <pc:sldMk cId="3702595538" sldId="283"/>
            <ac:picMk id="6" creationId="{78D6B666-D3C2-9641-E724-C5508C109372}"/>
          </ac:picMkLst>
        </pc:picChg>
      </pc:sldChg>
      <pc:sldChg chg="delSp modSp new mod">
        <pc:chgData name="harsh jain" userId="7da93378ce1f4180" providerId="LiveId" clId="{70528977-33EB-4F6F-9B23-6479A39892F8}" dt="2026-09-28T14:08:50.546" v="352" actId="403"/>
        <pc:sldMkLst>
          <pc:docMk/>
          <pc:sldMk cId="104610674" sldId="284"/>
        </pc:sldMkLst>
        <pc:spChg chg="mod">
          <ac:chgData name="harsh jain" userId="7da93378ce1f4180" providerId="LiveId" clId="{70528977-33EB-4F6F-9B23-6479A39892F8}" dt="2026-09-28T14:08:50.546" v="352" actId="403"/>
          <ac:spMkLst>
            <pc:docMk/>
            <pc:sldMk cId="104610674" sldId="284"/>
            <ac:spMk id="3" creationId="{2D3F3539-6156-A899-1B72-711C3D6B635F}"/>
          </ac:spMkLst>
        </pc:spChg>
      </pc:sldChg>
      <pc:sldChg chg="addSp modSp new mod ord">
        <pc:chgData name="harsh jain" userId="7da93378ce1f4180" providerId="LiveId" clId="{70528977-33EB-4F6F-9B23-6479A39892F8}" dt="2026-09-30T05:42:07.976" v="358"/>
        <pc:sldMkLst>
          <pc:docMk/>
          <pc:sldMk cId="1566843170" sldId="285"/>
        </pc:sldMkLst>
        <pc:picChg chg="add mod">
          <ac:chgData name="harsh jain" userId="7da93378ce1f4180" providerId="LiveId" clId="{70528977-33EB-4F6F-9B23-6479A39892F8}" dt="2026-09-30T05:41:45.536" v="355" actId="931"/>
          <ac:picMkLst>
            <pc:docMk/>
            <pc:sldMk cId="1566843170" sldId="285"/>
            <ac:picMk id="3" creationId="{1FE82A84-0779-D81C-FF8E-32A7E1D761B3}"/>
          </ac:picMkLst>
        </pc:picChg>
      </pc:sldChg>
      <pc:sldChg chg="addSp modSp new mod">
        <pc:chgData name="harsh jain" userId="7da93378ce1f4180" providerId="LiveId" clId="{70528977-33EB-4F6F-9B23-6479A39892F8}" dt="2026-09-30T05:42:03.182" v="356" actId="931"/>
        <pc:sldMkLst>
          <pc:docMk/>
          <pc:sldMk cId="2995742475" sldId="286"/>
        </pc:sldMkLst>
        <pc:picChg chg="add mod">
          <ac:chgData name="harsh jain" userId="7da93378ce1f4180" providerId="LiveId" clId="{70528977-33EB-4F6F-9B23-6479A39892F8}" dt="2026-09-30T05:42:03.182" v="356" actId="931"/>
          <ac:picMkLst>
            <pc:docMk/>
            <pc:sldMk cId="2995742475" sldId="286"/>
            <ac:picMk id="3" creationId="{39592571-103D-C362-38A2-7BE3B2848372}"/>
          </ac:picMkLst>
        </pc:picChg>
      </pc:sldChg>
      <pc:sldChg chg="addSp modSp new mod">
        <pc:chgData name="harsh jain" userId="7da93378ce1f4180" providerId="LiveId" clId="{70528977-33EB-4F6F-9B23-6479A39892F8}" dt="2026-09-30T05:42:37.242" v="362" actId="931"/>
        <pc:sldMkLst>
          <pc:docMk/>
          <pc:sldMk cId="3908767966" sldId="287"/>
        </pc:sldMkLst>
        <pc:picChg chg="add mod">
          <ac:chgData name="harsh jain" userId="7da93378ce1f4180" providerId="LiveId" clId="{70528977-33EB-4F6F-9B23-6479A39892F8}" dt="2026-09-30T05:42:37.242" v="362" actId="931"/>
          <ac:picMkLst>
            <pc:docMk/>
            <pc:sldMk cId="3908767966" sldId="287"/>
            <ac:picMk id="3" creationId="{A52A1DD6-8EE7-4898-3A34-5FDBE9E83AC8}"/>
          </ac:picMkLst>
        </pc:picChg>
      </pc:sldChg>
      <pc:sldChg chg="addSp modSp new mod">
        <pc:chgData name="harsh jain" userId="7da93378ce1f4180" providerId="LiveId" clId="{70528977-33EB-4F6F-9B23-6479A39892F8}" dt="2026-09-30T05:42:44.417" v="363" actId="931"/>
        <pc:sldMkLst>
          <pc:docMk/>
          <pc:sldMk cId="624651530" sldId="288"/>
        </pc:sldMkLst>
        <pc:picChg chg="add mod">
          <ac:chgData name="harsh jain" userId="7da93378ce1f4180" providerId="LiveId" clId="{70528977-33EB-4F6F-9B23-6479A39892F8}" dt="2026-09-30T05:42:44.417" v="363" actId="931"/>
          <ac:picMkLst>
            <pc:docMk/>
            <pc:sldMk cId="624651530" sldId="288"/>
            <ac:picMk id="3" creationId="{9664EB38-3AC4-7FC3-5A52-A02EC6B000E1}"/>
          </ac:picMkLst>
        </pc:picChg>
      </pc:sldChg>
      <pc:sldChg chg="addSp modSp new mod">
        <pc:chgData name="harsh jain" userId="7da93378ce1f4180" providerId="LiveId" clId="{70528977-33EB-4F6F-9B23-6479A39892F8}" dt="2026-09-30T05:42:59.723" v="364" actId="931"/>
        <pc:sldMkLst>
          <pc:docMk/>
          <pc:sldMk cId="2381965166" sldId="289"/>
        </pc:sldMkLst>
        <pc:picChg chg="add mod">
          <ac:chgData name="harsh jain" userId="7da93378ce1f4180" providerId="LiveId" clId="{70528977-33EB-4F6F-9B23-6479A39892F8}" dt="2026-09-30T05:42:59.723" v="364" actId="931"/>
          <ac:picMkLst>
            <pc:docMk/>
            <pc:sldMk cId="2381965166" sldId="289"/>
            <ac:picMk id="3" creationId="{7005F50F-CAA7-7038-9B3B-807A5FF00BD7}"/>
          </ac:picMkLst>
        </pc:picChg>
      </pc:sldChg>
      <pc:sldChg chg="addSp modSp new mod">
        <pc:chgData name="harsh jain" userId="7da93378ce1f4180" providerId="LiveId" clId="{70528977-33EB-4F6F-9B23-6479A39892F8}" dt="2026-09-30T05:43:12.031" v="367" actId="931"/>
        <pc:sldMkLst>
          <pc:docMk/>
          <pc:sldMk cId="3909345094" sldId="290"/>
        </pc:sldMkLst>
        <pc:picChg chg="add mod">
          <ac:chgData name="harsh jain" userId="7da93378ce1f4180" providerId="LiveId" clId="{70528977-33EB-4F6F-9B23-6479A39892F8}" dt="2026-09-30T05:43:12.031" v="367" actId="931"/>
          <ac:picMkLst>
            <pc:docMk/>
            <pc:sldMk cId="3909345094" sldId="290"/>
            <ac:picMk id="3" creationId="{374D6B64-11C6-81F1-6598-F8D3EF0A778F}"/>
          </ac:picMkLst>
        </pc:picChg>
      </pc:sldChg>
      <pc:sldChg chg="addSp modSp new mod">
        <pc:chgData name="harsh jain" userId="7da93378ce1f4180" providerId="LiveId" clId="{70528977-33EB-4F6F-9B23-6479A39892F8}" dt="2026-09-30T05:43:24.464" v="368" actId="931"/>
        <pc:sldMkLst>
          <pc:docMk/>
          <pc:sldMk cId="3832037203" sldId="291"/>
        </pc:sldMkLst>
        <pc:picChg chg="add mod">
          <ac:chgData name="harsh jain" userId="7da93378ce1f4180" providerId="LiveId" clId="{70528977-33EB-4F6F-9B23-6479A39892F8}" dt="2026-09-30T05:43:24.464" v="368" actId="931"/>
          <ac:picMkLst>
            <pc:docMk/>
            <pc:sldMk cId="3832037203" sldId="291"/>
            <ac:picMk id="3" creationId="{1C1CB3E3-9EB8-AFC0-00BF-05C6CE87A5EE}"/>
          </ac:picMkLst>
        </pc:picChg>
      </pc:sldChg>
      <pc:sldChg chg="delSp modSp new mod">
        <pc:chgData name="harsh jain" userId="7da93378ce1f4180" providerId="LiveId" clId="{70528977-33EB-4F6F-9B23-6479A39892F8}" dt="2026-10-01T05:16:02.014" v="485" actId="5793"/>
        <pc:sldMkLst>
          <pc:docMk/>
          <pc:sldMk cId="4025284268" sldId="292"/>
        </pc:sldMkLst>
        <pc:spChg chg="del">
          <ac:chgData name="harsh jain" userId="7da93378ce1f4180" providerId="LiveId" clId="{70528977-33EB-4F6F-9B23-6479A39892F8}" dt="2026-10-01T05:15:35.597" v="479" actId="478"/>
          <ac:spMkLst>
            <pc:docMk/>
            <pc:sldMk cId="4025284268" sldId="292"/>
            <ac:spMk id="2" creationId="{27EDEF8D-1C7E-7DB4-D839-B933E5DA4F65}"/>
          </ac:spMkLst>
        </pc:spChg>
        <pc:spChg chg="mod">
          <ac:chgData name="harsh jain" userId="7da93378ce1f4180" providerId="LiveId" clId="{70528977-33EB-4F6F-9B23-6479A39892F8}" dt="2026-10-01T05:16:02.014" v="485" actId="5793"/>
          <ac:spMkLst>
            <pc:docMk/>
            <pc:sldMk cId="4025284268" sldId="292"/>
            <ac:spMk id="3" creationId="{FF3216D0-D97C-3761-1786-ED3DC0F186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78D993-1391-4C4D-9587-DD6D59E1ED76}"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402B31-A58C-4099-9A8D-61DE4F7CA5D2}" type="slidenum">
              <a:rPr lang="en-IN" smtClean="0"/>
              <a:t>‹#›</a:t>
            </a:fld>
            <a:endParaRPr lang="en-IN"/>
          </a:p>
        </p:txBody>
      </p:sp>
    </p:spTree>
    <p:extLst>
      <p:ext uri="{BB962C8B-B14F-4D97-AF65-F5344CB8AC3E}">
        <p14:creationId xmlns:p14="http://schemas.microsoft.com/office/powerpoint/2010/main" val="166544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 name="Google Shape;7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FBC62-6066-ABBE-7A88-62F693ECFC7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0C34034-27D8-34E3-49F8-C1736A4BD4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D3700B-EACE-86FF-7105-CF365D5D3A3D}"/>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EC79FC96-A76E-39DD-2CD6-787FBCF5D2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92156-8A99-438A-133E-ED21360F6E54}"/>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68593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B61EC-FDF1-0E4C-4A14-3B742A62D25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DE8C58-9E9C-B33C-88BD-C619A9EAED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91B084-1F88-6B5E-7F0F-FE50C34121E4}"/>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122E34AD-0AD8-0E25-F1E7-BFD5D7FC80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ACBD25-3AED-4088-71E9-1B22C75F969C}"/>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42564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D25DE-2BC5-99CB-2C23-56DF76A8D1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1EBF6E-510D-D508-F91D-676FEE28F4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B13B23-7E3D-0A2A-B525-7303FC1DF204}"/>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2C48D830-D238-CE90-676F-C8B841F208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5372CC-6206-C132-1B91-8197DBC500F3}"/>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377839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F32A8-3063-889A-16E6-9ECB054D27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C0845B-BFC7-E439-E220-8A10372E2B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3D91EAD-BFA0-5AEA-098B-88E69D74F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A75B39-C50F-3982-3D4B-EF865605BB4D}"/>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6" name="Footer Placeholder 5">
            <a:extLst>
              <a:ext uri="{FF2B5EF4-FFF2-40B4-BE49-F238E27FC236}">
                <a16:creationId xmlns:a16="http://schemas.microsoft.com/office/drawing/2014/main" id="{F417C9C9-0BC1-B9B2-4CBF-4B49324741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D8B4B1-39BF-9A98-86BA-CB979934C830}"/>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1310538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3A9C-ED25-6CFD-98CE-B1F4A8B8F9A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2EF574-E599-4BA3-FD7A-C9A5B3A47A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4F171A-1EC4-EE47-98E5-FE941F9D1D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F488B29-A830-8C47-17D3-DF7077658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7B887-1059-99B8-0F32-8E6ECAFEAD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4F873B7-95F1-E123-EA32-295B5232B195}"/>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8" name="Footer Placeholder 7">
            <a:extLst>
              <a:ext uri="{FF2B5EF4-FFF2-40B4-BE49-F238E27FC236}">
                <a16:creationId xmlns:a16="http://schemas.microsoft.com/office/drawing/2014/main" id="{9816E8B2-219E-B801-253B-6656A140856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1D59BB-D91F-0152-3ABA-31847798C181}"/>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52725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DDA13-692F-45E0-B1E6-F2C3B3F352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663D9A-D85C-997F-F3FF-D23062DA576F}"/>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4" name="Footer Placeholder 3">
            <a:extLst>
              <a:ext uri="{FF2B5EF4-FFF2-40B4-BE49-F238E27FC236}">
                <a16:creationId xmlns:a16="http://schemas.microsoft.com/office/drawing/2014/main" id="{9C03D58C-6B3C-314E-808C-1DA93BF4BF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9E5E8-5D59-0717-1A56-F26E9BB7BCC2}"/>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706823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E501B7-2718-96AA-7A4F-78EB58E409E9}"/>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3" name="Footer Placeholder 2">
            <a:extLst>
              <a:ext uri="{FF2B5EF4-FFF2-40B4-BE49-F238E27FC236}">
                <a16:creationId xmlns:a16="http://schemas.microsoft.com/office/drawing/2014/main" id="{12347D12-C455-79E3-5727-FE95ACE0EA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704E28-4DE6-300D-ECC7-4345F9D99F86}"/>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631078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0D198-CE5B-227E-498B-9832F2C41B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01CE8BD-81E4-8B01-012A-8FE0D36611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72988C-20E0-8C0B-7A82-485E7A3692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50CFFC-D316-FAD6-D73E-8F8637CB34D7}"/>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6" name="Footer Placeholder 5">
            <a:extLst>
              <a:ext uri="{FF2B5EF4-FFF2-40B4-BE49-F238E27FC236}">
                <a16:creationId xmlns:a16="http://schemas.microsoft.com/office/drawing/2014/main" id="{6A7FEB4E-4AF4-00C0-E8F6-C4698E36BF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9F54B3-1453-2793-B6EE-E5AB5D77CABC}"/>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3203300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BEECD-7938-043E-D358-B63AB6685E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7A8DCC-862A-87B0-E21F-D72BF8D197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B8BA58-88B5-8877-07D8-A25672B960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DAC2E-8F40-F562-B776-EB22B8CF7BAC}"/>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6" name="Footer Placeholder 5">
            <a:extLst>
              <a:ext uri="{FF2B5EF4-FFF2-40B4-BE49-F238E27FC236}">
                <a16:creationId xmlns:a16="http://schemas.microsoft.com/office/drawing/2014/main" id="{854DB60B-D6A0-6E9C-6DDE-89F0312BFA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2EB4B3-C434-6C34-E55A-76A689B1F7D2}"/>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319076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344C-61DF-713C-8630-565F2487A3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B8E189-31A7-6D1E-E22C-6903188760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63E3B2-7C5A-CB51-F75F-409D75E7B8B2}"/>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18F65787-051D-DC57-1C13-08410B286A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8996F3-67F8-CF8A-34BD-F92F8F4E66BB}"/>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2787581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B6881F-D768-590F-DB75-40F366ACC94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06A0AE1-B954-88D4-FC39-6EACEACBB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F8A7C5F-8087-1F0B-09E0-0EBEA0E0A509}"/>
              </a:ext>
            </a:extLst>
          </p:cNvPr>
          <p:cNvSpPr>
            <a:spLocks noGrp="1"/>
          </p:cNvSpPr>
          <p:nvPr>
            <p:ph type="dt" sz="half" idx="10"/>
          </p:nvPr>
        </p:nvSpPr>
        <p:spPr/>
        <p:txBody>
          <a:body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F77A1124-FEB1-2895-6645-7CE9EEBB97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F1FA22-AEAF-C246-EACA-A66B9B950754}"/>
              </a:ext>
            </a:extLst>
          </p:cNvPr>
          <p:cNvSpPr>
            <a:spLocks noGrp="1"/>
          </p:cNvSpPr>
          <p:nvPr>
            <p:ph type="sldNum" sz="quarter" idx="12"/>
          </p:nvPr>
        </p:nvSpPr>
        <p:spPr/>
        <p:txBody>
          <a:bodyPr/>
          <a:lstStyle/>
          <a:p>
            <a:fld id="{C09CED1F-BFA2-422D-A5A0-0B190E36321B}" type="slidenum">
              <a:rPr lang="en-IN" smtClean="0"/>
              <a:t>‹#›</a:t>
            </a:fld>
            <a:endParaRPr lang="en-IN"/>
          </a:p>
        </p:txBody>
      </p:sp>
    </p:spTree>
    <p:extLst>
      <p:ext uri="{BB962C8B-B14F-4D97-AF65-F5344CB8AC3E}">
        <p14:creationId xmlns:p14="http://schemas.microsoft.com/office/powerpoint/2010/main" val="1049726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7CA6E1-1802-81DE-2DE0-810B60EC59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59272E-67FE-8088-7F0C-FF6D5ECB3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8DB8DA-DC65-3B80-C4B5-9C5AF6FB3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B75732-3BA2-401B-9BCF-7B77B273F1C2}" type="datetimeFigureOut">
              <a:rPr lang="en-IN" smtClean="0"/>
              <a:t>01-10-2026</a:t>
            </a:fld>
            <a:endParaRPr lang="en-IN"/>
          </a:p>
        </p:txBody>
      </p:sp>
      <p:sp>
        <p:nvSpPr>
          <p:cNvPr id="5" name="Footer Placeholder 4">
            <a:extLst>
              <a:ext uri="{FF2B5EF4-FFF2-40B4-BE49-F238E27FC236}">
                <a16:creationId xmlns:a16="http://schemas.microsoft.com/office/drawing/2014/main" id="{69F1E900-266C-053D-FD30-857C65C811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DCFF32-F7F4-7ACF-DE4B-ED12867598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CED1F-BFA2-422D-A5A0-0B190E36321B}" type="slidenum">
              <a:rPr lang="en-IN" smtClean="0"/>
              <a:t>‹#›</a:t>
            </a:fld>
            <a:endParaRPr lang="en-IN"/>
          </a:p>
        </p:txBody>
      </p:sp>
    </p:spTree>
    <p:extLst>
      <p:ext uri="{BB962C8B-B14F-4D97-AF65-F5344CB8AC3E}">
        <p14:creationId xmlns:p14="http://schemas.microsoft.com/office/powerpoint/2010/main" val="646286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2"/>
          <p:cNvSpPr txBox="1">
            <a:spLocks noGrp="1"/>
          </p:cNvSpPr>
          <p:nvPr>
            <p:ph type="ctrTitle"/>
          </p:nvPr>
        </p:nvSpPr>
        <p:spPr>
          <a:xfrm>
            <a:off x="2332800" y="944425"/>
            <a:ext cx="7526400" cy="7782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“Secure Coding AI”</a:t>
            </a:r>
            <a:endParaRPr dirty="0"/>
          </a:p>
        </p:txBody>
      </p:sp>
      <p:pic>
        <p:nvPicPr>
          <p:cNvPr id="78" name="Google Shape;78;p12" descr="https://lh5.googleusercontent.com/j7Ls_vbKtRxdnDBfbOpGURj9YiFopNGdIM6Kni8LFjJLkuL-dM0u-OU7bkvXbXWzmEWvRtQd51iRQ1Yk-NqjoD2KnvMnPYR6_q5f0vpAIrOpnxWE3ssO6KqdsyWHpN5H2z-y_y_cfDKt7876sA"/>
          <p:cNvPicPr preferRelativeResize="0"/>
          <p:nvPr/>
        </p:nvPicPr>
        <p:blipFill rotWithShape="1">
          <a:blip r:embed="rId3">
            <a:alphaModFix/>
          </a:blip>
          <a:srcRect/>
          <a:stretch/>
        </p:blipFill>
        <p:spPr>
          <a:xfrm>
            <a:off x="155520" y="81745"/>
            <a:ext cx="1709654" cy="1010680"/>
          </a:xfrm>
          <a:prstGeom prst="rect">
            <a:avLst/>
          </a:prstGeom>
          <a:noFill/>
          <a:ln>
            <a:noFill/>
          </a:ln>
        </p:spPr>
      </p:pic>
      <p:sp>
        <p:nvSpPr>
          <p:cNvPr id="79" name="Google Shape;79;p12"/>
          <p:cNvSpPr txBox="1"/>
          <p:nvPr/>
        </p:nvSpPr>
        <p:spPr>
          <a:xfrm>
            <a:off x="1432389" y="4973781"/>
            <a:ext cx="38484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Under the Guidance of :</a:t>
            </a:r>
            <a:br>
              <a:rPr lang="en-US" sz="1800" b="0" i="0" u="none" strike="noStrike" cap="none">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Prof. Mohini Misale</a:t>
            </a:r>
            <a:endParaRPr sz="1800" b="0" i="0" u="none" strike="noStrike" cap="none" dirty="0">
              <a:solidFill>
                <a:schemeClr val="dk1"/>
              </a:solidFill>
              <a:latin typeface="Times New Roman"/>
              <a:ea typeface="Times New Roman"/>
              <a:cs typeface="Times New Roman"/>
              <a:sym typeface="Times New Roman"/>
            </a:endParaRPr>
          </a:p>
        </p:txBody>
      </p:sp>
      <p:sp>
        <p:nvSpPr>
          <p:cNvPr id="80" name="Google Shape;80;p12"/>
          <p:cNvSpPr txBox="1"/>
          <p:nvPr/>
        </p:nvSpPr>
        <p:spPr>
          <a:xfrm>
            <a:off x="2285550" y="2305350"/>
            <a:ext cx="7620900" cy="1939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Department of Computer Engineering</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dirty="0">
                <a:solidFill>
                  <a:srgbClr val="000000"/>
                </a:solidFill>
                <a:latin typeface="Times New Roman"/>
                <a:ea typeface="Times New Roman"/>
                <a:cs typeface="Times New Roman"/>
                <a:sym typeface="Times New Roman"/>
              </a:rPr>
              <a:t>TERNA ENGINEERING COLLEGE </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dirty="0">
                <a:solidFill>
                  <a:srgbClr val="000000"/>
                </a:solidFill>
                <a:latin typeface="Times New Roman"/>
                <a:ea typeface="Times New Roman"/>
                <a:cs typeface="Times New Roman"/>
                <a:sym typeface="Times New Roman"/>
              </a:rPr>
              <a:t>Nerul (W), Navi Mumbai 400706</a:t>
            </a: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br>
              <a:rPr lang="en-US" sz="2000" b="1" i="0" u="none" strike="noStrike" cap="none" dirty="0">
                <a:solidFill>
                  <a:srgbClr val="FF0000"/>
                </a:solidFill>
                <a:latin typeface="Times New Roman"/>
                <a:ea typeface="Times New Roman"/>
                <a:cs typeface="Times New Roman"/>
                <a:sym typeface="Times New Roman"/>
              </a:rPr>
            </a:br>
            <a:r>
              <a:rPr lang="en-US" sz="2000" b="1" i="0" u="none" strike="noStrike" cap="none" dirty="0">
                <a:solidFill>
                  <a:srgbClr val="FF0000"/>
                </a:solidFill>
                <a:latin typeface="Times New Roman"/>
                <a:ea typeface="Times New Roman"/>
                <a:cs typeface="Times New Roman"/>
                <a:sym typeface="Times New Roman"/>
              </a:rPr>
              <a:t>Group ID </a:t>
            </a:r>
            <a:r>
              <a:rPr lang="en-US" sz="2000" b="1" i="0" u="none" strike="noStrike" cap="none">
                <a:solidFill>
                  <a:srgbClr val="FF0000"/>
                </a:solidFill>
                <a:latin typeface="Times New Roman"/>
                <a:ea typeface="Times New Roman"/>
                <a:cs typeface="Times New Roman"/>
                <a:sym typeface="Times New Roman"/>
              </a:rPr>
              <a:t>: A10</a:t>
            </a:r>
            <a:endParaRPr sz="2000" b="1" i="0" u="none" strike="noStrike" cap="none" dirty="0">
              <a:solidFill>
                <a:srgbClr val="FF0000"/>
              </a:solidFill>
              <a:latin typeface="Times New Roman"/>
              <a:ea typeface="Times New Roman"/>
              <a:cs typeface="Times New Roman"/>
              <a:sym typeface="Times New Roman"/>
            </a:endParaRPr>
          </a:p>
        </p:txBody>
      </p:sp>
      <p:sp>
        <p:nvSpPr>
          <p:cNvPr id="81" name="Google Shape;81;p12"/>
          <p:cNvSpPr txBox="1"/>
          <p:nvPr/>
        </p:nvSpPr>
        <p:spPr>
          <a:xfrm>
            <a:off x="6109855" y="4973781"/>
            <a:ext cx="5777400"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Group Members:</a:t>
            </a:r>
            <a:r>
              <a:rPr lang="en-US" sz="1800" dirty="0">
                <a:solidFill>
                  <a:schemeClr val="dk1"/>
                </a:solidFill>
                <a:latin typeface="Times New Roman"/>
                <a:ea typeface="Times New Roman"/>
                <a:cs typeface="Times New Roman"/>
                <a:sym typeface="Times New Roman"/>
              </a:rPr>
              <a:t> </a:t>
            </a:r>
            <a:r>
              <a:rPr lang="en-US" sz="1800" b="0" i="0" u="none" strike="noStrike" cap="none" dirty="0">
                <a:solidFill>
                  <a:schemeClr val="dk1"/>
                </a:solidFill>
                <a:latin typeface="Times New Roman"/>
                <a:ea typeface="Times New Roman"/>
                <a:cs typeface="Times New Roman"/>
                <a:sym typeface="Times New Roman"/>
              </a:rPr>
              <a:t>     Harsh </a:t>
            </a:r>
            <a:r>
              <a:rPr lang="en-US" sz="1800" b="0" i="0" u="none" strike="noStrike" cap="none">
                <a:solidFill>
                  <a:schemeClr val="dk1"/>
                </a:solidFill>
                <a:latin typeface="Times New Roman"/>
                <a:ea typeface="Times New Roman"/>
                <a:cs typeface="Times New Roman"/>
                <a:sym typeface="Times New Roman"/>
              </a:rPr>
              <a:t>Jain             </a:t>
            </a:r>
            <a:r>
              <a:rPr lang="en-US" sz="1800">
                <a:solidFill>
                  <a:schemeClr val="dk1"/>
                </a:solidFill>
                <a:latin typeface="Times New Roman"/>
                <a:ea typeface="Times New Roman"/>
                <a:cs typeface="Times New Roman"/>
                <a:sym typeface="Times New Roman"/>
              </a:rPr>
              <a:t>      </a:t>
            </a:r>
            <a:r>
              <a:rPr lang="en-US" sz="1800" b="0" i="0" u="none" strike="noStrike" cap="none">
                <a:solidFill>
                  <a:schemeClr val="dk1"/>
                </a:solidFill>
                <a:latin typeface="Times New Roman"/>
                <a:ea typeface="Times New Roman"/>
                <a:cs typeface="Times New Roman"/>
                <a:sym typeface="Times New Roman"/>
              </a:rPr>
              <a:t>A-58</a:t>
            </a:r>
          </a:p>
          <a:p>
            <a:pPr marL="0" marR="0" lvl="0" indent="0" algn="l" rtl="0">
              <a:lnSpc>
                <a:spcPct val="100000"/>
              </a:lnSpc>
              <a:spcBef>
                <a:spcPts val="0"/>
              </a:spcBef>
              <a:spcAft>
                <a:spcPts val="0"/>
              </a:spcAft>
              <a:buClr>
                <a:srgbClr val="000000"/>
              </a:buClr>
              <a:buSzPts val="1800"/>
              <a:buFont typeface="Arial"/>
              <a:buNone/>
            </a:pPr>
            <a:r>
              <a:rPr lang="en-US">
                <a:solidFill>
                  <a:schemeClr val="dk1"/>
                </a:solidFill>
                <a:latin typeface="Times New Roman"/>
                <a:ea typeface="Times New Roman"/>
                <a:cs typeface="Times New Roman"/>
                <a:sym typeface="Times New Roman"/>
              </a:rPr>
              <a:t>                                  Atharav Kadam          A-54</a:t>
            </a:r>
            <a:endParaRPr sz="1800" b="0" i="0" u="none" strike="noStrike" cap="none" dirty="0">
              <a:solidFill>
                <a:schemeClr val="dk1"/>
              </a:solidFill>
              <a:latin typeface="Times New Roman"/>
              <a:ea typeface="Times New Roman"/>
              <a:cs typeface="Times New Roman"/>
              <a:sym typeface="Times New Roman"/>
            </a:endParaRPr>
          </a:p>
          <a:p>
            <a:pPr marL="1371600" lvl="0" indent="457200">
              <a:buSzPts val="1800"/>
            </a:pPr>
            <a:r>
              <a:rPr lang="en-US" sz="1800" b="0" i="0" u="none" strike="noStrike" cap="none" dirty="0">
                <a:solidFill>
                  <a:schemeClr val="dk1"/>
                </a:solidFill>
                <a:latin typeface="Times New Roman"/>
                <a:ea typeface="Times New Roman"/>
                <a:cs typeface="Times New Roman"/>
                <a:sym typeface="Times New Roman"/>
              </a:rPr>
              <a:t>  </a:t>
            </a:r>
            <a:r>
              <a:rPr lang="en-IN" sz="1800" dirty="0"/>
              <a:t>Sayli </a:t>
            </a:r>
            <a:r>
              <a:rPr lang="en-IN" sz="1800" dirty="0" err="1"/>
              <a:t>Vekhande</a:t>
            </a:r>
            <a:r>
              <a:rPr lang="en-US" sz="1800" b="0" i="0" u="none" strike="noStrike" cap="none" dirty="0">
                <a:solidFill>
                  <a:schemeClr val="dk1"/>
                </a:solidFill>
                <a:latin typeface="Times New Roman"/>
                <a:ea typeface="Times New Roman"/>
                <a:cs typeface="Times New Roman"/>
                <a:sym typeface="Times New Roman"/>
              </a:rPr>
              <a:t>           A-63</a:t>
            </a:r>
            <a:endParaRPr sz="1800" b="0" i="0" u="none" strike="noStrike" cap="none" dirty="0">
              <a:solidFill>
                <a:schemeClr val="dk1"/>
              </a:solidFill>
              <a:latin typeface="Times New Roman"/>
              <a:ea typeface="Times New Roman"/>
              <a:cs typeface="Times New Roman"/>
              <a:sym typeface="Times New Roman"/>
            </a:endParaRPr>
          </a:p>
          <a:p>
            <a:pPr lvl="0">
              <a:buSzPts val="1800"/>
            </a:pPr>
            <a:r>
              <a:rPr lang="en-US" sz="1800" b="0" i="0" u="none" strike="noStrike" cap="none" dirty="0">
                <a:solidFill>
                  <a:schemeClr val="dk1"/>
                </a:solidFill>
                <a:latin typeface="Times New Roman"/>
                <a:ea typeface="Times New Roman"/>
                <a:cs typeface="Times New Roman"/>
                <a:sym typeface="Times New Roman"/>
              </a:rPr>
              <a:t>                                  Arya </a:t>
            </a:r>
            <a:r>
              <a:rPr lang="en-IN" sz="1800"/>
              <a:t>Ratnakar</a:t>
            </a:r>
            <a:r>
              <a:rPr lang="en-US" sz="1800" b="0" i="0" u="none" strike="noStrike" cap="none">
                <a:solidFill>
                  <a:schemeClr val="dk1"/>
                </a:solidFill>
                <a:latin typeface="Times New Roman"/>
                <a:ea typeface="Times New Roman"/>
                <a:cs typeface="Times New Roman"/>
                <a:sym typeface="Times New Roman"/>
              </a:rPr>
              <a:t>            A-47</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2042962901"/>
              </p:ext>
            </p:extLst>
          </p:nvPr>
        </p:nvGraphicFramePr>
        <p:xfrm>
          <a:off x="2899860" y="227190"/>
          <a:ext cx="6392280" cy="6403619"/>
        </p:xfrm>
        <a:graphic>
          <a:graphicData uri="http://schemas.openxmlformats.org/drawingml/2006/table">
            <a:tbl>
              <a:tblPr/>
              <a:tblGrid>
                <a:gridCol w="1044998">
                  <a:extLst>
                    <a:ext uri="{9D8B030D-6E8A-4147-A177-3AD203B41FA5}">
                      <a16:colId xmlns:a16="http://schemas.microsoft.com/office/drawing/2014/main" val="20000"/>
                    </a:ext>
                  </a:extLst>
                </a:gridCol>
                <a:gridCol w="4255310">
                  <a:extLst>
                    <a:ext uri="{9D8B030D-6E8A-4147-A177-3AD203B41FA5}">
                      <a16:colId xmlns:a16="http://schemas.microsoft.com/office/drawing/2014/main" val="20001"/>
                    </a:ext>
                  </a:extLst>
                </a:gridCol>
                <a:gridCol w="1091972">
                  <a:extLst>
                    <a:ext uri="{9D8B030D-6E8A-4147-A177-3AD203B41FA5}">
                      <a16:colId xmlns:a16="http://schemas.microsoft.com/office/drawing/2014/main" val="20002"/>
                    </a:ext>
                  </a:extLst>
                </a:gridCol>
              </a:tblGrid>
              <a:tr h="774572">
                <a:tc>
                  <a:txBody>
                    <a:bodyPr/>
                    <a:lstStyle/>
                    <a:p>
                      <a:pPr algn="ctr">
                        <a:lnSpc>
                          <a:spcPts val="2879"/>
                        </a:lnSpc>
                        <a:defRPr/>
                      </a:pPr>
                      <a:r>
                        <a:rPr lang="en-US" sz="2400">
                          <a:solidFill>
                            <a:srgbClr val="000000"/>
                          </a:solidFill>
                          <a:latin typeface="Times New Roman" panose="02020603050405020304" pitchFamily="18" charset="0"/>
                          <a:ea typeface="Quicksand"/>
                          <a:cs typeface="Times New Roman" panose="02020603050405020304" pitchFamily="18" charset="0"/>
                          <a:sym typeface="Quicksand"/>
                        </a:rPr>
                        <a:t>Sr. No</a:t>
                      </a:r>
                      <a:endParaRPr lang="en-US" sz="1100">
                        <a:latin typeface="Times New Roman" panose="02020603050405020304" pitchFamily="18" charset="0"/>
                        <a:cs typeface="Times New Roman" panose="02020603050405020304" pitchFamily="18" charset="0"/>
                      </a:endParaRPr>
                    </a:p>
                  </a:txBody>
                  <a:tcPr marL="60950" marR="60950" marT="60950" marB="60950" anchor="ctr">
                    <a:lnL w="19050" cap="flat" cmpd="sng" algn="ctr">
                      <a:solidFill>
                        <a:srgbClr val="999999"/>
                      </a:solidFill>
                      <a:prstDash val="solid"/>
                      <a:round/>
                      <a:headEnd type="none" w="med" len="med"/>
                      <a:tailEnd type="none" w="med" len="med"/>
                    </a:lnL>
                    <a:lnR w="19050" cap="flat" cmpd="sng" algn="ctr">
                      <a:solidFill>
                        <a:srgbClr val="999999"/>
                      </a:solidFill>
                      <a:prstDash val="solid"/>
                      <a:round/>
                      <a:headEnd type="none" w="med" len="med"/>
                      <a:tailEnd type="none" w="med" len="med"/>
                    </a:lnR>
                    <a:lnT w="19050"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D9D9D9"/>
                    </a:solidFill>
                  </a:tcPr>
                </a:tc>
                <a:tc>
                  <a:txBody>
                    <a:bodyPr/>
                    <a:lstStyle/>
                    <a:p>
                      <a:pPr algn="ctr">
                        <a:lnSpc>
                          <a:spcPts val="2879"/>
                        </a:lnSpc>
                        <a:defRPr/>
                      </a:pPr>
                      <a:r>
                        <a:rPr lang="en-US" sz="2400">
                          <a:solidFill>
                            <a:srgbClr val="000000"/>
                          </a:solidFill>
                          <a:latin typeface="Times New Roman" panose="02020603050405020304" pitchFamily="18" charset="0"/>
                          <a:ea typeface="Quicksand"/>
                          <a:cs typeface="Times New Roman" panose="02020603050405020304" pitchFamily="18" charset="0"/>
                          <a:sym typeface="Quicksand"/>
                        </a:rPr>
                        <a:t>Table Of Contents</a:t>
                      </a:r>
                      <a:endParaRPr lang="en-US" sz="1100">
                        <a:latin typeface="Times New Roman" panose="02020603050405020304" pitchFamily="18" charset="0"/>
                        <a:cs typeface="Times New Roman" panose="02020603050405020304" pitchFamily="18" charset="0"/>
                      </a:endParaRPr>
                    </a:p>
                  </a:txBody>
                  <a:tcPr marL="60950" marR="60950" marT="60950" marB="60950" anchor="ctr">
                    <a:lnL w="19050" cap="flat" cmpd="sng" algn="ctr">
                      <a:solidFill>
                        <a:srgbClr val="999999"/>
                      </a:solidFill>
                      <a:prstDash val="solid"/>
                      <a:round/>
                      <a:headEnd type="none" w="med" len="med"/>
                      <a:tailEnd type="none" w="med" len="med"/>
                    </a:lnL>
                    <a:lnR w="19050" cap="flat" cmpd="sng" algn="ctr">
                      <a:solidFill>
                        <a:srgbClr val="999999"/>
                      </a:solidFill>
                      <a:prstDash val="solid"/>
                      <a:round/>
                      <a:headEnd type="none" w="med" len="med"/>
                      <a:tailEnd type="none" w="med" len="med"/>
                    </a:lnR>
                    <a:lnT w="19050"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D9D9D9"/>
                    </a:solidFill>
                  </a:tcPr>
                </a:tc>
                <a:tc>
                  <a:txBody>
                    <a:bodyPr/>
                    <a:lstStyle/>
                    <a:p>
                      <a:pPr algn="ctr">
                        <a:lnSpc>
                          <a:spcPts val="2879"/>
                        </a:lnSpc>
                        <a:defRPr/>
                      </a:pPr>
                      <a:r>
                        <a:rPr lang="en-US" sz="2400">
                          <a:solidFill>
                            <a:srgbClr val="000000"/>
                          </a:solidFill>
                          <a:latin typeface="Times New Roman" panose="02020603050405020304" pitchFamily="18" charset="0"/>
                          <a:ea typeface="Quicksand"/>
                          <a:cs typeface="Times New Roman" panose="02020603050405020304" pitchFamily="18" charset="0"/>
                          <a:sym typeface="Quicksand"/>
                        </a:rPr>
                        <a:t>Page. No</a:t>
                      </a:r>
                      <a:endParaRPr lang="en-US" sz="1100">
                        <a:latin typeface="Times New Roman" panose="02020603050405020304" pitchFamily="18" charset="0"/>
                        <a:cs typeface="Times New Roman" panose="02020603050405020304" pitchFamily="18" charset="0"/>
                      </a:endParaRPr>
                    </a:p>
                  </a:txBody>
                  <a:tcPr marL="60950" marR="60950" marT="60950" marB="60950" anchor="ctr">
                    <a:lnL w="19050" cap="flat" cmpd="sng" algn="ctr">
                      <a:solidFill>
                        <a:srgbClr val="999999"/>
                      </a:solidFill>
                      <a:prstDash val="solid"/>
                      <a:round/>
                      <a:headEnd type="none" w="med" len="med"/>
                      <a:tailEnd type="none" w="med" len="med"/>
                    </a:lnL>
                    <a:lnR w="19050" cap="flat" cmpd="sng" algn="ctr">
                      <a:solidFill>
                        <a:srgbClr val="999999"/>
                      </a:solidFill>
                      <a:prstDash val="solid"/>
                      <a:round/>
                      <a:headEnd type="none" w="med" len="med"/>
                      <a:tailEnd type="none" w="med" len="med"/>
                    </a:lnR>
                    <a:lnT w="19050" cap="flat" cmpd="sng" algn="ctr">
                      <a:solidFill>
                        <a:srgbClr val="999999"/>
                      </a:solidFill>
                      <a:prstDash val="solid"/>
                      <a:round/>
                      <a:headEnd type="none" w="med" len="med"/>
                      <a:tailEnd type="none" w="med" len="med"/>
                    </a:lnT>
                    <a:lnB w="9525" cap="flat" cmpd="sng" algn="ctr">
                      <a:solidFill>
                        <a:srgbClr val="999999"/>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67523">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1.</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Abstract</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 3</a:t>
                      </a:r>
                      <a:endParaRPr lang="en-US" sz="27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999999"/>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2.</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Introduction</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4</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3.</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Literature Survey</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5</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4.</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Research Gap</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6</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5.</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Problem Statement</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7</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6.</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Objective</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8</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7.</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Scope</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9</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8.</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SRS</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10</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9.</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Proposed Architecture</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12</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10.</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Activity Diagram</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13</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11.</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Use case </a:t>
                      </a:r>
                      <a:r>
                        <a:rPr lang="en-US" sz="1900" dirty="0" err="1">
                          <a:solidFill>
                            <a:srgbClr val="000000"/>
                          </a:solidFill>
                          <a:latin typeface="Times New Roman" panose="02020603050405020304" pitchFamily="18" charset="0"/>
                          <a:ea typeface="Playfair Display"/>
                          <a:cs typeface="Times New Roman" panose="02020603050405020304" pitchFamily="18" charset="0"/>
                          <a:sym typeface="Playfair Display"/>
                        </a:rPr>
                        <a:t>Daigram</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14</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12.</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Software And Hardware Requirements</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15</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13..</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Conclusion</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22</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67523">
                <a:tc>
                  <a:txBody>
                    <a:bodyPr/>
                    <a:lstStyle/>
                    <a:p>
                      <a:pPr algn="ctr">
                        <a:lnSpc>
                          <a:spcPts val="2340"/>
                        </a:lnSpc>
                        <a:defRPr/>
                      </a:pPr>
                      <a:r>
                        <a:rPr lang="en-US" sz="1900">
                          <a:solidFill>
                            <a:srgbClr val="000000"/>
                          </a:solidFill>
                          <a:latin typeface="Times New Roman" panose="02020603050405020304" pitchFamily="18" charset="0"/>
                          <a:ea typeface="Playfair Display"/>
                          <a:cs typeface="Times New Roman" panose="02020603050405020304" pitchFamily="18" charset="0"/>
                          <a:sym typeface="Playfair Display"/>
                        </a:rPr>
                        <a:t>14.</a:t>
                      </a:r>
                      <a:endParaRPr lang="en-US" sz="110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2340"/>
                        </a:lnSpc>
                        <a:defRPr/>
                      </a:pPr>
                      <a:r>
                        <a:rPr lang="en-US" sz="1900" dirty="0">
                          <a:solidFill>
                            <a:srgbClr val="000000"/>
                          </a:solidFill>
                          <a:latin typeface="Times New Roman" panose="02020603050405020304" pitchFamily="18" charset="0"/>
                          <a:ea typeface="Playfair Display"/>
                          <a:cs typeface="Times New Roman" panose="02020603050405020304" pitchFamily="18" charset="0"/>
                          <a:sym typeface="Playfair Display"/>
                        </a:rPr>
                        <a:t>Reference</a:t>
                      </a:r>
                      <a:endParaRPr lang="en-US" sz="1100" dirty="0">
                        <a:latin typeface="Times New Roman" panose="02020603050405020304" pitchFamily="18" charset="0"/>
                        <a:cs typeface="Times New Roman" panose="02020603050405020304" pitchFamily="18" charset="0"/>
                      </a:endParaRP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tc>
                  <a:txBody>
                    <a:bodyPr/>
                    <a:lstStyle/>
                    <a:p>
                      <a:pPr algn="ctr">
                        <a:lnSpc>
                          <a:spcPts val="1679"/>
                        </a:lnSpc>
                        <a:defRPr/>
                      </a:pPr>
                      <a:r>
                        <a:rPr lang="en-US" sz="1900" dirty="0">
                          <a:latin typeface="Times New Roman" panose="02020603050405020304" pitchFamily="18" charset="0"/>
                          <a:cs typeface="Times New Roman" panose="02020603050405020304" pitchFamily="18" charset="0"/>
                        </a:rPr>
                        <a:t>23</a:t>
                      </a:r>
                    </a:p>
                  </a:txBody>
                  <a:tcPr marL="60950" marR="60950" marT="60950" marB="60950" anchor="ctr">
                    <a:lnL w="9525" cap="flat" cmpd="sng" algn="ctr">
                      <a:solidFill>
                        <a:srgbClr val="666666"/>
                      </a:solidFill>
                      <a:prstDash val="solid"/>
                      <a:round/>
                      <a:headEnd type="none" w="med" len="med"/>
                      <a:tailEnd type="none" w="med" len="med"/>
                    </a:lnL>
                    <a:lnR w="9525" cap="flat" cmpd="sng" algn="ctr">
                      <a:solidFill>
                        <a:srgbClr val="666666"/>
                      </a:solidFill>
                      <a:prstDash val="solid"/>
                      <a:round/>
                      <a:headEnd type="none" w="med" len="med"/>
                      <a:tailEnd type="none" w="med" len="med"/>
                    </a:lnR>
                    <a:lnT w="9525" cap="flat" cmpd="sng" algn="ctr">
                      <a:solidFill>
                        <a:srgbClr val="666666"/>
                      </a:solidFill>
                      <a:prstDash val="solid"/>
                      <a:round/>
                      <a:headEnd type="none" w="med" len="med"/>
                      <a:tailEnd type="none" w="med" len="med"/>
                    </a:lnT>
                    <a:lnB w="9525" cap="flat" cmpd="sng" algn="ctr">
                      <a:solidFill>
                        <a:srgbClr val="66666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grpSp>
        <p:nvGrpSpPr>
          <p:cNvPr id="3" name="Group 3"/>
          <p:cNvGrpSpPr/>
          <p:nvPr/>
        </p:nvGrpSpPr>
        <p:grpSpPr>
          <a:xfrm>
            <a:off x="155518" y="81743"/>
            <a:ext cx="1709655" cy="1010679"/>
            <a:chOff x="0" y="0"/>
            <a:chExt cx="3419310" cy="2021357"/>
          </a:xfrm>
        </p:grpSpPr>
        <p:sp>
          <p:nvSpPr>
            <p:cNvPr id="4" name="Freeform 4" descr="https://lh5.googleusercontent.com/j7Ls_vbKtRxdnDBfbOpGURj9YiFopNGdIM6Kni8LFjJLkuL-dM0u-OU7bkvXbXWzmEWvRtQd51iRQ1Yk-NqjoD2KnvMnPYR6_q5f0vpAIrOpnxWE3ssO6KqdsyWHpN5H2z-y_y_cfDKt7876sA"/>
            <p:cNvSpPr/>
            <p:nvPr/>
          </p:nvSpPr>
          <p:spPr>
            <a:xfrm>
              <a:off x="0" y="0"/>
              <a:ext cx="3419348" cy="2021332"/>
            </a:xfrm>
            <a:custGeom>
              <a:avLst/>
              <a:gdLst/>
              <a:ahLst/>
              <a:cxnLst/>
              <a:rect l="l" t="t" r="r" b="b"/>
              <a:pathLst>
                <a:path w="3419348" h="2021332">
                  <a:moveTo>
                    <a:pt x="0" y="0"/>
                  </a:moveTo>
                  <a:lnTo>
                    <a:pt x="3419348" y="0"/>
                  </a:lnTo>
                  <a:lnTo>
                    <a:pt x="3419348" y="2021332"/>
                  </a:lnTo>
                  <a:lnTo>
                    <a:pt x="0" y="2021332"/>
                  </a:lnTo>
                  <a:lnTo>
                    <a:pt x="0" y="0"/>
                  </a:lnTo>
                  <a:close/>
                </a:path>
              </a:pathLst>
            </a:custGeom>
            <a:blipFill>
              <a:blip r:embed="rId3"/>
              <a:stretch>
                <a:fillRect r="-551" b="-1"/>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F02A-4730-4B50-3FC5-475F063467EE}"/>
              </a:ext>
            </a:extLst>
          </p:cNvPr>
          <p:cNvSpPr>
            <a:spLocks noGrp="1"/>
          </p:cNvSpPr>
          <p:nvPr>
            <p:ph type="title"/>
          </p:nvPr>
        </p:nvSpPr>
        <p:spPr>
          <a:xfrm>
            <a:off x="4940943" y="243984"/>
            <a:ext cx="2310114" cy="713539"/>
          </a:xfrm>
        </p:spPr>
        <p:txBody>
          <a:bodyPr>
            <a:normAutofit/>
          </a:bodyPr>
          <a:lstStyle/>
          <a:p>
            <a:pPr algn="ctr"/>
            <a:r>
              <a:rPr lang="en-IN" sz="400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D277CFB5-783E-5DDC-2901-72CAD1042412}"/>
              </a:ext>
            </a:extLst>
          </p:cNvPr>
          <p:cNvSpPr>
            <a:spLocks noGrp="1"/>
          </p:cNvSpPr>
          <p:nvPr>
            <p:ph idx="1"/>
          </p:nvPr>
        </p:nvSpPr>
        <p:spPr>
          <a:xfrm>
            <a:off x="838200" y="957523"/>
            <a:ext cx="10515600" cy="5362254"/>
          </a:xfrm>
        </p:spPr>
        <p:txBody>
          <a:bodyPr>
            <a:noAutofit/>
          </a:bodyPr>
          <a:lstStyle/>
          <a:p>
            <a:r>
              <a:rPr lang="en-IN" sz="2000">
                <a:latin typeface="Times New Roman" panose="02020603050405020304" pitchFamily="18" charset="0"/>
                <a:cs typeface="Times New Roman" panose="02020603050405020304" pitchFamily="18" charset="0"/>
              </a:rPr>
              <a:t>Software vulnerabilities are a major cause of security breaches in modern applications, highlighting the need for developers to understand secure coding practices during software development. However, existing coding platforms primarily focus on algorithmic problem-solving, while security tools mainly focus on detecting vulnerabilities rather than teaching developers how to prevent them. To address this gap, this project proposes </a:t>
            </a:r>
            <a:r>
              <a:rPr lang="en-IN" sz="2000" b="1">
                <a:latin typeface="Times New Roman" panose="02020603050405020304" pitchFamily="18" charset="0"/>
                <a:cs typeface="Times New Roman" panose="02020603050405020304" pitchFamily="18" charset="0"/>
              </a:rPr>
              <a:t>SecureCode AI</a:t>
            </a:r>
            <a:r>
              <a:rPr lang="en-IN" sz="2000">
                <a:latin typeface="Times New Roman" panose="02020603050405020304" pitchFamily="18" charset="0"/>
                <a:cs typeface="Times New Roman" panose="02020603050405020304" pitchFamily="18" charset="0"/>
              </a:rPr>
              <a:t>, a secure coding education platform that enables learners to practice secure software development through hands-on </a:t>
            </a:r>
            <a:r>
              <a:rPr lang="en-IN" sz="2000" b="1">
                <a:latin typeface="Times New Roman" panose="02020603050405020304" pitchFamily="18" charset="0"/>
                <a:cs typeface="Times New Roman" panose="02020603050405020304" pitchFamily="18" charset="0"/>
              </a:rPr>
              <a:t>vulnerability-based coding challenges</a:t>
            </a:r>
            <a:r>
              <a:rPr lang="en-IN" sz="2000">
                <a:latin typeface="Times New Roman" panose="02020603050405020304" pitchFamily="18" charset="0"/>
                <a:cs typeface="Times New Roman" panose="02020603050405020304" pitchFamily="18" charset="0"/>
              </a:rPr>
              <a:t>.</a:t>
            </a:r>
          </a:p>
          <a:p>
            <a:r>
              <a:rPr lang="en-IN" sz="2000">
                <a:latin typeface="Times New Roman" panose="02020603050405020304" pitchFamily="18" charset="0"/>
                <a:cs typeface="Times New Roman" panose="02020603050405020304" pitchFamily="18" charset="0"/>
              </a:rPr>
              <a:t>The platform evaluates submitted solutions for both </a:t>
            </a:r>
            <a:r>
              <a:rPr lang="en-IN" sz="2000" b="1">
                <a:latin typeface="Times New Roman" panose="02020603050405020304" pitchFamily="18" charset="0"/>
                <a:cs typeface="Times New Roman" panose="02020603050405020304" pitchFamily="18" charset="0"/>
              </a:rPr>
              <a:t>functional correctness</a:t>
            </a:r>
            <a:r>
              <a:rPr lang="en-IN" sz="2000">
                <a:latin typeface="Times New Roman" panose="02020603050405020304" pitchFamily="18" charset="0"/>
                <a:cs typeface="Times New Roman" panose="02020603050405020304" pitchFamily="18" charset="0"/>
              </a:rPr>
              <a:t> and </a:t>
            </a:r>
            <a:r>
              <a:rPr lang="en-IN" sz="2000" b="1">
                <a:latin typeface="Times New Roman" panose="02020603050405020304" pitchFamily="18" charset="0"/>
                <a:cs typeface="Times New Roman" panose="02020603050405020304" pitchFamily="18" charset="0"/>
              </a:rPr>
              <a:t>security correctness</a:t>
            </a:r>
            <a:r>
              <a:rPr lang="en-IN" sz="2000">
                <a:latin typeface="Times New Roman" panose="02020603050405020304" pitchFamily="18" charset="0"/>
                <a:cs typeface="Times New Roman" panose="02020603050405020304" pitchFamily="18" charset="0"/>
              </a:rPr>
              <a:t> using automated code execution and multiple security analysis mechanisms, including </a:t>
            </a:r>
            <a:r>
              <a:rPr lang="en-IN" sz="2000" b="1">
                <a:latin typeface="Times New Roman" panose="02020603050405020304" pitchFamily="18" charset="0"/>
                <a:cs typeface="Times New Roman" panose="02020603050405020304" pitchFamily="18" charset="0"/>
              </a:rPr>
              <a:t>static analysis tools and AI-generated guidance</a:t>
            </a:r>
            <a:r>
              <a:rPr lang="en-IN" sz="2000">
                <a:latin typeface="Times New Roman" panose="02020603050405020304" pitchFamily="18" charset="0"/>
                <a:cs typeface="Times New Roman" panose="02020603050405020304" pitchFamily="18" charset="0"/>
              </a:rPr>
              <a:t>. Learners receive security feedback, evidence, submission history, and learning analytics to understand their mistakes and improve across multiple attempts. The platform is designed to support different vulnerability categories and promote practical learning of secure coding principles. Ultimately, </a:t>
            </a:r>
            <a:r>
              <a:rPr lang="en-IN" sz="2000" b="1">
                <a:latin typeface="Times New Roman" panose="02020603050405020304" pitchFamily="18" charset="0"/>
                <a:cs typeface="Times New Roman" panose="02020603050405020304" pitchFamily="18" charset="0"/>
              </a:rPr>
              <a:t>SecureCode AI</a:t>
            </a:r>
            <a:r>
              <a:rPr lang="en-IN" sz="2000">
                <a:latin typeface="Times New Roman" panose="02020603050405020304" pitchFamily="18" charset="0"/>
                <a:cs typeface="Times New Roman" panose="02020603050405020304" pitchFamily="18" charset="0"/>
              </a:rPr>
              <a:t> aims to bridge the gap between conventional programming practice and cybersecurity education by helping developers learn to write </a:t>
            </a:r>
            <a:r>
              <a:rPr lang="en-IN" sz="2000" b="1">
                <a:latin typeface="Times New Roman" panose="02020603050405020304" pitchFamily="18" charset="0"/>
                <a:cs typeface="Times New Roman" panose="02020603050405020304" pitchFamily="18" charset="0"/>
              </a:rPr>
              <a:t>functionally correct and secure code</a:t>
            </a:r>
            <a:r>
              <a:rPr lang="en-IN" sz="20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85055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0545A-A879-BC49-14AC-B67287F43FA2}"/>
              </a:ext>
            </a:extLst>
          </p:cNvPr>
          <p:cNvSpPr>
            <a:spLocks noGrp="1"/>
          </p:cNvSpPr>
          <p:nvPr>
            <p:ph type="title"/>
          </p:nvPr>
        </p:nvSpPr>
        <p:spPr>
          <a:xfrm>
            <a:off x="4465074" y="130040"/>
            <a:ext cx="3261852" cy="1001559"/>
          </a:xfrm>
        </p:spPr>
        <p:txBody>
          <a:bodyPr>
            <a:normAutofit/>
          </a:bodyPr>
          <a:lstStyle/>
          <a:p>
            <a:r>
              <a:rPr lang="en-IN">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1EB8F4C-5C19-9E46-3DFA-37E60975185D}"/>
              </a:ext>
            </a:extLst>
          </p:cNvPr>
          <p:cNvSpPr>
            <a:spLocks noGrp="1"/>
          </p:cNvSpPr>
          <p:nvPr>
            <p:ph idx="1"/>
          </p:nvPr>
        </p:nvSpPr>
        <p:spPr>
          <a:xfrm>
            <a:off x="838200" y="1131599"/>
            <a:ext cx="10515600" cy="5362217"/>
          </a:xfrm>
        </p:spPr>
        <p:txBody>
          <a:bodyPr>
            <a:noAutofit/>
          </a:bodyPr>
          <a:lstStyle/>
          <a:p>
            <a:r>
              <a:rPr lang="en-IN" sz="2000">
                <a:latin typeface="Times New Roman" panose="02020603050405020304" pitchFamily="18" charset="0"/>
                <a:cs typeface="Times New Roman" panose="02020603050405020304" pitchFamily="18" charset="0"/>
              </a:rPr>
              <a:t>With the rapid growth of web applications, cloud services, and digital systems, </a:t>
            </a:r>
            <a:r>
              <a:rPr lang="en-IN" sz="2000" b="1">
                <a:latin typeface="Times New Roman" panose="02020603050405020304" pitchFamily="18" charset="0"/>
                <a:cs typeface="Times New Roman" panose="02020603050405020304" pitchFamily="18" charset="0"/>
              </a:rPr>
              <a:t>secure software development</a:t>
            </a:r>
            <a:r>
              <a:rPr lang="en-IN" sz="2000">
                <a:latin typeface="Times New Roman" panose="02020603050405020304" pitchFamily="18" charset="0"/>
                <a:cs typeface="Times New Roman" panose="02020603050405020304" pitchFamily="18" charset="0"/>
              </a:rPr>
              <a:t> has become an essential requirement for modern software engineers. Despite continuous advancements in cybersecurity, software vulnerabilities remain a major cause of data breaches, system compromise, and cyberattacks. While various platforms provide coding practice, cybersecurity training, and vulnerability scanning, there is limited focus on </a:t>
            </a:r>
            <a:r>
              <a:rPr lang="en-IN" sz="2000" b="1">
                <a:latin typeface="Times New Roman" panose="02020603050405020304" pitchFamily="18" charset="0"/>
                <a:cs typeface="Times New Roman" panose="02020603050405020304" pitchFamily="18" charset="0"/>
              </a:rPr>
              <a:t>teaching developers to develop secure code through practical programming experience</a:t>
            </a:r>
            <a:r>
              <a:rPr lang="en-IN" sz="2000">
                <a:latin typeface="Times New Roman" panose="02020603050405020304" pitchFamily="18" charset="0"/>
                <a:cs typeface="Times New Roman" panose="02020603050405020304" pitchFamily="18" charset="0"/>
              </a:rPr>
              <a:t>.</a:t>
            </a:r>
          </a:p>
          <a:p>
            <a:r>
              <a:rPr lang="en-IN" sz="2000">
                <a:latin typeface="Times New Roman" panose="02020603050405020304" pitchFamily="18" charset="0"/>
                <a:cs typeface="Times New Roman" panose="02020603050405020304" pitchFamily="18" charset="0"/>
              </a:rPr>
              <a:t>Existing learning platforms often emphasize algorithmic problem-solving, while security-focused platforms primarily concentrate on vulnerability detection or offensive security. This creates a gap between </a:t>
            </a:r>
            <a:r>
              <a:rPr lang="en-IN" sz="2000" b="1">
                <a:latin typeface="Times New Roman" panose="02020603050405020304" pitchFamily="18" charset="0"/>
                <a:cs typeface="Times New Roman" panose="02020603050405020304" pitchFamily="18" charset="0"/>
              </a:rPr>
              <a:t>programming skills and secure software development practices</a:t>
            </a:r>
            <a:r>
              <a:rPr lang="en-IN" sz="2000">
                <a:latin typeface="Times New Roman" panose="02020603050405020304" pitchFamily="18" charset="0"/>
                <a:cs typeface="Times New Roman" panose="02020603050405020304" pitchFamily="18" charset="0"/>
              </a:rPr>
              <a:t>. To address this gap, our project proposes </a:t>
            </a:r>
            <a:r>
              <a:rPr lang="en-IN" sz="2000" b="1">
                <a:latin typeface="Times New Roman" panose="02020603050405020304" pitchFamily="18" charset="0"/>
                <a:cs typeface="Times New Roman" panose="02020603050405020304" pitchFamily="18" charset="0"/>
              </a:rPr>
              <a:t>SecureCode AI</a:t>
            </a:r>
            <a:r>
              <a:rPr lang="en-IN" sz="2000">
                <a:latin typeface="Times New Roman" panose="02020603050405020304" pitchFamily="18" charset="0"/>
                <a:cs typeface="Times New Roman" panose="02020603050405020304" pitchFamily="18" charset="0"/>
              </a:rPr>
              <a:t>, an interactive secure coding platform that enables learners to practice programming through </a:t>
            </a:r>
            <a:r>
              <a:rPr lang="en-IN" sz="2000" b="1">
                <a:latin typeface="Times New Roman" panose="02020603050405020304" pitchFamily="18" charset="0"/>
                <a:cs typeface="Times New Roman" panose="02020603050405020304" pitchFamily="18" charset="0"/>
              </a:rPr>
              <a:t>security-focused coding challenges</a:t>
            </a:r>
            <a:r>
              <a:rPr lang="en-IN" sz="2000">
                <a:latin typeface="Times New Roman" panose="02020603050405020304" pitchFamily="18" charset="0"/>
                <a:cs typeface="Times New Roman" panose="02020603050405020304" pitchFamily="18" charset="0"/>
              </a:rPr>
              <a:t>. The platform evaluates submitted solutions for both </a:t>
            </a:r>
            <a:r>
              <a:rPr lang="en-IN" sz="2000" b="1">
                <a:latin typeface="Times New Roman" panose="02020603050405020304" pitchFamily="18" charset="0"/>
                <a:cs typeface="Times New Roman" panose="02020603050405020304" pitchFamily="18" charset="0"/>
              </a:rPr>
              <a:t>functional correctness and security correctness</a:t>
            </a:r>
            <a:r>
              <a:rPr lang="en-IN" sz="2000">
                <a:latin typeface="Times New Roman" panose="02020603050405020304" pitchFamily="18" charset="0"/>
                <a:cs typeface="Times New Roman" panose="02020603050405020304" pitchFamily="18" charset="0"/>
              </a:rPr>
              <a:t>, using automated testing and security analysis tools, while providing feedback and learning analytics. The platform aims to bridge programming and cybersecurity education by helping learners develop the ability to write </a:t>
            </a:r>
            <a:r>
              <a:rPr lang="en-IN" sz="2000" b="1">
                <a:latin typeface="Times New Roman" panose="02020603050405020304" pitchFamily="18" charset="0"/>
                <a:cs typeface="Times New Roman" panose="02020603050405020304" pitchFamily="18" charset="0"/>
              </a:rPr>
              <a:t>correct, secure, and reliable software</a:t>
            </a:r>
            <a:r>
              <a:rPr lang="en-IN" sz="20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71796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FA27E6F-E769-7D7E-1CBD-19A621423C8A}"/>
              </a:ext>
            </a:extLst>
          </p:cNvPr>
          <p:cNvGraphicFramePr>
            <a:graphicFrameLocks noGrp="1"/>
          </p:cNvGraphicFramePr>
          <p:nvPr>
            <p:extLst>
              <p:ext uri="{D42A27DB-BD31-4B8C-83A1-F6EECF244321}">
                <p14:modId xmlns:p14="http://schemas.microsoft.com/office/powerpoint/2010/main" val="882654544"/>
              </p:ext>
            </p:extLst>
          </p:nvPr>
        </p:nvGraphicFramePr>
        <p:xfrm>
          <a:off x="367633" y="924195"/>
          <a:ext cx="11456733" cy="5823077"/>
        </p:xfrm>
        <a:graphic>
          <a:graphicData uri="http://schemas.openxmlformats.org/drawingml/2006/table">
            <a:tbl>
              <a:tblPr firstRow="1" bandRow="1">
                <a:tableStyleId>{5C22544A-7EE6-4342-B048-85BDC9FD1C3A}</a:tableStyleId>
              </a:tblPr>
              <a:tblGrid>
                <a:gridCol w="535859">
                  <a:extLst>
                    <a:ext uri="{9D8B030D-6E8A-4147-A177-3AD203B41FA5}">
                      <a16:colId xmlns:a16="http://schemas.microsoft.com/office/drawing/2014/main" val="1425768034"/>
                    </a:ext>
                  </a:extLst>
                </a:gridCol>
                <a:gridCol w="2429643">
                  <a:extLst>
                    <a:ext uri="{9D8B030D-6E8A-4147-A177-3AD203B41FA5}">
                      <a16:colId xmlns:a16="http://schemas.microsoft.com/office/drawing/2014/main" val="3814177953"/>
                    </a:ext>
                  </a:extLst>
                </a:gridCol>
                <a:gridCol w="2841523">
                  <a:extLst>
                    <a:ext uri="{9D8B030D-6E8A-4147-A177-3AD203B41FA5}">
                      <a16:colId xmlns:a16="http://schemas.microsoft.com/office/drawing/2014/main" val="1340773443"/>
                    </a:ext>
                  </a:extLst>
                </a:gridCol>
                <a:gridCol w="2487561">
                  <a:extLst>
                    <a:ext uri="{9D8B030D-6E8A-4147-A177-3AD203B41FA5}">
                      <a16:colId xmlns:a16="http://schemas.microsoft.com/office/drawing/2014/main" val="281377767"/>
                    </a:ext>
                  </a:extLst>
                </a:gridCol>
                <a:gridCol w="3162147">
                  <a:extLst>
                    <a:ext uri="{9D8B030D-6E8A-4147-A177-3AD203B41FA5}">
                      <a16:colId xmlns:a16="http://schemas.microsoft.com/office/drawing/2014/main" val="80272989"/>
                    </a:ext>
                  </a:extLst>
                </a:gridCol>
              </a:tblGrid>
              <a:tr h="432657">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647317">
                <a:tc>
                  <a:txBody>
                    <a:bodyPr/>
                    <a:lstStyle/>
                    <a:p>
                      <a:r>
                        <a:rPr lang="en-IN" sz="1600">
                          <a:latin typeface="Times New Roman" panose="02020603050405020304" pitchFamily="18" charset="0"/>
                          <a:cs typeface="Times New Roman" panose="02020603050405020304" pitchFamily="18" charset="0"/>
                        </a:rPr>
                        <a:t>1</a:t>
                      </a:r>
                    </a:p>
                  </a:txBody>
                  <a:tcPr/>
                </a:tc>
                <a:tc>
                  <a:txBody>
                    <a:bodyPr/>
                    <a:lstStyle/>
                    <a:p>
                      <a:r>
                        <a:rPr lang="en-IN" sz="1600" b="1">
                          <a:latin typeface="Times New Roman" panose="02020603050405020304" pitchFamily="18" charset="0"/>
                          <a:cs typeface="Times New Roman" panose="02020603050405020304" pitchFamily="18" charset="0"/>
                        </a:rPr>
                        <a:t>Secure Coding with AI – From Detection to Repair</a:t>
                      </a:r>
                      <a:r>
                        <a:rPr lang="en-IN" sz="1600">
                          <a:latin typeface="Times New Roman" panose="02020603050405020304" pitchFamily="18" charset="0"/>
                          <a:cs typeface="Times New Roman" panose="02020603050405020304" pitchFamily="18" charset="0"/>
                        </a:rPr>
                        <a:t> (Vladislav Belozerov, Peter J. Barclay, Ashkan Sami, 2026)</a:t>
                      </a:r>
                    </a:p>
                  </a:txBody>
                  <a:tcPr/>
                </a:tc>
                <a:tc>
                  <a:txBody>
                    <a:bodyPr/>
                    <a:lstStyle/>
                    <a:p>
                      <a:r>
                        <a:rPr lang="en-IN" sz="1600">
                          <a:latin typeface="Times New Roman" panose="02020603050405020304" pitchFamily="18" charset="0"/>
                          <a:cs typeface="Times New Roman" panose="02020603050405020304" pitchFamily="18" charset="0"/>
                        </a:rPr>
                        <a:t>Evaluated GPT-4.1, GPT-5 and Claude for real-world vulnerability detection and repair. Modern LLMs repaired around 75–80% of detected vulnerabilities.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Secrets, Integer Overflow, Memory Corruption, Input Validation flaws</a:t>
                      </a:r>
                    </a:p>
                  </a:txBody>
                  <a:tcPr/>
                </a:tc>
                <a:tc>
                  <a:txBody>
                    <a:bodyPr/>
                    <a:lstStyle/>
                    <a:p>
                      <a:r>
                        <a:rPr lang="en-IN" sz="1600">
                          <a:latin typeface="Times New Roman" panose="02020603050405020304" pitchFamily="18" charset="0"/>
                          <a:cs typeface="Times New Roman" panose="02020603050405020304" pitchFamily="18" charset="0"/>
                        </a:rPr>
                        <a:t>Focuses only on evaluating LLMs for vulnerability detection and repair. Does not provide an interactive secure coding practice platform, coding challenges, learner progress tracking, or AI-assisted educational feedback.</a:t>
                      </a:r>
                    </a:p>
                  </a:txBody>
                  <a:tcPr/>
                </a:tc>
                <a:extLst>
                  <a:ext uri="{0D108BD9-81ED-4DB2-BD59-A6C34878D82A}">
                    <a16:rowId xmlns:a16="http://schemas.microsoft.com/office/drawing/2014/main" val="1214652384"/>
                  </a:ext>
                </a:extLst>
              </a:tr>
              <a:tr h="1647317">
                <a:tc>
                  <a:txBody>
                    <a:bodyPr/>
                    <a:lstStyle/>
                    <a:p>
                      <a:r>
                        <a:rPr lang="en-IN" sz="1600">
                          <a:latin typeface="Times New Roman" panose="02020603050405020304" pitchFamily="18" charset="0"/>
                          <a:cs typeface="Times New Roman" panose="02020603050405020304" pitchFamily="18" charset="0"/>
                        </a:rPr>
                        <a:t>2</a:t>
                      </a:r>
                    </a:p>
                  </a:txBody>
                  <a:tcPr/>
                </a:tc>
                <a:tc>
                  <a:txBody>
                    <a:bodyPr/>
                    <a:lstStyle/>
                    <a:p>
                      <a:r>
                        <a:rPr lang="en-IN" sz="1600" b="1">
                          <a:latin typeface="Times New Roman" panose="02020603050405020304" pitchFamily="18" charset="0"/>
                          <a:cs typeface="Times New Roman" panose="02020603050405020304" pitchFamily="18" charset="0"/>
                        </a:rPr>
                        <a:t>An Empirical Study on LLM-Driven Secure Code Generation</a:t>
                      </a:r>
                      <a:r>
                        <a:rPr lang="en-IN" sz="1600">
                          <a:latin typeface="Times New Roman" panose="02020603050405020304" pitchFamily="18" charset="0"/>
                          <a:cs typeface="Times New Roman" panose="02020603050405020304" pitchFamily="18" charset="0"/>
                        </a:rPr>
                        <a:t> (Hao Yan, Swapneel S. Vaidya, Xiaokuan Zhang, Ziyu Yao, 2025)</a:t>
                      </a:r>
                    </a:p>
                  </a:txBody>
                  <a:tcPr/>
                </a:tc>
                <a:tc>
                  <a:txBody>
                    <a:bodyPr/>
                    <a:lstStyle/>
                    <a:p>
                      <a:r>
                        <a:rPr lang="en-IN" sz="1600">
                          <a:latin typeface="Times New Roman" panose="02020603050405020304" pitchFamily="18" charset="0"/>
                          <a:cs typeface="Times New Roman" panose="02020603050405020304" pitchFamily="18" charset="0"/>
                        </a:rPr>
                        <a:t>Demonstrated that self-generated vulnerability hints significantly improve secure code generation and vulnerability repair by LLMs.</a:t>
                      </a:r>
                    </a:p>
                  </a:txBody>
                  <a:tcPr/>
                </a:tc>
                <a:tc>
                  <a:txBody>
                    <a:bodyPr/>
                    <a:lstStyle/>
                    <a:p>
                      <a:r>
                        <a:rPr lang="en-IN" sz="1600">
                          <a:latin typeface="Times New Roman" panose="02020603050405020304" pitchFamily="18" charset="0"/>
                          <a:cs typeface="Times New Roman" panose="02020603050405020304" pitchFamily="18" charset="0"/>
                        </a:rPr>
                        <a:t>SQL Injection, Command Injection, Buffer Overflow, Path Traversal, Hardcoded Credentials, Weak Input Validation</a:t>
                      </a:r>
                    </a:p>
                  </a:txBody>
                  <a:tcPr/>
                </a:tc>
                <a:tc>
                  <a:txBody>
                    <a:bodyPr/>
                    <a:lstStyle/>
                    <a:p>
                      <a:r>
                        <a:rPr lang="en-IN" sz="1600">
                          <a:latin typeface="Times New Roman" panose="02020603050405020304" pitchFamily="18" charset="0"/>
                          <a:cs typeface="Times New Roman" panose="02020603050405020304" pitchFamily="18" charset="0"/>
                        </a:rPr>
                        <a:t>Focuses on improving LLM code generation rather than building a learning platform. Does not support secure coding exercises, user assessment, or personalized developer learning.</a:t>
                      </a:r>
                    </a:p>
                  </a:txBody>
                  <a:tcPr/>
                </a:tc>
                <a:extLst>
                  <a:ext uri="{0D108BD9-81ED-4DB2-BD59-A6C34878D82A}">
                    <a16:rowId xmlns:a16="http://schemas.microsoft.com/office/drawing/2014/main" val="3675125292"/>
                  </a:ext>
                </a:extLst>
              </a:tr>
              <a:tr h="1647317">
                <a:tc>
                  <a:txBody>
                    <a:bodyPr/>
                    <a:lstStyle/>
                    <a:p>
                      <a:r>
                        <a:rPr lang="en-IN" sz="1600">
                          <a:latin typeface="Times New Roman" panose="02020603050405020304" pitchFamily="18" charset="0"/>
                          <a:cs typeface="Times New Roman" panose="02020603050405020304" pitchFamily="18" charset="0"/>
                        </a:rPr>
                        <a:t>3</a:t>
                      </a:r>
                    </a:p>
                  </a:txBody>
                  <a:tcPr/>
                </a:tc>
                <a:tc>
                  <a:txBody>
                    <a:bodyPr/>
                    <a:lstStyle/>
                    <a:p>
                      <a:r>
                        <a:rPr lang="en-IN" sz="1600" b="1">
                          <a:latin typeface="Times New Roman" panose="02020603050405020304" pitchFamily="18" charset="0"/>
                          <a:cs typeface="Times New Roman" panose="02020603050405020304" pitchFamily="18" charset="0"/>
                        </a:rPr>
                        <a:t>Design of Secure Coding Challenges for Cybersecurity Education in the Industry</a:t>
                      </a:r>
                      <a:r>
                        <a:rPr lang="en-IN" sz="1600">
                          <a:latin typeface="Times New Roman" panose="02020603050405020304" pitchFamily="18" charset="0"/>
                          <a:cs typeface="Times New Roman" panose="02020603050405020304" pitchFamily="18" charset="0"/>
                        </a:rPr>
                        <a:t> (Tiago Gasiba, Ulrike Lechner, Maria Pinto-Albuquerque, Alae Zouitni, 2021) </a:t>
                      </a:r>
                    </a:p>
                  </a:txBody>
                  <a:tcPr/>
                </a:tc>
                <a:tc>
                  <a:txBody>
                    <a:bodyPr/>
                    <a:lstStyle/>
                    <a:p>
                      <a:pPr rtl="0" eaLnBrk="1" latinLnBrk="0" hangingPunct="1"/>
                      <a:r>
                        <a:rPr lang="en-IN" sz="1800" kern="1200">
                          <a:solidFill>
                            <a:schemeClr val="dk1"/>
                          </a:solidFill>
                          <a:effectLst/>
                          <a:latin typeface="+mn-lt"/>
                          <a:ea typeface="+mn-ea"/>
                          <a:cs typeface="+mn-cs"/>
                        </a:rPr>
                        <a:t>Introduces Capture-the-Flag (CTF) challenge structures to improve developers' secure coding skills.</a:t>
                      </a:r>
                      <a:endParaRPr lang="en-IN" sz="1600">
                        <a:effectLs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SQL Injection, XSS, Buffer Overflow, Authentication flaws, Secure Coding Practices</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Provides challenge design only. Does not include automated code evaluation, AI-generated explanations, adaptive learning, or progress tracking.</a:t>
                      </a:r>
                      <a:endParaRPr lang="en-IN" sz="1600">
                        <a:effectLst/>
                      </a:endParaRPr>
                    </a:p>
                  </a:txBody>
                  <a:tcPr/>
                </a:tc>
                <a:extLst>
                  <a:ext uri="{0D108BD9-81ED-4DB2-BD59-A6C34878D82A}">
                    <a16:rowId xmlns:a16="http://schemas.microsoft.com/office/drawing/2014/main" val="4275212338"/>
                  </a:ext>
                </a:extLst>
              </a:tr>
            </a:tbl>
          </a:graphicData>
        </a:graphic>
      </p:graphicFrame>
      <p:sp>
        <p:nvSpPr>
          <p:cNvPr id="5" name="TextBox 4">
            <a:extLst>
              <a:ext uri="{FF2B5EF4-FFF2-40B4-BE49-F238E27FC236}">
                <a16:creationId xmlns:a16="http://schemas.microsoft.com/office/drawing/2014/main" id="{D9E8943A-19E3-1493-431E-08D546C5F62F}"/>
              </a:ext>
            </a:extLst>
          </p:cNvPr>
          <p:cNvSpPr txBox="1"/>
          <p:nvPr/>
        </p:nvSpPr>
        <p:spPr>
          <a:xfrm>
            <a:off x="4201090" y="108155"/>
            <a:ext cx="3789820" cy="707886"/>
          </a:xfrm>
          <a:prstGeom prst="rect">
            <a:avLst/>
          </a:prstGeom>
          <a:noFill/>
        </p:spPr>
        <p:txBody>
          <a:bodyPr wrap="none" rtlCol="0">
            <a:spAutoFit/>
          </a:bodyPr>
          <a:lstStyle/>
          <a:p>
            <a:r>
              <a:rPr lang="en-IN" sz="400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487381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57592-B2C0-A0AE-3C93-EFBEF6CC266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255D6ED-020F-2A6F-5409-3EC41B87AA8D}"/>
              </a:ext>
            </a:extLst>
          </p:cNvPr>
          <p:cNvGraphicFramePr>
            <a:graphicFrameLocks noGrp="1"/>
          </p:cNvGraphicFramePr>
          <p:nvPr>
            <p:extLst>
              <p:ext uri="{D42A27DB-BD31-4B8C-83A1-F6EECF244321}">
                <p14:modId xmlns:p14="http://schemas.microsoft.com/office/powerpoint/2010/main" val="2775555459"/>
              </p:ext>
            </p:extLst>
          </p:nvPr>
        </p:nvGraphicFramePr>
        <p:xfrm>
          <a:off x="132736" y="327864"/>
          <a:ext cx="11926527" cy="6385152"/>
        </p:xfrm>
        <a:graphic>
          <a:graphicData uri="http://schemas.openxmlformats.org/drawingml/2006/table">
            <a:tbl>
              <a:tblPr firstRow="1" bandRow="1">
                <a:tableStyleId>{5C22544A-7EE6-4342-B048-85BDC9FD1C3A}</a:tableStyleId>
              </a:tblPr>
              <a:tblGrid>
                <a:gridCol w="595818">
                  <a:extLst>
                    <a:ext uri="{9D8B030D-6E8A-4147-A177-3AD203B41FA5}">
                      <a16:colId xmlns:a16="http://schemas.microsoft.com/office/drawing/2014/main" val="1425768034"/>
                    </a:ext>
                  </a:extLst>
                </a:gridCol>
                <a:gridCol w="2861959">
                  <a:extLst>
                    <a:ext uri="{9D8B030D-6E8A-4147-A177-3AD203B41FA5}">
                      <a16:colId xmlns:a16="http://schemas.microsoft.com/office/drawing/2014/main" val="3814177953"/>
                    </a:ext>
                  </a:extLst>
                </a:gridCol>
                <a:gridCol w="2637890">
                  <a:extLst>
                    <a:ext uri="{9D8B030D-6E8A-4147-A177-3AD203B41FA5}">
                      <a16:colId xmlns:a16="http://schemas.microsoft.com/office/drawing/2014/main" val="1340773443"/>
                    </a:ext>
                  </a:extLst>
                </a:gridCol>
                <a:gridCol w="2525857">
                  <a:extLst>
                    <a:ext uri="{9D8B030D-6E8A-4147-A177-3AD203B41FA5}">
                      <a16:colId xmlns:a16="http://schemas.microsoft.com/office/drawing/2014/main" val="281377767"/>
                    </a:ext>
                  </a:extLst>
                </a:gridCol>
                <a:gridCol w="3305003">
                  <a:extLst>
                    <a:ext uri="{9D8B030D-6E8A-4147-A177-3AD203B41FA5}">
                      <a16:colId xmlns:a16="http://schemas.microsoft.com/office/drawing/2014/main" val="80272989"/>
                    </a:ext>
                  </a:extLst>
                </a:gridCol>
              </a:tblGrid>
              <a:tr h="679493">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308343">
                <a:tc>
                  <a:txBody>
                    <a:bodyPr/>
                    <a:lstStyle/>
                    <a:p>
                      <a:r>
                        <a:rPr lang="en-IN" sz="1600">
                          <a:latin typeface="Times New Roman" panose="02020603050405020304" pitchFamily="18" charset="0"/>
                          <a:cs typeface="Times New Roman" panose="02020603050405020304" pitchFamily="18" charset="0"/>
                        </a:rPr>
                        <a:t>4</a:t>
                      </a:r>
                    </a:p>
                  </a:txBody>
                  <a:tcPr/>
                </a:tc>
                <a:tc>
                  <a:txBody>
                    <a:bodyPr/>
                    <a:lstStyle/>
                    <a:p>
                      <a:r>
                        <a:rPr lang="en-IN" sz="1600" b="1">
                          <a:latin typeface="Times New Roman" panose="02020603050405020304" pitchFamily="18" charset="0"/>
                          <a:cs typeface="Times New Roman" panose="02020603050405020304" pitchFamily="18" charset="0"/>
                        </a:rPr>
                        <a:t>The Role of Generative AI in Strengthening Secure Software Coding Practices</a:t>
                      </a:r>
                      <a:r>
                        <a:rPr lang="en-IN" sz="1600">
                          <a:latin typeface="Times New Roman" panose="02020603050405020304" pitchFamily="18" charset="0"/>
                          <a:cs typeface="Times New Roman" panose="02020603050405020304" pitchFamily="18" charset="0"/>
                        </a:rPr>
                        <a:t> (Hathal S. Alwageed, Rafiq Ahmad Khan, 2025)</a:t>
                      </a:r>
                    </a:p>
                  </a:txBody>
                  <a:tcPr/>
                </a:tc>
                <a:tc>
                  <a:txBody>
                    <a:bodyPr/>
                    <a:lstStyle/>
                    <a:p>
                      <a:r>
                        <a:rPr lang="en-IN" sz="1600">
                          <a:latin typeface="Times New Roman" panose="02020603050405020304" pitchFamily="18" charset="0"/>
                          <a:cs typeface="Times New Roman" panose="02020603050405020304" pitchFamily="18" charset="0"/>
                        </a:rPr>
                        <a:t>Reviews how GenAI improves secure coding, vulnerability detection and developer productivity.</a:t>
                      </a:r>
                    </a:p>
                  </a:txBody>
                  <a:tcPr/>
                </a:tc>
                <a:tc>
                  <a:txBody>
                    <a:bodyPr/>
                    <a:lstStyle/>
                    <a:p>
                      <a:r>
                        <a:rPr lang="en-IN" sz="1600">
                          <a:latin typeface="Times New Roman" panose="02020603050405020304" pitchFamily="18" charset="0"/>
                          <a:cs typeface="Times New Roman" panose="02020603050405020304" pitchFamily="18" charset="0"/>
                        </a:rPr>
                        <a:t>SQL Injection, Cross-Site Scripting (XSS), Buffer Overflow, Input Validation issues</a:t>
                      </a:r>
                    </a:p>
                  </a:txBody>
                  <a:tcPr/>
                </a:tc>
                <a:tc>
                  <a:txBody>
                    <a:bodyPr/>
                    <a:lstStyle/>
                    <a:p>
                      <a:r>
                        <a:rPr lang="en-IN" sz="1600">
                          <a:latin typeface="Times New Roman" panose="02020603050405020304" pitchFamily="18" charset="0"/>
                          <a:cs typeface="Times New Roman" panose="02020603050405020304" pitchFamily="18" charset="0"/>
                        </a:rPr>
                        <a:t>Provides theoretical discussion only. No implementation of a secure coding platform, coding challenges, AI feedback, or vulnerability assessment workflow.</a:t>
                      </a:r>
                    </a:p>
                  </a:txBody>
                  <a:tcPr/>
                </a:tc>
                <a:extLst>
                  <a:ext uri="{0D108BD9-81ED-4DB2-BD59-A6C34878D82A}">
                    <a16:rowId xmlns:a16="http://schemas.microsoft.com/office/drawing/2014/main" val="1214652384"/>
                  </a:ext>
                </a:extLst>
              </a:tr>
              <a:tr h="1347019">
                <a:tc>
                  <a:txBody>
                    <a:bodyPr/>
                    <a:lstStyle/>
                    <a:p>
                      <a:r>
                        <a:rPr lang="en-IN" sz="1600">
                          <a:latin typeface="Times New Roman" panose="02020603050405020304" pitchFamily="18" charset="0"/>
                          <a:cs typeface="Times New Roman" panose="02020603050405020304" pitchFamily="18" charset="0"/>
                        </a:rPr>
                        <a:t>5</a:t>
                      </a:r>
                    </a:p>
                  </a:txBody>
                  <a:tcPr/>
                </a:tc>
                <a:tc>
                  <a:txBody>
                    <a:bodyPr/>
                    <a:lstStyle/>
                    <a:p>
                      <a:r>
                        <a:rPr lang="en-IN" sz="1600" b="1">
                          <a:latin typeface="Times New Roman" panose="02020603050405020304" pitchFamily="18" charset="0"/>
                          <a:cs typeface="Times New Roman" panose="02020603050405020304" pitchFamily="18" charset="0"/>
                        </a:rPr>
                        <a:t>Secure Coding with AI Coding Assistants: From Preventive to Reactive Security</a:t>
                      </a:r>
                      <a:r>
                        <a:rPr lang="en-IN" sz="1600">
                          <a:latin typeface="Times New Roman" panose="02020603050405020304" pitchFamily="18" charset="0"/>
                          <a:cs typeface="Times New Roman" panose="02020603050405020304" pitchFamily="18" charset="0"/>
                        </a:rPr>
                        <a:t> (Faisal Haque Bappy et al., 2026)</a:t>
                      </a:r>
                    </a:p>
                  </a:txBody>
                  <a:tcPr/>
                </a:tc>
                <a:tc>
                  <a:txBody>
                    <a:bodyPr/>
                    <a:lstStyle/>
                    <a:p>
                      <a:r>
                        <a:rPr lang="en-IN" sz="1600">
                          <a:latin typeface="Times New Roman" panose="02020603050405020304" pitchFamily="18" charset="0"/>
                          <a:cs typeface="Times New Roman" panose="02020603050405020304" pitchFamily="18" charset="0"/>
                        </a:rPr>
                        <a:t>Shows AI coding assistants shift developers from writing secure code proactively to reviewing security after code generation.</a:t>
                      </a:r>
                    </a:p>
                  </a:txBody>
                  <a:tcPr/>
                </a:tc>
                <a:tc>
                  <a:txBody>
                    <a:bodyPr/>
                    <a:lstStyle/>
                    <a:p>
                      <a:r>
                        <a:rPr lang="en-IN" sz="1600">
                          <a:latin typeface="Times New Roman" panose="02020603050405020304" pitchFamily="18" charset="0"/>
                          <a:cs typeface="Times New Roman" panose="02020603050405020304" pitchFamily="18" charset="0"/>
                        </a:rPr>
                        <a:t>General secure coding awareness for OWASP Top 10 vulnerabilities</a:t>
                      </a:r>
                    </a:p>
                  </a:txBody>
                  <a:tcPr/>
                </a:tc>
                <a:tc>
                  <a:txBody>
                    <a:bodyPr/>
                    <a:lstStyle/>
                    <a:p>
                      <a:r>
                        <a:rPr lang="en-IN" sz="1600">
                          <a:latin typeface="Times New Roman" panose="02020603050405020304" pitchFamily="18" charset="0"/>
                          <a:cs typeface="Times New Roman" panose="02020603050405020304" pitchFamily="18" charset="0"/>
                        </a:rPr>
                        <a:t>Focuses on developer behaviour rather than developing a secure coding education platform with automated vulnerability detection, scoring, and learning analytics.</a:t>
                      </a:r>
                    </a:p>
                  </a:txBody>
                  <a:tcPr/>
                </a:tc>
                <a:extLst>
                  <a:ext uri="{0D108BD9-81ED-4DB2-BD59-A6C34878D82A}">
                    <a16:rowId xmlns:a16="http://schemas.microsoft.com/office/drawing/2014/main" val="3675125292"/>
                  </a:ext>
                </a:extLst>
              </a:tr>
              <a:tr h="1051123">
                <a:tc>
                  <a:txBody>
                    <a:bodyPr/>
                    <a:lstStyle/>
                    <a:p>
                      <a:r>
                        <a:rPr lang="en-IN" sz="1600">
                          <a:latin typeface="Times New Roman" panose="02020603050405020304" pitchFamily="18" charset="0"/>
                          <a:cs typeface="Times New Roman" panose="02020603050405020304" pitchFamily="18" charset="0"/>
                        </a:rPr>
                        <a:t>6</a:t>
                      </a:r>
                    </a:p>
                  </a:txBody>
                  <a:tcPr/>
                </a:tc>
                <a:tc>
                  <a:txBody>
                    <a:bodyPr/>
                    <a:lstStyle/>
                    <a:p>
                      <a:r>
                        <a:rPr lang="en-IN" sz="1600" b="1">
                          <a:latin typeface="Times New Roman" panose="02020603050405020304" pitchFamily="18" charset="0"/>
                          <a:cs typeface="Times New Roman" panose="02020603050405020304" pitchFamily="18" charset="0"/>
                        </a:rPr>
                        <a:t>Is Secure Coding Education in the Industry Needed?</a:t>
                      </a:r>
                      <a:r>
                        <a:rPr lang="en-IN" sz="1600">
                          <a:latin typeface="Times New Roman" panose="02020603050405020304" pitchFamily="18" charset="0"/>
                          <a:cs typeface="Times New Roman" panose="02020603050405020304" pitchFamily="18" charset="0"/>
                        </a:rPr>
                        <a:t> (Tiago Espinha Gasiba, Ulrike Lechner, Maria Pinto-Albuquerque, Daniel Mendez, 2021)</a:t>
                      </a:r>
                    </a:p>
                  </a:txBody>
                  <a:tcPr/>
                </a:tc>
                <a:tc>
                  <a:txBody>
                    <a:bodyPr/>
                    <a:lstStyle/>
                    <a:p>
                      <a:r>
                        <a:rPr lang="en-IN" sz="1600">
                          <a:latin typeface="Times New Roman" panose="02020603050405020304" pitchFamily="18" charset="0"/>
                          <a:cs typeface="Times New Roman" panose="02020603050405020304" pitchFamily="18" charset="0"/>
                        </a:rPr>
                        <a:t>Large-scale survey reveals many developers lack awareness and compliance with secure coding guidelines.</a:t>
                      </a:r>
                    </a:p>
                  </a:txBody>
                  <a:tcPr/>
                </a:tc>
                <a:tc>
                  <a:txBody>
                    <a:bodyPr/>
                    <a:lstStyle/>
                    <a:p>
                      <a:r>
                        <a:rPr lang="en-IN" sz="1600">
                          <a:latin typeface="Times New Roman" panose="02020603050405020304" pitchFamily="18" charset="0"/>
                          <a:cs typeface="Times New Roman" panose="02020603050405020304" pitchFamily="18" charset="0"/>
                        </a:rPr>
                        <a:t>General secure coding issues including SQL Injection, XSS, Authentication, Secure Coding Standards</a:t>
                      </a:r>
                    </a:p>
                  </a:txBody>
                  <a:tcPr/>
                </a:tc>
                <a:tc>
                  <a:txBody>
                    <a:bodyPr/>
                    <a:lstStyle/>
                    <a:p>
                      <a:r>
                        <a:rPr lang="en-IN" sz="1600">
                          <a:latin typeface="Times New Roman" panose="02020603050405020304" pitchFamily="18" charset="0"/>
                          <a:cs typeface="Times New Roman" panose="02020603050405020304" pitchFamily="18" charset="0"/>
                        </a:rPr>
                        <a:t>Identifies the need for secure coding education but does not propose or implement an AI-assisted secure coding learning platform.</a:t>
                      </a:r>
                    </a:p>
                  </a:txBody>
                  <a:tcPr/>
                </a:tc>
                <a:extLst>
                  <a:ext uri="{0D108BD9-81ED-4DB2-BD59-A6C34878D82A}">
                    <a16:rowId xmlns:a16="http://schemas.microsoft.com/office/drawing/2014/main" val="4275212338"/>
                  </a:ext>
                </a:extLst>
              </a:tr>
              <a:tr h="1051123">
                <a:tc>
                  <a:txBody>
                    <a:bodyPr/>
                    <a:lstStyle/>
                    <a:p>
                      <a:r>
                        <a:rPr lang="en-IN" sz="160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latin typeface="Times New Roman" panose="02020603050405020304" pitchFamily="18" charset="0"/>
                          <a:cs typeface="Times New Roman" panose="02020603050405020304" pitchFamily="18" charset="0"/>
                        </a:rPr>
                        <a:t>SoK: AI Secure Code Generation – Progress, Pitfalls and Paths Forward</a:t>
                      </a:r>
                      <a:r>
                        <a:rPr lang="en-IN" sz="1600">
                          <a:latin typeface="Times New Roman" panose="02020603050405020304" pitchFamily="18" charset="0"/>
                          <a:cs typeface="Times New Roman" panose="02020603050405020304" pitchFamily="18" charset="0"/>
                        </a:rPr>
                        <a:t> (Rupam Patir, Keyan Guo, Haipeng Cai, Hongxin Hu, 2026)</a:t>
                      </a:r>
                    </a:p>
                    <a:p>
                      <a:endParaRPr lang="en-IN" sz="1600">
                        <a:latin typeface="Times New Roman" panose="02020603050405020304" pitchFamily="18" charset="0"/>
                        <a:cs typeface="Times New Roman" panose="02020603050405020304" pitchFamily="18" charset="0"/>
                      </a:endParaRPr>
                    </a:p>
                  </a:txBody>
                  <a:tcPr/>
                </a:tc>
                <a:tc>
                  <a:txBody>
                    <a:bodyPr/>
                    <a:lstStyle/>
                    <a:p>
                      <a:pPr rtl="0" eaLnBrk="1" latinLnBrk="0" hangingPunct="1"/>
                      <a:r>
                        <a:rPr lang="en-IN" sz="1800" kern="1200">
                          <a:solidFill>
                            <a:schemeClr val="dk1"/>
                          </a:solidFill>
                          <a:effectLst/>
                          <a:latin typeface="+mn-lt"/>
                          <a:ea typeface="+mn-ea"/>
                          <a:cs typeface="+mn-cs"/>
                        </a:rPr>
                        <a:t>Comprehensive survey introducing KAUGE framework for evaluating secure code generation using secure coding principles.</a:t>
                      </a:r>
                      <a:endParaRPr lang="en-IN" sz="1600">
                        <a:effectLst/>
                      </a:endParaRPr>
                    </a:p>
                  </a:txBody>
                  <a:tcPr/>
                </a:tc>
                <a:tc>
                  <a:txBody>
                    <a:bodyPr/>
                    <a:lstStyle/>
                    <a:p>
                      <a:r>
                        <a:rPr lang="en-IN" sz="1600">
                          <a:latin typeface="Times New Roman" panose="02020603050405020304" pitchFamily="18" charset="0"/>
                          <a:cs typeface="Times New Roman" panose="02020603050405020304" pitchFamily="18" charset="0"/>
                        </a:rPr>
                        <a:t>SQL Injection, Command Injection, Path Traversal, Weak Cryptography, Security Misconfiguration, Dependency Vulnerabilities</a:t>
                      </a:r>
                    </a:p>
                  </a:txBody>
                  <a:tcPr/>
                </a:tc>
                <a:tc>
                  <a:txBody>
                    <a:bodyPr/>
                    <a:lstStyle/>
                    <a:p>
                      <a:pPr rtl="0" eaLnBrk="1" latinLnBrk="0" hangingPunct="1"/>
                      <a:r>
                        <a:rPr lang="en-IN" sz="1800" kern="1200">
                          <a:solidFill>
                            <a:schemeClr val="dk1"/>
                          </a:solidFill>
                          <a:effectLst/>
                          <a:latin typeface="+mn-lt"/>
                          <a:ea typeface="+mn-ea"/>
                          <a:cs typeface="+mn-cs"/>
                        </a:rPr>
                        <a:t>Survey paper only. Does not implement an AI-powered secure coding environment, automated code evaluation, or practical learning modules.</a:t>
                      </a:r>
                      <a:endParaRPr lang="en-IN" sz="1600">
                        <a:effectLst/>
                      </a:endParaRPr>
                    </a:p>
                  </a:txBody>
                  <a:tcPr/>
                </a:tc>
                <a:extLst>
                  <a:ext uri="{0D108BD9-81ED-4DB2-BD59-A6C34878D82A}">
                    <a16:rowId xmlns:a16="http://schemas.microsoft.com/office/drawing/2014/main" val="3941584282"/>
                  </a:ext>
                </a:extLst>
              </a:tr>
            </a:tbl>
          </a:graphicData>
        </a:graphic>
      </p:graphicFrame>
    </p:spTree>
    <p:extLst>
      <p:ext uri="{BB962C8B-B14F-4D97-AF65-F5344CB8AC3E}">
        <p14:creationId xmlns:p14="http://schemas.microsoft.com/office/powerpoint/2010/main" val="3988993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DFE00-D8E0-9CE4-E7CF-8BE2F38CE125}"/>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5F63D742-6294-C970-1D48-E215A7F661A7}"/>
              </a:ext>
            </a:extLst>
          </p:cNvPr>
          <p:cNvGraphicFramePr>
            <a:graphicFrameLocks noGrp="1"/>
          </p:cNvGraphicFramePr>
          <p:nvPr>
            <p:extLst>
              <p:ext uri="{D42A27DB-BD31-4B8C-83A1-F6EECF244321}">
                <p14:modId xmlns:p14="http://schemas.microsoft.com/office/powerpoint/2010/main" val="1408467545"/>
              </p:ext>
            </p:extLst>
          </p:nvPr>
        </p:nvGraphicFramePr>
        <p:xfrm>
          <a:off x="162233" y="208917"/>
          <a:ext cx="11867534" cy="6164864"/>
        </p:xfrm>
        <a:graphic>
          <a:graphicData uri="http://schemas.openxmlformats.org/drawingml/2006/table">
            <a:tbl>
              <a:tblPr firstRow="1" bandRow="1">
                <a:tableStyleId>{5C22544A-7EE6-4342-B048-85BDC9FD1C3A}</a:tableStyleId>
              </a:tblPr>
              <a:tblGrid>
                <a:gridCol w="555073">
                  <a:extLst>
                    <a:ext uri="{9D8B030D-6E8A-4147-A177-3AD203B41FA5}">
                      <a16:colId xmlns:a16="http://schemas.microsoft.com/office/drawing/2014/main" val="1425768034"/>
                    </a:ext>
                  </a:extLst>
                </a:gridCol>
                <a:gridCol w="2863046">
                  <a:extLst>
                    <a:ext uri="{9D8B030D-6E8A-4147-A177-3AD203B41FA5}">
                      <a16:colId xmlns:a16="http://schemas.microsoft.com/office/drawing/2014/main" val="3814177953"/>
                    </a:ext>
                  </a:extLst>
                </a:gridCol>
                <a:gridCol w="3055444">
                  <a:extLst>
                    <a:ext uri="{9D8B030D-6E8A-4147-A177-3AD203B41FA5}">
                      <a16:colId xmlns:a16="http://schemas.microsoft.com/office/drawing/2014/main" val="1340773443"/>
                    </a:ext>
                  </a:extLst>
                </a:gridCol>
                <a:gridCol w="2504348">
                  <a:extLst>
                    <a:ext uri="{9D8B030D-6E8A-4147-A177-3AD203B41FA5}">
                      <a16:colId xmlns:a16="http://schemas.microsoft.com/office/drawing/2014/main" val="281377767"/>
                    </a:ext>
                  </a:extLst>
                </a:gridCol>
                <a:gridCol w="2889623">
                  <a:extLst>
                    <a:ext uri="{9D8B030D-6E8A-4147-A177-3AD203B41FA5}">
                      <a16:colId xmlns:a16="http://schemas.microsoft.com/office/drawing/2014/main" val="80272989"/>
                    </a:ext>
                  </a:extLst>
                </a:gridCol>
              </a:tblGrid>
              <a:tr h="690302">
                <a:tc>
                  <a:txBody>
                    <a:bodyPr/>
                    <a:lstStyle/>
                    <a:p>
                      <a:r>
                        <a:rPr lang="en-IN" sz="1600">
                          <a:latin typeface="Times New Roman" panose="02020603050405020304" pitchFamily="18" charset="0"/>
                          <a:cs typeface="Times New Roman" panose="02020603050405020304" pitchFamily="18" charset="0"/>
                        </a:rPr>
                        <a:t>Sr No.</a:t>
                      </a:r>
                    </a:p>
                  </a:txBody>
                  <a:tcPr/>
                </a:tc>
                <a:tc>
                  <a:txBody>
                    <a:bodyPr/>
                    <a:lstStyle/>
                    <a:p>
                      <a:r>
                        <a:rPr lang="en-IN" sz="1600">
                          <a:latin typeface="Times New Roman" panose="02020603050405020304" pitchFamily="18" charset="0"/>
                          <a:cs typeface="Times New Roman" panose="02020603050405020304" pitchFamily="18" charset="0"/>
                        </a:rPr>
                        <a:t>Paper (Authors)</a:t>
                      </a:r>
                    </a:p>
                  </a:txBody>
                  <a:tcPr/>
                </a:tc>
                <a:tc>
                  <a:txBody>
                    <a:bodyPr/>
                    <a:lstStyle/>
                    <a:p>
                      <a:r>
                        <a:rPr lang="en-IN" sz="1600">
                          <a:latin typeface="Times New Roman" panose="02020603050405020304" pitchFamily="18" charset="0"/>
                          <a:cs typeface="Times New Roman" panose="02020603050405020304" pitchFamily="18" charset="0"/>
                        </a:rPr>
                        <a:t>Key Findings</a:t>
                      </a:r>
                    </a:p>
                  </a:txBody>
                  <a:tcPr/>
                </a:tc>
                <a:tc>
                  <a:txBody>
                    <a:bodyPr/>
                    <a:lstStyle/>
                    <a:p>
                      <a:r>
                        <a:rPr lang="en-IN" sz="1600">
                          <a:latin typeface="Times New Roman" panose="02020603050405020304" pitchFamily="18" charset="0"/>
                          <a:cs typeface="Times New Roman" panose="02020603050405020304" pitchFamily="18" charset="0"/>
                        </a:rPr>
                        <a:t>Vulnerabilities Addressed</a:t>
                      </a:r>
                    </a:p>
                  </a:txBody>
                  <a:tcPr/>
                </a:tc>
                <a:tc>
                  <a:txBody>
                    <a:bodyPr/>
                    <a:lstStyle/>
                    <a:p>
                      <a:r>
                        <a:rPr lang="en-IN" sz="160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301276141"/>
                  </a:ext>
                </a:extLst>
              </a:tr>
              <a:tr h="1824854">
                <a:tc>
                  <a:txBody>
                    <a:bodyPr/>
                    <a:lstStyle/>
                    <a:p>
                      <a:r>
                        <a:rPr lang="en-IN" sz="1600">
                          <a:latin typeface="Times New Roman" panose="02020603050405020304" pitchFamily="18" charset="0"/>
                          <a:cs typeface="Times New Roman" panose="02020603050405020304" pitchFamily="18" charset="0"/>
                        </a:rPr>
                        <a:t>8</a:t>
                      </a:r>
                    </a:p>
                  </a:txBody>
                  <a:tcPr/>
                </a:tc>
                <a:tc>
                  <a:txBody>
                    <a:bodyPr/>
                    <a:lstStyle/>
                    <a:p>
                      <a:r>
                        <a:rPr lang="en-IN" sz="1600" b="1">
                          <a:latin typeface="Times New Roman" panose="02020603050405020304" pitchFamily="18" charset="0"/>
                          <a:cs typeface="Times New Roman" panose="02020603050405020304" pitchFamily="18" charset="0"/>
                        </a:rPr>
                        <a:t>Using Real-World Bug Bounty Programs in Secure Coding Course</a:t>
                      </a:r>
                      <a:r>
                        <a:rPr lang="en-IN" sz="1600">
                          <a:latin typeface="Times New Roman" panose="02020603050405020304" pitchFamily="18" charset="0"/>
                          <a:cs typeface="Times New Roman" panose="02020603050405020304" pitchFamily="18" charset="0"/>
                        </a:rPr>
                        <a:t> (Kamil Malinka et al., 2024)</a:t>
                      </a:r>
                    </a:p>
                  </a:txBody>
                  <a:tcPr/>
                </a:tc>
                <a:tc>
                  <a:txBody>
                    <a:bodyPr/>
                    <a:lstStyle/>
                    <a:p>
                      <a:r>
                        <a:rPr lang="en-IN" sz="1600">
                          <a:latin typeface="Times New Roman" panose="02020603050405020304" pitchFamily="18" charset="0"/>
                          <a:cs typeface="Times New Roman" panose="02020603050405020304" pitchFamily="18" charset="0"/>
                        </a:rPr>
                        <a:t>Demonstrates that integrating bug bounty programs into education improves practical vulnerability discovery skills.</a:t>
                      </a:r>
                    </a:p>
                  </a:txBody>
                  <a:tcPr/>
                </a:tc>
                <a:tc>
                  <a:txBody>
                    <a:bodyPr/>
                    <a:lstStyle/>
                    <a:p>
                      <a:r>
                        <a:rPr lang="en-IN" sz="1600">
                          <a:latin typeface="Times New Roman" panose="02020603050405020304" pitchFamily="18" charset="0"/>
                          <a:cs typeface="Times New Roman" panose="02020603050405020304" pitchFamily="18" charset="0"/>
                        </a:rPr>
                        <a:t>Real-world Web Vulnerabilities (SQLi, XSS, Access Control, Misconfigurations depending on targets)</a:t>
                      </a:r>
                    </a:p>
                  </a:txBody>
                  <a:tcPr/>
                </a:tc>
                <a:tc>
                  <a:txBody>
                    <a:bodyPr/>
                    <a:lstStyle/>
                    <a:p>
                      <a:r>
                        <a:rPr lang="en-IN" sz="1600">
                          <a:latin typeface="Times New Roman" panose="02020603050405020304" pitchFamily="18" charset="0"/>
                          <a:cs typeface="Times New Roman" panose="02020603050405020304" pitchFamily="18" charset="0"/>
                        </a:rPr>
                        <a:t>Depends on external bug bounty programs. Does not offer a structured AI-based learning environment with predefined secure coding exercises and automated assessment.</a:t>
                      </a:r>
                    </a:p>
                  </a:txBody>
                  <a:tcPr/>
                </a:tc>
                <a:extLst>
                  <a:ext uri="{0D108BD9-81ED-4DB2-BD59-A6C34878D82A}">
                    <a16:rowId xmlns:a16="http://schemas.microsoft.com/office/drawing/2014/main" val="1214652384"/>
                  </a:ext>
                </a:extLst>
              </a:tr>
              <a:tr h="1824854">
                <a:tc>
                  <a:txBody>
                    <a:bodyPr/>
                    <a:lstStyle/>
                    <a:p>
                      <a:r>
                        <a:rPr lang="en-IN" sz="1600">
                          <a:latin typeface="Times New Roman" panose="02020603050405020304" pitchFamily="18" charset="0"/>
                          <a:cs typeface="Times New Roman" panose="02020603050405020304" pitchFamily="18" charset="0"/>
                        </a:rPr>
                        <a:t>9</a:t>
                      </a:r>
                    </a:p>
                  </a:txBody>
                  <a:tcPr/>
                </a:tc>
                <a:tc>
                  <a:txBody>
                    <a:bodyPr/>
                    <a:lstStyle/>
                    <a:p>
                      <a:r>
                        <a:rPr lang="en-IN" sz="1600" b="1">
                          <a:latin typeface="Times New Roman" panose="02020603050405020304" pitchFamily="18" charset="0"/>
                          <a:cs typeface="Times New Roman" panose="02020603050405020304" pitchFamily="18" charset="0"/>
                        </a:rPr>
                        <a:t>A Systematic Mapping Study on Teaching Security Concepts in Programming Courses</a:t>
                      </a:r>
                      <a:r>
                        <a:rPr lang="en-IN" sz="1600">
                          <a:latin typeface="Times New Roman" panose="02020603050405020304" pitchFamily="18" charset="0"/>
                          <a:cs typeface="Times New Roman" panose="02020603050405020304" pitchFamily="18" charset="0"/>
                        </a:rPr>
                        <a:t> (Alina Torbunova, Adnan Ashraf, Ivan Porres, 2024)</a:t>
                      </a:r>
                    </a:p>
                  </a:txBody>
                  <a:tcPr/>
                </a:tc>
                <a:tc>
                  <a:txBody>
                    <a:bodyPr/>
                    <a:lstStyle/>
                    <a:p>
                      <a:r>
                        <a:rPr lang="en-IN" sz="1600">
                          <a:latin typeface="Times New Roman" panose="02020603050405020304" pitchFamily="18" charset="0"/>
                          <a:cs typeface="Times New Roman" panose="02020603050405020304" pitchFamily="18" charset="0"/>
                        </a:rPr>
                        <a:t>Reviews approaches for teaching secure programming and identifies gaps in university-level cybersecurity education.</a:t>
                      </a:r>
                    </a:p>
                  </a:txBody>
                  <a:tcPr/>
                </a:tc>
                <a:tc>
                  <a:txBody>
                    <a:bodyPr/>
                    <a:lstStyle/>
                    <a:p>
                      <a:r>
                        <a:rPr lang="en-IN" sz="1600">
                          <a:latin typeface="Times New Roman" panose="02020603050405020304" pitchFamily="18" charset="0"/>
                          <a:cs typeface="Times New Roman" panose="02020603050405020304" pitchFamily="18" charset="0"/>
                        </a:rPr>
                        <a:t>General Secure Coding Concepts, Common Vulnerabilities, Secure Programming Practices</a:t>
                      </a:r>
                    </a:p>
                  </a:txBody>
                  <a:tcPr/>
                </a:tc>
                <a:tc>
                  <a:txBody>
                    <a:bodyPr/>
                    <a:lstStyle/>
                    <a:p>
                      <a:r>
                        <a:rPr lang="en-IN" sz="1600">
                          <a:latin typeface="Times New Roman" panose="02020603050405020304" pitchFamily="18" charset="0"/>
                          <a:cs typeface="Times New Roman" panose="02020603050405020304" pitchFamily="18" charset="0"/>
                        </a:rPr>
                        <a:t>Reviews existing teaching methods but does not propose an intelligent adaptive learning platform with AI-assisted vulnerability analysis and coding practice.</a:t>
                      </a:r>
                    </a:p>
                  </a:txBody>
                  <a:tcPr/>
                </a:tc>
                <a:extLst>
                  <a:ext uri="{0D108BD9-81ED-4DB2-BD59-A6C34878D82A}">
                    <a16:rowId xmlns:a16="http://schemas.microsoft.com/office/drawing/2014/main" val="3675125292"/>
                  </a:ext>
                </a:extLst>
              </a:tr>
              <a:tr h="1824854">
                <a:tc>
                  <a:txBody>
                    <a:bodyPr/>
                    <a:lstStyle/>
                    <a:p>
                      <a:r>
                        <a:rPr lang="en-IN" sz="1600">
                          <a:latin typeface="Times New Roman" panose="02020603050405020304" pitchFamily="18" charset="0"/>
                          <a:cs typeface="Times New Roman" panose="02020603050405020304" pitchFamily="18" charset="0"/>
                        </a:rPr>
                        <a:t>10</a:t>
                      </a:r>
                    </a:p>
                  </a:txBody>
                  <a:tcPr/>
                </a:tc>
                <a:tc>
                  <a:txBody>
                    <a:bodyPr/>
                    <a:lstStyle/>
                    <a:p>
                      <a:r>
                        <a:rPr lang="en-IN" sz="1600" b="1">
                          <a:latin typeface="Times New Roman" panose="02020603050405020304" pitchFamily="18" charset="0"/>
                          <a:cs typeface="Times New Roman" panose="02020603050405020304" pitchFamily="18" charset="0"/>
                        </a:rPr>
                        <a:t>Secure Coding Education Through Gamification and CTF Challenges</a:t>
                      </a:r>
                      <a:r>
                        <a:rPr lang="en-IN" sz="1600">
                          <a:latin typeface="Times New Roman" panose="02020603050405020304" pitchFamily="18" charset="0"/>
                          <a:cs typeface="Times New Roman" panose="02020603050405020304" pitchFamily="18" charset="0"/>
                        </a:rPr>
                        <a:t> (Tiago Gasiba et al., 2021)</a:t>
                      </a:r>
                    </a:p>
                  </a:txBody>
                  <a:tcPr/>
                </a:tc>
                <a:tc>
                  <a:txBody>
                    <a:bodyPr/>
                    <a:lstStyle/>
                    <a:p>
                      <a:r>
                        <a:rPr lang="en-IN" sz="1600">
                          <a:latin typeface="Times New Roman" panose="02020603050405020304" pitchFamily="18" charset="0"/>
                          <a:cs typeface="Times New Roman" panose="02020603050405020304" pitchFamily="18" charset="0"/>
                        </a:rPr>
                        <a:t>Shows gamified secure coding exercises improve developer engagement and secure programming awareness.</a:t>
                      </a:r>
                    </a:p>
                  </a:txBody>
                  <a:tcPr/>
                </a:tc>
                <a:tc>
                  <a:txBody>
                    <a:bodyPr/>
                    <a:lstStyle/>
                    <a:p>
                      <a:r>
                        <a:rPr lang="en-IN" sz="1600">
                          <a:latin typeface="Times New Roman" panose="02020603050405020304" pitchFamily="18" charset="0"/>
                          <a:cs typeface="Times New Roman" panose="02020603050405020304" pitchFamily="18" charset="0"/>
                        </a:rPr>
                        <a:t>SQL Injection, XSS, Buffer Overflow, Secure Authentication</a:t>
                      </a:r>
                    </a:p>
                  </a:txBody>
                  <a:tcPr/>
                </a:tc>
                <a:tc>
                  <a:txBody>
                    <a:bodyPr/>
                    <a:lstStyle/>
                    <a:p>
                      <a:r>
                        <a:rPr lang="en-IN" sz="1600">
                          <a:latin typeface="Times New Roman" panose="02020603050405020304" pitchFamily="18" charset="0"/>
                          <a:cs typeface="Times New Roman" panose="02020603050405020304" pitchFamily="18" charset="0"/>
                        </a:rPr>
                        <a:t>Uses gamification but lacks AI-powered code analysis, automated vulnerability detection, personalized feedback, and secure coding performance analytics.</a:t>
                      </a:r>
                    </a:p>
                  </a:txBody>
                  <a:tcPr/>
                </a:tc>
                <a:extLst>
                  <a:ext uri="{0D108BD9-81ED-4DB2-BD59-A6C34878D82A}">
                    <a16:rowId xmlns:a16="http://schemas.microsoft.com/office/drawing/2014/main" val="4275212338"/>
                  </a:ext>
                </a:extLst>
              </a:tr>
            </a:tbl>
          </a:graphicData>
        </a:graphic>
      </p:graphicFrame>
    </p:spTree>
    <p:extLst>
      <p:ext uri="{BB962C8B-B14F-4D97-AF65-F5344CB8AC3E}">
        <p14:creationId xmlns:p14="http://schemas.microsoft.com/office/powerpoint/2010/main" val="2333597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94337-F293-2009-96D9-E7F642A65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960635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6EAC67-E7E9-0A5E-26E5-97AD1F3F5E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07696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02164-E76B-D3A7-2E83-F62210342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A181A-FD70-966A-8EDE-784D9106BFEA}"/>
              </a:ext>
            </a:extLst>
          </p:cNvPr>
          <p:cNvSpPr>
            <a:spLocks noGrp="1"/>
          </p:cNvSpPr>
          <p:nvPr>
            <p:ph type="title"/>
          </p:nvPr>
        </p:nvSpPr>
        <p:spPr>
          <a:xfrm>
            <a:off x="4524067" y="143898"/>
            <a:ext cx="3143865" cy="736088"/>
          </a:xfrm>
        </p:spPr>
        <p:txBody>
          <a:bodyPr>
            <a:normAutofit/>
          </a:bodyPr>
          <a:lstStyle/>
          <a:p>
            <a:r>
              <a:rPr lang="en-IN" sz="4000">
                <a:latin typeface="Times New Roman" panose="02020603050405020304" pitchFamily="18" charset="0"/>
                <a:cs typeface="Times New Roman" panose="02020603050405020304" pitchFamily="18" charset="0"/>
              </a:rPr>
              <a:t>Research Gap</a:t>
            </a:r>
          </a:p>
        </p:txBody>
      </p:sp>
      <p:sp>
        <p:nvSpPr>
          <p:cNvPr id="3" name="Content Placeholder 2">
            <a:extLst>
              <a:ext uri="{FF2B5EF4-FFF2-40B4-BE49-F238E27FC236}">
                <a16:creationId xmlns:a16="http://schemas.microsoft.com/office/drawing/2014/main" id="{DA3758E9-497C-AD86-F412-F71EEE1C179D}"/>
              </a:ext>
            </a:extLst>
          </p:cNvPr>
          <p:cNvSpPr>
            <a:spLocks noGrp="1"/>
          </p:cNvSpPr>
          <p:nvPr>
            <p:ph idx="1"/>
          </p:nvPr>
        </p:nvSpPr>
        <p:spPr>
          <a:xfrm>
            <a:off x="838199" y="976979"/>
            <a:ext cx="10515600" cy="5648633"/>
          </a:xfrm>
        </p:spPr>
        <p:txBody>
          <a:bodyPr>
            <a:noAutofit/>
          </a:bodyPr>
          <a:lstStyle/>
          <a:p>
            <a:pPr lvl="0"/>
            <a:r>
              <a:rPr lang="en-IN" sz="1800">
                <a:latin typeface="Times New Roman" panose="02020603050405020304" pitchFamily="18" charset="0"/>
                <a:cs typeface="Times New Roman" panose="02020603050405020304" pitchFamily="18" charset="0"/>
              </a:rPr>
              <a:t>Most studies focus on AI-based vulnerability detection and repair, but do not provide an interactive platform for practicing secure coding.</a:t>
            </a:r>
          </a:p>
          <a:p>
            <a:pPr lvl="0"/>
            <a:r>
              <a:rPr lang="en-IN" sz="1800">
                <a:latin typeface="Times New Roman" panose="02020603050405020304" pitchFamily="18" charset="0"/>
                <a:cs typeface="Times New Roman" panose="02020603050405020304" pitchFamily="18" charset="0"/>
              </a:rPr>
              <a:t>Existing research emphasizes secure code generation using LLMs rather than developing developers' secure coding skills through hands-on programming exercises.</a:t>
            </a:r>
          </a:p>
          <a:p>
            <a:pPr lvl="0"/>
            <a:r>
              <a:rPr lang="en-IN" sz="1800">
                <a:latin typeface="Times New Roman" panose="02020603050405020304" pitchFamily="18" charset="0"/>
                <a:cs typeface="Times New Roman" panose="02020603050405020304" pitchFamily="18" charset="0"/>
              </a:rPr>
              <a:t>Survey papers discuss secure coding techniques and frameworks but lack practical implementation of an intelligent secure coding learning environment.</a:t>
            </a:r>
          </a:p>
          <a:p>
            <a:pPr lvl="0"/>
            <a:r>
              <a:rPr lang="en-IN" sz="1800">
                <a:latin typeface="Times New Roman" panose="02020603050405020304" pitchFamily="18" charset="0"/>
                <a:cs typeface="Times New Roman" panose="02020603050405020304" pitchFamily="18" charset="0"/>
              </a:rPr>
              <a:t>Current approaches provide theoretical discussions or developer assistance but do not integrate automated functional evaluation and security evaluation within a single platform.</a:t>
            </a:r>
          </a:p>
          <a:p>
            <a:pPr lvl="0"/>
            <a:r>
              <a:rPr lang="en-IN" sz="1800">
                <a:latin typeface="Times New Roman" panose="02020603050405020304" pitchFamily="18" charset="0"/>
                <a:cs typeface="Times New Roman" panose="02020603050405020304" pitchFamily="18" charset="0"/>
              </a:rPr>
              <a:t>Existing secure coding education methods and CTF-based challenges do not offer AI-assisted explanations, adaptive learning, personalized feedback, or learner progress tracking.</a:t>
            </a:r>
          </a:p>
          <a:p>
            <a:pPr lvl="0"/>
            <a:r>
              <a:rPr lang="en-IN" sz="1800">
                <a:latin typeface="Times New Roman" panose="02020603050405020304" pitchFamily="18" charset="0"/>
                <a:cs typeface="Times New Roman" panose="02020603050405020304" pitchFamily="18" charset="0"/>
              </a:rPr>
              <a:t>Bug bounty and cybersecurity training platforms depend on external environments and do not provide structured, curriculum-based secure coding exercises.</a:t>
            </a:r>
          </a:p>
          <a:p>
            <a:pPr lvl="0"/>
            <a:r>
              <a:rPr lang="en-IN" sz="1800">
                <a:latin typeface="Times New Roman" panose="02020603050405020304" pitchFamily="18" charset="0"/>
                <a:cs typeface="Times New Roman" panose="02020603050405020304" pitchFamily="18" charset="0"/>
              </a:rPr>
              <a:t>Most secure coding education research lacks a competitive programming environment where users can practice, evaluate, and improve secure coding skills through vulnerability-based coding challenges.</a:t>
            </a:r>
          </a:p>
          <a:p>
            <a:pPr lvl="0"/>
            <a:r>
              <a:rPr lang="en-IN" sz="1800">
                <a:latin typeface="Times New Roman" panose="02020603050405020304" pitchFamily="18" charset="0"/>
                <a:cs typeface="Times New Roman" panose="02020603050405020304" pitchFamily="18" charset="0"/>
              </a:rPr>
              <a:t>Therefore, there is a need for a unified platform that combines secure coding practice, automated code evaluation, AI-assisted educational feedback, learning analytics, and challenge-based learning to improve secure software development skills.</a:t>
            </a:r>
          </a:p>
        </p:txBody>
      </p:sp>
    </p:spTree>
    <p:extLst>
      <p:ext uri="{BB962C8B-B14F-4D97-AF65-F5344CB8AC3E}">
        <p14:creationId xmlns:p14="http://schemas.microsoft.com/office/powerpoint/2010/main" val="2455687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A4046-68D6-D68A-E108-F96BC7F71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AC316-B2F8-2548-3920-2EA20216ABB0}"/>
              </a:ext>
            </a:extLst>
          </p:cNvPr>
          <p:cNvSpPr>
            <a:spLocks noGrp="1"/>
          </p:cNvSpPr>
          <p:nvPr>
            <p:ph type="title"/>
          </p:nvPr>
        </p:nvSpPr>
        <p:spPr>
          <a:xfrm>
            <a:off x="4061951" y="384789"/>
            <a:ext cx="4068097" cy="775417"/>
          </a:xfrm>
        </p:spPr>
        <p:txBody>
          <a:bodyPr>
            <a:normAutofit/>
          </a:bodyPr>
          <a:lstStyle/>
          <a:p>
            <a:r>
              <a:rPr lang="en-IN" sz="400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33325219-D5DB-F99D-A1EA-47823F985F99}"/>
              </a:ext>
            </a:extLst>
          </p:cNvPr>
          <p:cNvSpPr>
            <a:spLocks noGrp="1"/>
          </p:cNvSpPr>
          <p:nvPr>
            <p:ph idx="1"/>
          </p:nvPr>
        </p:nvSpPr>
        <p:spPr>
          <a:xfrm>
            <a:off x="838200" y="1579819"/>
            <a:ext cx="10515600" cy="2943020"/>
          </a:xfrm>
        </p:spPr>
        <p:txBody>
          <a:bodyPr>
            <a:normAutofit/>
          </a:bodyPr>
          <a:lstStyle/>
          <a:p>
            <a:pPr marL="0" indent="0" algn="just">
              <a:lnSpc>
                <a:spcPct val="100000"/>
              </a:lnSpc>
              <a:buNone/>
            </a:pPr>
            <a:r>
              <a:rPr lang="en-IN" sz="2000">
                <a:latin typeface="Times New Roman" panose="02020603050405020304" pitchFamily="18" charset="0"/>
                <a:cs typeface="Times New Roman" panose="02020603050405020304" pitchFamily="18" charset="0"/>
              </a:rPr>
              <a:t>Modern software applications are increasingly vulnerable to security flaws due to the lack of practical secure coding skills among developers. Existing educational platforms primarily focus on algorithmic programming, cybersecurity awareness, penetration testing, or vulnerability detection, but they provide limited opportunities to practice </a:t>
            </a:r>
            <a:r>
              <a:rPr lang="en-IN" sz="2000" b="1">
                <a:latin typeface="Times New Roman" panose="02020603050405020304" pitchFamily="18" charset="0"/>
                <a:cs typeface="Times New Roman" panose="02020603050405020304" pitchFamily="18" charset="0"/>
              </a:rPr>
              <a:t>secure software development</a:t>
            </a:r>
            <a:r>
              <a:rPr lang="en-IN" sz="2000">
                <a:latin typeface="Times New Roman" panose="02020603050405020304" pitchFamily="18" charset="0"/>
                <a:cs typeface="Times New Roman" panose="02020603050405020304" pitchFamily="18" charset="0"/>
              </a:rPr>
              <a:t> through real coding exercises. As a result, many developers are able to write functionally correct programs but struggle to implement secure coding practices that prevent vulnerabilities during development. There is a need for an interactive learning platform that enables developers to practice secure coding through vulnerability-based programming challenges, evaluate both functional and security correctness, and receive educational feedback to improve their secure software development skills.</a:t>
            </a:r>
          </a:p>
        </p:txBody>
      </p:sp>
    </p:spTree>
    <p:extLst>
      <p:ext uri="{BB962C8B-B14F-4D97-AF65-F5344CB8AC3E}">
        <p14:creationId xmlns:p14="http://schemas.microsoft.com/office/powerpoint/2010/main" val="516225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EEECA-9283-2ADD-35F5-F062FDC7E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EE029-05FD-1682-4E2C-B180527453E1}"/>
              </a:ext>
            </a:extLst>
          </p:cNvPr>
          <p:cNvSpPr>
            <a:spLocks noGrp="1"/>
          </p:cNvSpPr>
          <p:nvPr>
            <p:ph type="title"/>
          </p:nvPr>
        </p:nvSpPr>
        <p:spPr>
          <a:xfrm>
            <a:off x="5000317" y="308077"/>
            <a:ext cx="2191365" cy="745920"/>
          </a:xfrm>
        </p:spPr>
        <p:txBody>
          <a:bodyPr>
            <a:normAutofit fontScale="90000"/>
          </a:bodyPr>
          <a:lstStyle/>
          <a:p>
            <a:r>
              <a:rPr lang="en-IN" sz="400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31FBCEF3-F3AC-957E-97C2-82666D559C8C}"/>
              </a:ext>
            </a:extLst>
          </p:cNvPr>
          <p:cNvSpPr>
            <a:spLocks noGrp="1"/>
          </p:cNvSpPr>
          <p:nvPr>
            <p:ph idx="1"/>
          </p:nvPr>
        </p:nvSpPr>
        <p:spPr>
          <a:xfrm>
            <a:off x="838199" y="1253331"/>
            <a:ext cx="10515600" cy="4351338"/>
          </a:xfrm>
        </p:spPr>
        <p:txBody>
          <a:bodyPr>
            <a:normAutofit/>
          </a:bodyPr>
          <a:lstStyle/>
          <a:p>
            <a:pPr algn="just"/>
            <a:r>
              <a:rPr lang="en-IN" sz="2000">
                <a:latin typeface="Times New Roman" panose="02020603050405020304" pitchFamily="18" charset="0"/>
                <a:cs typeface="Times New Roman" panose="02020603050405020304" pitchFamily="18" charset="0"/>
              </a:rPr>
              <a:t>To develop an interactive platform for learning and practicing secure software development.</a:t>
            </a:r>
          </a:p>
          <a:p>
            <a:pPr algn="just"/>
            <a:r>
              <a:rPr lang="en-IN" sz="2000">
                <a:latin typeface="Times New Roman" panose="02020603050405020304" pitchFamily="18" charset="0"/>
                <a:cs typeface="Times New Roman" panose="02020603050405020304" pitchFamily="18" charset="0"/>
              </a:rPr>
              <a:t>To improve developers' secure coding skills through vulnerability-based programming challenges.</a:t>
            </a:r>
          </a:p>
          <a:p>
            <a:pPr lvl="0"/>
            <a:r>
              <a:rPr lang="en-IN" sz="2000">
                <a:latin typeface="Times New Roman" panose="02020603050405020304" pitchFamily="18" charset="0"/>
                <a:cs typeface="Times New Roman" panose="02020603050405020304" pitchFamily="18" charset="0"/>
              </a:rPr>
              <a:t>To evaluate submitted code for both functional correctness and security correctness while providing AI-assisted educational feedback to help users understand, identify, and fix security vulnerabilities. </a:t>
            </a:r>
          </a:p>
          <a:p>
            <a:pPr lvl="0"/>
            <a:r>
              <a:rPr lang="en-IN" sz="2000">
                <a:latin typeface="Times New Roman" panose="02020603050405020304" pitchFamily="18" charset="0"/>
                <a:cs typeface="Times New Roman" panose="02020603050405020304" pitchFamily="18" charset="0"/>
              </a:rPr>
              <a:t>To promote hands-on secure coding practice through challenge-based learning while tracking user progress, strengths, and areas for improvement in secure software development.</a:t>
            </a:r>
          </a:p>
          <a:p>
            <a:pPr algn="just"/>
            <a:r>
              <a:rPr lang="en-IN" sz="2000">
                <a:latin typeface="Times New Roman" panose="02020603050405020304" pitchFamily="18" charset="0"/>
                <a:cs typeface="Times New Roman" panose="02020603050405020304" pitchFamily="18" charset="0"/>
              </a:rPr>
              <a:t>To build a scalable platform that can support multiple vulnerability categories and programming languages in future versions.</a:t>
            </a:r>
          </a:p>
        </p:txBody>
      </p:sp>
    </p:spTree>
    <p:extLst>
      <p:ext uri="{BB962C8B-B14F-4D97-AF65-F5344CB8AC3E}">
        <p14:creationId xmlns:p14="http://schemas.microsoft.com/office/powerpoint/2010/main" val="1998835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6AF81-9C9B-FF62-3E1E-11FF75535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7C868-1FC7-1622-5BEA-15D7BF35A974}"/>
              </a:ext>
            </a:extLst>
          </p:cNvPr>
          <p:cNvSpPr>
            <a:spLocks noGrp="1"/>
          </p:cNvSpPr>
          <p:nvPr>
            <p:ph type="title"/>
          </p:nvPr>
        </p:nvSpPr>
        <p:spPr>
          <a:xfrm>
            <a:off x="5330313" y="378541"/>
            <a:ext cx="1531374" cy="663679"/>
          </a:xfrm>
        </p:spPr>
        <p:txBody>
          <a:bodyPr>
            <a:normAutofit fontScale="90000"/>
          </a:bodyPr>
          <a:lstStyle/>
          <a:p>
            <a:r>
              <a:rPr lang="en-IN">
                <a:latin typeface="Times New Roman" panose="02020603050405020304" pitchFamily="18" charset="0"/>
                <a:cs typeface="Times New Roman" panose="02020603050405020304" pitchFamily="18" charset="0"/>
              </a:rPr>
              <a:t>Scope</a:t>
            </a:r>
          </a:p>
        </p:txBody>
      </p:sp>
      <p:sp>
        <p:nvSpPr>
          <p:cNvPr id="3" name="Content Placeholder 2">
            <a:extLst>
              <a:ext uri="{FF2B5EF4-FFF2-40B4-BE49-F238E27FC236}">
                <a16:creationId xmlns:a16="http://schemas.microsoft.com/office/drawing/2014/main" id="{F1B77F1E-520E-161C-17E4-3044C0F03C3E}"/>
              </a:ext>
            </a:extLst>
          </p:cNvPr>
          <p:cNvSpPr>
            <a:spLocks noGrp="1"/>
          </p:cNvSpPr>
          <p:nvPr>
            <p:ph idx="1"/>
          </p:nvPr>
        </p:nvSpPr>
        <p:spPr>
          <a:xfrm>
            <a:off x="838200" y="1157031"/>
            <a:ext cx="10515600" cy="4899640"/>
          </a:xfrm>
        </p:spPr>
        <p:txBody>
          <a:bodyPr>
            <a:noAutofit/>
          </a:bodyPr>
          <a:lstStyle/>
          <a:p>
            <a:pPr marL="0" indent="0">
              <a:buNone/>
            </a:pPr>
            <a:r>
              <a:rPr lang="en-IN" sz="1800" b="1">
                <a:latin typeface="Times New Roman" panose="02020603050405020304" pitchFamily="18" charset="0"/>
                <a:cs typeface="Times New Roman" panose="02020603050405020304" pitchFamily="18" charset="0"/>
              </a:rPr>
              <a:t>1. Secure Coding Learning Platform</a:t>
            </a:r>
          </a:p>
          <a:p>
            <a:pPr lvl="0"/>
            <a:r>
              <a:rPr lang="en-IN" sz="1800">
                <a:latin typeface="Times New Roman" panose="02020603050405020304" pitchFamily="18" charset="0"/>
                <a:cs typeface="Times New Roman" panose="02020603050405020304" pitchFamily="18" charset="0"/>
              </a:rPr>
              <a:t>Develop an interactive platform for learning and practicing secure software development. </a:t>
            </a:r>
          </a:p>
          <a:p>
            <a:pPr lvl="0"/>
            <a:r>
              <a:rPr lang="en-IN" sz="1800">
                <a:latin typeface="Times New Roman" panose="02020603050405020304" pitchFamily="18" charset="0"/>
                <a:cs typeface="Times New Roman" panose="02020603050405020304" pitchFamily="18" charset="0"/>
              </a:rPr>
              <a:t>Provide hands-on and challenge-based learning for secure coding concepts. </a:t>
            </a:r>
          </a:p>
          <a:p>
            <a:pPr marL="0" indent="0">
              <a:buNone/>
            </a:pPr>
            <a:r>
              <a:rPr lang="en-IN" sz="1800" b="1">
                <a:latin typeface="Times New Roman" panose="02020603050405020304" pitchFamily="18" charset="0"/>
                <a:cs typeface="Times New Roman" panose="02020603050405020304" pitchFamily="18" charset="0"/>
              </a:rPr>
              <a:t>2. Vulnerability Coverage</a:t>
            </a:r>
          </a:p>
          <a:p>
            <a:pPr lvl="0"/>
            <a:r>
              <a:rPr lang="en-IN" sz="1800">
                <a:latin typeface="Times New Roman" panose="02020603050405020304" pitchFamily="18" charset="0"/>
                <a:cs typeface="Times New Roman" panose="02020603050405020304" pitchFamily="18" charset="0"/>
              </a:rPr>
              <a:t>Initially focus on the </a:t>
            </a:r>
            <a:r>
              <a:rPr lang="en-IN" sz="1800" b="1">
                <a:latin typeface="Times New Roman" panose="02020603050405020304" pitchFamily="18" charset="0"/>
                <a:cs typeface="Times New Roman" panose="02020603050405020304" pitchFamily="18" charset="0"/>
              </a:rPr>
              <a:t>Injection Attack</a:t>
            </a:r>
            <a:r>
              <a:rPr lang="en-IN" sz="1800">
                <a:latin typeface="Times New Roman" panose="02020603050405020304" pitchFamily="18" charset="0"/>
                <a:cs typeface="Times New Roman" panose="02020603050405020304" pitchFamily="18" charset="0"/>
              </a:rPr>
              <a:t> category and its major subtypes as a proof of concept. </a:t>
            </a:r>
          </a:p>
          <a:p>
            <a:pPr lvl="0"/>
            <a:r>
              <a:rPr lang="en-IN" sz="1800">
                <a:latin typeface="Times New Roman" panose="02020603050405020304" pitchFamily="18" charset="0"/>
                <a:cs typeface="Times New Roman" panose="02020603050405020304" pitchFamily="18" charset="0"/>
              </a:rPr>
              <a:t>Design the platform to support additional </a:t>
            </a:r>
            <a:r>
              <a:rPr lang="en-IN" sz="1800" b="1">
                <a:latin typeface="Times New Roman" panose="02020603050405020304" pitchFamily="18" charset="0"/>
                <a:cs typeface="Times New Roman" panose="02020603050405020304" pitchFamily="18" charset="0"/>
              </a:rPr>
              <a:t>OWASP vulnerability categories</a:t>
            </a:r>
            <a:r>
              <a:rPr lang="en-IN" sz="1800">
                <a:latin typeface="Times New Roman" panose="02020603050405020304" pitchFamily="18" charset="0"/>
                <a:cs typeface="Times New Roman" panose="02020603050405020304" pitchFamily="18" charset="0"/>
              </a:rPr>
              <a:t> in future versions. </a:t>
            </a:r>
          </a:p>
          <a:p>
            <a:pPr marL="0" indent="0">
              <a:buNone/>
            </a:pPr>
            <a:r>
              <a:rPr lang="en-IN" sz="1800" b="1">
                <a:latin typeface="Times New Roman" panose="02020603050405020304" pitchFamily="18" charset="0"/>
                <a:cs typeface="Times New Roman" panose="02020603050405020304" pitchFamily="18" charset="0"/>
              </a:rPr>
              <a:t>3. Programming Challenges</a:t>
            </a:r>
          </a:p>
          <a:p>
            <a:pPr lvl="0"/>
            <a:r>
              <a:rPr lang="en-IN" sz="1800">
                <a:latin typeface="Times New Roman" panose="02020603050405020304" pitchFamily="18" charset="0"/>
                <a:cs typeface="Times New Roman" panose="02020603050405020304" pitchFamily="18" charset="0"/>
              </a:rPr>
              <a:t>Provide vulnerability-based programming challenges. </a:t>
            </a:r>
          </a:p>
          <a:p>
            <a:pPr lvl="0"/>
            <a:r>
              <a:rPr lang="en-IN" sz="1800">
                <a:latin typeface="Times New Roman" panose="02020603050405020304" pitchFamily="18" charset="0"/>
                <a:cs typeface="Times New Roman" panose="02020603050405020304" pitchFamily="18" charset="0"/>
              </a:rPr>
              <a:t>Enable users to identify, prevent, and fix security vulnerabilities through practical coding exercises. </a:t>
            </a:r>
          </a:p>
          <a:p>
            <a:pPr marL="0" indent="0">
              <a:buNone/>
            </a:pPr>
            <a:r>
              <a:rPr lang="en-IN" sz="1800" b="1">
                <a:latin typeface="Times New Roman" panose="02020603050405020304" pitchFamily="18" charset="0"/>
                <a:cs typeface="Times New Roman" panose="02020603050405020304" pitchFamily="18" charset="0"/>
              </a:rPr>
              <a:t>4. Automated Code Evaluation</a:t>
            </a:r>
          </a:p>
          <a:p>
            <a:pPr lvl="0"/>
            <a:r>
              <a:rPr lang="en-IN" sz="1800">
                <a:latin typeface="Times New Roman" panose="02020603050405020304" pitchFamily="18" charset="0"/>
                <a:cs typeface="Times New Roman" panose="02020603050405020304" pitchFamily="18" charset="0"/>
              </a:rPr>
              <a:t>Evaluate submitted solutions for </a:t>
            </a:r>
            <a:r>
              <a:rPr lang="en-IN" sz="1800" b="1">
                <a:latin typeface="Times New Roman" panose="02020603050405020304" pitchFamily="18" charset="0"/>
                <a:cs typeface="Times New Roman" panose="02020603050405020304" pitchFamily="18" charset="0"/>
              </a:rPr>
              <a:t>functional correctness</a:t>
            </a:r>
            <a:r>
              <a:rPr lang="en-IN" sz="1800">
                <a:latin typeface="Times New Roman" panose="02020603050405020304" pitchFamily="18" charset="0"/>
                <a:cs typeface="Times New Roman" panose="02020603050405020304" pitchFamily="18" charset="0"/>
              </a:rPr>
              <a:t>. </a:t>
            </a:r>
          </a:p>
          <a:p>
            <a:pPr lvl="0"/>
            <a:r>
              <a:rPr lang="en-IN" sz="1800">
                <a:latin typeface="Times New Roman" panose="02020603050405020304" pitchFamily="18" charset="0"/>
                <a:cs typeface="Times New Roman" panose="02020603050405020304" pitchFamily="18" charset="0"/>
              </a:rPr>
              <a:t>Evaluate submitted solutions for </a:t>
            </a:r>
            <a:r>
              <a:rPr lang="en-IN" sz="1800" b="1">
                <a:latin typeface="Times New Roman" panose="02020603050405020304" pitchFamily="18" charset="0"/>
                <a:cs typeface="Times New Roman" panose="02020603050405020304" pitchFamily="18" charset="0"/>
              </a:rPr>
              <a:t>security correctness</a:t>
            </a:r>
            <a:r>
              <a:rPr lang="en-IN" sz="1800">
                <a:latin typeface="Times New Roman" panose="02020603050405020304" pitchFamily="18" charset="0"/>
                <a:cs typeface="Times New Roman" panose="02020603050405020304" pitchFamily="18" charset="0"/>
              </a:rPr>
              <a:t>. </a:t>
            </a:r>
          </a:p>
          <a:p>
            <a:pPr lvl="0"/>
            <a:r>
              <a:rPr lang="en-IN" sz="1800">
                <a:latin typeface="Times New Roman" panose="02020603050405020304" pitchFamily="18" charset="0"/>
                <a:cs typeface="Times New Roman" panose="02020603050405020304" pitchFamily="18" charset="0"/>
              </a:rPr>
              <a:t>Identify security issues present in submitted code. </a:t>
            </a:r>
          </a:p>
          <a:p>
            <a:r>
              <a:rPr lang="en-IN" sz="1800">
                <a:latin typeface="Times New Roman" panose="02020603050405020304" pitchFamily="18" charset="0"/>
                <a:cs typeface="Times New Roman" panose="02020603050405020304" pitchFamily="18" charset="0"/>
              </a:rPr>
              <a:t>addition of new challenges, security rules, vulnerability categories, and learning resources.</a:t>
            </a:r>
          </a:p>
        </p:txBody>
      </p:sp>
    </p:spTree>
    <p:extLst>
      <p:ext uri="{BB962C8B-B14F-4D97-AF65-F5344CB8AC3E}">
        <p14:creationId xmlns:p14="http://schemas.microsoft.com/office/powerpoint/2010/main" val="1061025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216D0-D97C-3761-1786-ED3DC0F1869B}"/>
              </a:ext>
            </a:extLst>
          </p:cNvPr>
          <p:cNvSpPr>
            <a:spLocks noGrp="1"/>
          </p:cNvSpPr>
          <p:nvPr>
            <p:ph idx="1"/>
          </p:nvPr>
        </p:nvSpPr>
        <p:spPr>
          <a:xfrm>
            <a:off x="838200" y="773574"/>
            <a:ext cx="10515600" cy="4351338"/>
          </a:xfrm>
        </p:spPr>
        <p:txBody>
          <a:bodyPr>
            <a:normAutofit fontScale="70000" lnSpcReduction="20000"/>
          </a:bodyPr>
          <a:lstStyle/>
          <a:p>
            <a:pPr marL="0" indent="0">
              <a:buNone/>
            </a:pPr>
            <a:r>
              <a:rPr lang="en-IN" b="1">
                <a:latin typeface="Times New Roman" panose="02020603050405020304" pitchFamily="18" charset="0"/>
                <a:cs typeface="Times New Roman" panose="02020603050405020304" pitchFamily="18" charset="0"/>
              </a:rPr>
              <a:t>5. Secure Coding Guidance and Feedback</a:t>
            </a:r>
          </a:p>
          <a:p>
            <a:pPr lvl="0"/>
            <a:r>
              <a:rPr lang="en-IN">
                <a:latin typeface="Times New Roman" panose="02020603050405020304" pitchFamily="18" charset="0"/>
                <a:cs typeface="Times New Roman" panose="02020603050405020304" pitchFamily="18" charset="0"/>
              </a:rPr>
              <a:t>Provide </a:t>
            </a:r>
            <a:r>
              <a:rPr lang="en-IN" b="1">
                <a:latin typeface="Times New Roman" panose="02020603050405020304" pitchFamily="18" charset="0"/>
                <a:cs typeface="Times New Roman" panose="02020603050405020304" pitchFamily="18" charset="0"/>
              </a:rPr>
              <a:t>AI-assisted educational feedback</a:t>
            </a:r>
            <a:r>
              <a:rPr lang="en-IN">
                <a:latin typeface="Times New Roman" panose="02020603050405020304" pitchFamily="18" charset="0"/>
                <a:cs typeface="Times New Roman" panose="02020603050405020304" pitchFamily="18" charset="0"/>
              </a:rPr>
              <a:t> to help users understand and fix vulnerabilities. </a:t>
            </a:r>
          </a:p>
          <a:p>
            <a:pPr lvl="0"/>
            <a:r>
              <a:rPr lang="en-IN">
                <a:latin typeface="Times New Roman" panose="02020603050405020304" pitchFamily="18" charset="0"/>
                <a:cs typeface="Times New Roman" panose="02020603050405020304" pitchFamily="18" charset="0"/>
              </a:rPr>
              <a:t>Provide secure coding guidance based on recognized standards such as </a:t>
            </a:r>
            <a:r>
              <a:rPr lang="en-IN" b="1">
                <a:latin typeface="Times New Roman" panose="02020603050405020304" pitchFamily="18" charset="0"/>
                <a:cs typeface="Times New Roman" panose="02020603050405020304" pitchFamily="18" charset="0"/>
              </a:rPr>
              <a:t>OWASP, CWE, and CERT</a:t>
            </a:r>
            <a:r>
              <a:rPr lang="en-IN">
                <a:latin typeface="Times New Roman" panose="02020603050405020304" pitchFamily="18" charset="0"/>
                <a:cs typeface="Times New Roman" panose="02020603050405020304" pitchFamily="18" charset="0"/>
              </a:rPr>
              <a:t>. </a:t>
            </a:r>
          </a:p>
          <a:p>
            <a:pPr marL="0" indent="0">
              <a:buNone/>
            </a:pPr>
            <a:r>
              <a:rPr lang="en-IN" b="1">
                <a:latin typeface="Times New Roman" panose="02020603050405020304" pitchFamily="18" charset="0"/>
                <a:cs typeface="Times New Roman" panose="02020603050405020304" pitchFamily="18" charset="0"/>
              </a:rPr>
              <a:t>6. Target Users</a:t>
            </a:r>
          </a:p>
          <a:p>
            <a:pPr lvl="0"/>
            <a:r>
              <a:rPr lang="en-IN">
                <a:latin typeface="Times New Roman" panose="02020603050405020304" pitchFamily="18" charset="0"/>
                <a:cs typeface="Times New Roman" panose="02020603050405020304" pitchFamily="18" charset="0"/>
              </a:rPr>
              <a:t>Students learning software development and cybersecurity. </a:t>
            </a:r>
          </a:p>
          <a:p>
            <a:pPr lvl="0"/>
            <a:r>
              <a:rPr lang="en-IN">
                <a:latin typeface="Times New Roman" panose="02020603050405020304" pitchFamily="18" charset="0"/>
                <a:cs typeface="Times New Roman" panose="02020603050405020304" pitchFamily="18" charset="0"/>
              </a:rPr>
              <a:t>Software developers interested in improving secure coding practices. </a:t>
            </a:r>
          </a:p>
          <a:p>
            <a:pPr lvl="0"/>
            <a:r>
              <a:rPr lang="en-IN">
                <a:latin typeface="Times New Roman" panose="02020603050405020304" pitchFamily="18" charset="0"/>
                <a:cs typeface="Times New Roman" panose="02020603050405020304" pitchFamily="18" charset="0"/>
              </a:rPr>
              <a:t>Learners interested in practical secure software development. </a:t>
            </a:r>
          </a:p>
          <a:p>
            <a:pPr marL="0" indent="0">
              <a:buNone/>
            </a:pPr>
            <a:r>
              <a:rPr lang="en-IN" b="1">
                <a:latin typeface="Times New Roman" panose="02020603050405020304" pitchFamily="18" charset="0"/>
                <a:cs typeface="Times New Roman" panose="02020603050405020304" pitchFamily="18" charset="0"/>
              </a:rPr>
              <a:t>7. Progress Tracking</a:t>
            </a:r>
          </a:p>
          <a:p>
            <a:pPr lvl="0"/>
            <a:r>
              <a:rPr lang="en-IN">
                <a:latin typeface="Times New Roman" panose="02020603050405020304" pitchFamily="18" charset="0"/>
                <a:cs typeface="Times New Roman" panose="02020603050405020304" pitchFamily="18" charset="0"/>
              </a:rPr>
              <a:t>Track users' performance across secure coding challenges. </a:t>
            </a:r>
          </a:p>
          <a:p>
            <a:pPr marL="0" indent="0">
              <a:buNone/>
            </a:pPr>
            <a:r>
              <a:rPr lang="en-IN" b="1">
                <a:latin typeface="Times New Roman" panose="02020603050405020304" pitchFamily="18" charset="0"/>
                <a:cs typeface="Times New Roman" panose="02020603050405020304" pitchFamily="18" charset="0"/>
              </a:rPr>
              <a:t>8. Modular and Scalable Design</a:t>
            </a:r>
          </a:p>
          <a:p>
            <a:pPr lvl="0"/>
            <a:r>
              <a:rPr lang="en-IN">
                <a:latin typeface="Times New Roman" panose="02020603050405020304" pitchFamily="18" charset="0"/>
                <a:cs typeface="Times New Roman" panose="02020603050405020304" pitchFamily="18" charset="0"/>
              </a:rPr>
              <a:t>Design the system with a modular and scalable architecture. </a:t>
            </a:r>
          </a:p>
          <a:p>
            <a:pPr lvl="0"/>
            <a:r>
              <a:rPr lang="en-IN">
                <a:latin typeface="Times New Roman" panose="02020603050405020304" pitchFamily="18" charset="0"/>
                <a:cs typeface="Times New Roman" panose="02020603050405020304" pitchFamily="18" charset="0"/>
              </a:rPr>
              <a:t>Allow continuous</a:t>
            </a:r>
          </a:p>
        </p:txBody>
      </p:sp>
    </p:spTree>
    <p:extLst>
      <p:ext uri="{BB962C8B-B14F-4D97-AF65-F5344CB8AC3E}">
        <p14:creationId xmlns:p14="http://schemas.microsoft.com/office/powerpoint/2010/main" val="4025284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4315B-AD31-6C5E-7BA3-2839A170F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E10FE-0A07-223D-774D-B944A28BFC84}"/>
              </a:ext>
            </a:extLst>
          </p:cNvPr>
          <p:cNvSpPr>
            <a:spLocks noGrp="1"/>
          </p:cNvSpPr>
          <p:nvPr>
            <p:ph type="title"/>
          </p:nvPr>
        </p:nvSpPr>
        <p:spPr>
          <a:xfrm>
            <a:off x="5535560" y="362155"/>
            <a:ext cx="1120877" cy="736088"/>
          </a:xfrm>
        </p:spPr>
        <p:txBody>
          <a:bodyPr>
            <a:normAutofit/>
          </a:bodyPr>
          <a:lstStyle/>
          <a:p>
            <a:r>
              <a:rPr lang="en-IN" sz="4000">
                <a:latin typeface="Times New Roman" panose="02020603050405020304" pitchFamily="18" charset="0"/>
                <a:cs typeface="Times New Roman" panose="02020603050405020304" pitchFamily="18" charset="0"/>
              </a:rPr>
              <a:t>SRS</a:t>
            </a:r>
          </a:p>
        </p:txBody>
      </p:sp>
      <p:sp>
        <p:nvSpPr>
          <p:cNvPr id="3" name="Content Placeholder 2">
            <a:extLst>
              <a:ext uri="{FF2B5EF4-FFF2-40B4-BE49-F238E27FC236}">
                <a16:creationId xmlns:a16="http://schemas.microsoft.com/office/drawing/2014/main" id="{51844B9D-2B3F-BA82-6A86-313028EBB8D4}"/>
              </a:ext>
            </a:extLst>
          </p:cNvPr>
          <p:cNvSpPr>
            <a:spLocks noGrp="1"/>
          </p:cNvSpPr>
          <p:nvPr>
            <p:ph idx="1"/>
          </p:nvPr>
        </p:nvSpPr>
        <p:spPr>
          <a:xfrm>
            <a:off x="838199" y="1253332"/>
            <a:ext cx="4697361" cy="614798"/>
          </a:xfrm>
        </p:spPr>
        <p:txBody>
          <a:bodyPr>
            <a:normAutofit/>
          </a:bodyPr>
          <a:lstStyle/>
          <a:p>
            <a:pPr marL="0" indent="0" algn="just">
              <a:buNone/>
            </a:pPr>
            <a:r>
              <a:rPr lang="en-IN" sz="3200" b="1">
                <a:latin typeface="Times New Roman" panose="02020603050405020304" pitchFamily="18" charset="0"/>
                <a:cs typeface="Times New Roman" panose="02020603050405020304" pitchFamily="18" charset="0"/>
              </a:rPr>
              <a:t>Functional Requirements</a:t>
            </a:r>
          </a:p>
        </p:txBody>
      </p:sp>
      <p:sp>
        <p:nvSpPr>
          <p:cNvPr id="4" name="TextBox 3">
            <a:extLst>
              <a:ext uri="{FF2B5EF4-FFF2-40B4-BE49-F238E27FC236}">
                <a16:creationId xmlns:a16="http://schemas.microsoft.com/office/drawing/2014/main" id="{CA8E0D66-E8F5-E32A-79EF-1359B353EB6F}"/>
              </a:ext>
            </a:extLst>
          </p:cNvPr>
          <p:cNvSpPr txBox="1"/>
          <p:nvPr/>
        </p:nvSpPr>
        <p:spPr>
          <a:xfrm>
            <a:off x="914400" y="2023219"/>
            <a:ext cx="2422458"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1. User Management</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User Registration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Login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Profile Management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Role Management</a:t>
            </a:r>
          </a:p>
        </p:txBody>
      </p:sp>
      <p:sp>
        <p:nvSpPr>
          <p:cNvPr id="5" name="TextBox 4">
            <a:extLst>
              <a:ext uri="{FF2B5EF4-FFF2-40B4-BE49-F238E27FC236}">
                <a16:creationId xmlns:a16="http://schemas.microsoft.com/office/drawing/2014/main" id="{FD0E507A-B9AB-1979-E095-6652B491B8D6}"/>
              </a:ext>
            </a:extLst>
          </p:cNvPr>
          <p:cNvSpPr txBox="1"/>
          <p:nvPr/>
        </p:nvSpPr>
        <p:spPr>
          <a:xfrm>
            <a:off x="914400" y="3622905"/>
            <a:ext cx="2755883"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2. Challenge Management</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Browse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Search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Filter Challenges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Challenge Details</a:t>
            </a:r>
          </a:p>
        </p:txBody>
      </p:sp>
      <p:sp>
        <p:nvSpPr>
          <p:cNvPr id="6" name="TextBox 5">
            <a:extLst>
              <a:ext uri="{FF2B5EF4-FFF2-40B4-BE49-F238E27FC236}">
                <a16:creationId xmlns:a16="http://schemas.microsoft.com/office/drawing/2014/main" id="{B60327CE-9F4C-9C38-88AB-E1D0797243D5}"/>
              </a:ext>
            </a:extLst>
          </p:cNvPr>
          <p:cNvSpPr txBox="1"/>
          <p:nvPr/>
        </p:nvSpPr>
        <p:spPr>
          <a:xfrm>
            <a:off x="917347" y="5222591"/>
            <a:ext cx="2492990"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3. Code Editor</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Online Editor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Language Selection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Submission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Attempt Management</a:t>
            </a:r>
          </a:p>
        </p:txBody>
      </p:sp>
      <p:sp>
        <p:nvSpPr>
          <p:cNvPr id="8" name="TextBox 7">
            <a:extLst>
              <a:ext uri="{FF2B5EF4-FFF2-40B4-BE49-F238E27FC236}">
                <a16:creationId xmlns:a16="http://schemas.microsoft.com/office/drawing/2014/main" id="{CCCC296B-3D30-6C19-CDFC-C56CE5DB66DB}"/>
              </a:ext>
            </a:extLst>
          </p:cNvPr>
          <p:cNvSpPr txBox="1"/>
          <p:nvPr/>
        </p:nvSpPr>
        <p:spPr>
          <a:xfrm>
            <a:off x="4300414" y="2023219"/>
            <a:ext cx="2614818" cy="1477328"/>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4. Functional Evaluation</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Compilation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Test Execution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Result Evaluation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Error Detection</a:t>
            </a:r>
          </a:p>
        </p:txBody>
      </p:sp>
      <p:sp>
        <p:nvSpPr>
          <p:cNvPr id="10" name="TextBox 9">
            <a:extLst>
              <a:ext uri="{FF2B5EF4-FFF2-40B4-BE49-F238E27FC236}">
                <a16:creationId xmlns:a16="http://schemas.microsoft.com/office/drawing/2014/main" id="{3FEA7DE5-1F1B-0018-904A-1FB53BC68019}"/>
              </a:ext>
            </a:extLst>
          </p:cNvPr>
          <p:cNvSpPr txBox="1"/>
          <p:nvPr/>
        </p:nvSpPr>
        <p:spPr>
          <a:xfrm>
            <a:off x="4300414" y="3655636"/>
            <a:ext cx="2582167" cy="1754326"/>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5. Security Evaluation</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Static Analysis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Vulnerability Detection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Security Findings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Risk Identification</a:t>
            </a:r>
          </a:p>
        </p:txBody>
      </p:sp>
      <p:sp>
        <p:nvSpPr>
          <p:cNvPr id="12" name="TextBox 11">
            <a:extLst>
              <a:ext uri="{FF2B5EF4-FFF2-40B4-BE49-F238E27FC236}">
                <a16:creationId xmlns:a16="http://schemas.microsoft.com/office/drawing/2014/main" id="{FCEB7485-7A41-AEAF-10B7-40B1F36166FE}"/>
              </a:ext>
            </a:extLst>
          </p:cNvPr>
          <p:cNvSpPr txBox="1"/>
          <p:nvPr/>
        </p:nvSpPr>
        <p:spPr>
          <a:xfrm>
            <a:off x="7020232" y="2023219"/>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6. Feedback System</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Vulnerability Explanation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Recommendations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Improvement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Learning Hints</a:t>
            </a:r>
          </a:p>
        </p:txBody>
      </p:sp>
      <p:sp>
        <p:nvSpPr>
          <p:cNvPr id="14" name="TextBox 13">
            <a:extLst>
              <a:ext uri="{FF2B5EF4-FFF2-40B4-BE49-F238E27FC236}">
                <a16:creationId xmlns:a16="http://schemas.microsoft.com/office/drawing/2014/main" id="{1DF26D07-C62F-207D-B756-16E33F2DD13D}"/>
              </a:ext>
            </a:extLst>
          </p:cNvPr>
          <p:cNvSpPr txBox="1"/>
          <p:nvPr/>
        </p:nvSpPr>
        <p:spPr>
          <a:xfrm>
            <a:off x="7020232" y="3622905"/>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7. Learning Analytics</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Progress Tracking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Attempt History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Performance Analysis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Learning Dashboard</a:t>
            </a:r>
          </a:p>
        </p:txBody>
      </p:sp>
      <p:sp>
        <p:nvSpPr>
          <p:cNvPr id="16" name="TextBox 15">
            <a:extLst>
              <a:ext uri="{FF2B5EF4-FFF2-40B4-BE49-F238E27FC236}">
                <a16:creationId xmlns:a16="http://schemas.microsoft.com/office/drawing/2014/main" id="{D02F1608-F5A1-6951-A69F-B0B2E4FDBB3B}"/>
              </a:ext>
            </a:extLst>
          </p:cNvPr>
          <p:cNvSpPr txBox="1"/>
          <p:nvPr/>
        </p:nvSpPr>
        <p:spPr>
          <a:xfrm>
            <a:off x="7020232" y="5222591"/>
            <a:ext cx="3126658" cy="1477328"/>
          </a:xfrm>
          <a:prstGeom prst="rect">
            <a:avLst/>
          </a:prstGeom>
          <a:noFill/>
        </p:spPr>
        <p:txBody>
          <a:bodyPr wrap="square">
            <a:spAutoFit/>
          </a:bodyPr>
          <a:lstStyle/>
          <a:p>
            <a:pPr>
              <a:buNone/>
            </a:pPr>
            <a:r>
              <a:rPr lang="en-IN" b="1">
                <a:latin typeface="Times New Roman" panose="02020603050405020304" pitchFamily="18" charset="0"/>
                <a:cs typeface="Times New Roman" panose="02020603050405020304" pitchFamily="18" charset="0"/>
              </a:rPr>
              <a:t>8. Admin Module</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User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Challenge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Content Management </a:t>
            </a:r>
          </a:p>
          <a:p>
            <a:pPr marL="342900" lvl="0" indent="-342900">
              <a:buFont typeface="Arial" panose="020B0604020202020204" pitchFamily="34" charset="0"/>
              <a:buChar char="•"/>
            </a:pPr>
            <a:r>
              <a:rPr lang="en-IN">
                <a:latin typeface="Times New Roman" panose="02020603050405020304" pitchFamily="18" charset="0"/>
                <a:cs typeface="Times New Roman" panose="02020603050405020304" pitchFamily="18" charset="0"/>
              </a:rPr>
              <a:t>System Monitoring</a:t>
            </a:r>
          </a:p>
        </p:txBody>
      </p:sp>
    </p:spTree>
    <p:extLst>
      <p:ext uri="{BB962C8B-B14F-4D97-AF65-F5344CB8AC3E}">
        <p14:creationId xmlns:p14="http://schemas.microsoft.com/office/powerpoint/2010/main" val="289726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B2853-125A-A513-A3AC-25293B31A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86EAB5-29CB-467F-BB01-048ED04FEB1A}"/>
              </a:ext>
            </a:extLst>
          </p:cNvPr>
          <p:cNvSpPr>
            <a:spLocks noGrp="1"/>
          </p:cNvSpPr>
          <p:nvPr>
            <p:ph type="title"/>
          </p:nvPr>
        </p:nvSpPr>
        <p:spPr>
          <a:xfrm>
            <a:off x="838200" y="630596"/>
            <a:ext cx="10515600" cy="785250"/>
          </a:xfrm>
        </p:spPr>
        <p:txBody>
          <a:bodyPr>
            <a:normAutofit/>
          </a:bodyPr>
          <a:lstStyle/>
          <a:p>
            <a:r>
              <a:rPr lang="en-IN" sz="3200" b="1">
                <a:latin typeface="Times New Roman" panose="02020603050405020304" pitchFamily="18" charset="0"/>
                <a:cs typeface="Times New Roman" panose="02020603050405020304" pitchFamily="18" charset="0"/>
              </a:rPr>
              <a:t>Non-Functional Requirements</a:t>
            </a:r>
            <a:endParaRPr lang="en-IN" sz="320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7F9F0DE-D513-9D7E-DDA0-EE339850C742}"/>
              </a:ext>
            </a:extLst>
          </p:cNvPr>
          <p:cNvSpPr txBox="1"/>
          <p:nvPr/>
        </p:nvSpPr>
        <p:spPr>
          <a:xfrm>
            <a:off x="838200" y="1612903"/>
            <a:ext cx="2697918" cy="4801314"/>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1. Usability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User-Friendly Interface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Responsive Design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Simple Navigation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Clear Feedback </a:t>
            </a:r>
          </a:p>
          <a:p>
            <a:pPr lvl="0"/>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2. Performance</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Fast Compilation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Quick Evaluation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Resource Management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Response Optimization </a:t>
            </a:r>
          </a:p>
          <a:p>
            <a:pPr lvl="0"/>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3. Security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Secure Authentication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Data Protection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Access Control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Code Isolation</a:t>
            </a:r>
          </a:p>
        </p:txBody>
      </p:sp>
      <p:sp>
        <p:nvSpPr>
          <p:cNvPr id="6" name="TextBox 5">
            <a:extLst>
              <a:ext uri="{FF2B5EF4-FFF2-40B4-BE49-F238E27FC236}">
                <a16:creationId xmlns:a16="http://schemas.microsoft.com/office/drawing/2014/main" id="{4215E241-7980-E356-9704-0569E0C10F0E}"/>
              </a:ext>
            </a:extLst>
          </p:cNvPr>
          <p:cNvSpPr txBox="1"/>
          <p:nvPr/>
        </p:nvSpPr>
        <p:spPr>
          <a:xfrm>
            <a:off x="4483510" y="1612903"/>
            <a:ext cx="2563522" cy="3416320"/>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4. Scalability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Modular Expansion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New Vulnerabilities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New Languages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Additional Evaluators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5. Reliability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Error Handling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Data Consistency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Service Recovery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Result Accuracy</a:t>
            </a:r>
          </a:p>
          <a:p>
            <a:endParaRPr lang="en-IN">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4B31904-B2BE-C289-3F47-B0E7425DA8BF}"/>
              </a:ext>
            </a:extLst>
          </p:cNvPr>
          <p:cNvSpPr txBox="1"/>
          <p:nvPr/>
        </p:nvSpPr>
        <p:spPr>
          <a:xfrm>
            <a:off x="7737987" y="1612903"/>
            <a:ext cx="2706447" cy="5078313"/>
          </a:xfrm>
          <a:prstGeom prst="rect">
            <a:avLst/>
          </a:prstGeom>
          <a:noFill/>
        </p:spPr>
        <p:txBody>
          <a:bodyPr wrap="none" rtlCol="0">
            <a:spAutoFit/>
          </a:bodyPr>
          <a:lstStyle/>
          <a:p>
            <a:r>
              <a:rPr lang="en-IN" b="1">
                <a:latin typeface="Times New Roman" panose="02020603050405020304" pitchFamily="18" charset="0"/>
                <a:cs typeface="Times New Roman" panose="02020603050405020304" pitchFamily="18" charset="0"/>
              </a:rPr>
              <a:t>6. Maintainability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Modular Architecture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Clean Code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Component Reusability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Easy Testing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7. Compatibility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Browser Support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API Integration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Cross-Platform Access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External Tool Support </a:t>
            </a:r>
          </a:p>
          <a:p>
            <a:pPr marL="285750" lvl="0" indent="-285750">
              <a:buFont typeface="Arial" panose="020B0604020202020204" pitchFamily="34" charset="0"/>
              <a:buChar char="•"/>
            </a:pPr>
            <a:endParaRPr lang="en-IN">
              <a:latin typeface="Times New Roman" panose="02020603050405020304" pitchFamily="18" charset="0"/>
              <a:cs typeface="Times New Roman" panose="02020603050405020304" pitchFamily="18" charset="0"/>
            </a:endParaRPr>
          </a:p>
          <a:p>
            <a:r>
              <a:rPr lang="en-IN" b="1">
                <a:latin typeface="Times New Roman" panose="02020603050405020304" pitchFamily="18" charset="0"/>
                <a:cs typeface="Times New Roman" panose="02020603050405020304" pitchFamily="18" charset="0"/>
              </a:rPr>
              <a:t>8. Availability</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Service Availability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Failure Recovery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Backup Support </a:t>
            </a:r>
          </a:p>
          <a:p>
            <a:pPr marL="285750" lvl="0" indent="-285750">
              <a:buFont typeface="Arial" panose="020B0604020202020204" pitchFamily="34" charset="0"/>
              <a:buChar char="•"/>
            </a:pPr>
            <a:r>
              <a:rPr lang="en-IN">
                <a:latin typeface="Times New Roman" panose="02020603050405020304" pitchFamily="18" charset="0"/>
                <a:cs typeface="Times New Roman" panose="02020603050405020304" pitchFamily="18" charset="0"/>
              </a:rPr>
              <a:t>Continuous Operation</a:t>
            </a:r>
          </a:p>
          <a:p>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53071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D3F3539-6156-A899-1B72-711C3D6B635F}"/>
              </a:ext>
            </a:extLst>
          </p:cNvPr>
          <p:cNvSpPr>
            <a:spLocks noGrp="1"/>
          </p:cNvSpPr>
          <p:nvPr>
            <p:ph type="subTitle" idx="1"/>
          </p:nvPr>
        </p:nvSpPr>
        <p:spPr>
          <a:xfrm>
            <a:off x="1524000" y="809677"/>
            <a:ext cx="9144000" cy="1655762"/>
          </a:xfrm>
        </p:spPr>
        <p:txBody>
          <a:bodyPr>
            <a:normAutofit/>
          </a:bodyPr>
          <a:lstStyle/>
          <a:p>
            <a:pPr algn="just"/>
            <a:r>
              <a:rPr lang="en-IN" sz="2000">
                <a:latin typeface="Times New Roman" panose="02020603050405020304" pitchFamily="18" charset="0"/>
                <a:cs typeface="Times New Roman" panose="02020603050405020304" pitchFamily="18" charset="0"/>
              </a:rPr>
              <a:t>RMMM</a:t>
            </a:r>
          </a:p>
          <a:p>
            <a:pPr algn="just"/>
            <a:r>
              <a:rPr lang="en-IN" sz="2000">
                <a:latin typeface="Times New Roman" panose="02020603050405020304" pitchFamily="18" charset="0"/>
                <a:cs typeface="Times New Roman" panose="02020603050405020304" pitchFamily="18" charset="0"/>
              </a:rPr>
              <a:t>https://docs.google.com/spreadsheets/d/1r0BP8sPD6LdUCPx33Lrx146MKIuvlqJ_/edit?usp=drive_link&amp;ouid=115278546865658572613&amp;rtpof=true&amp;sd=true</a:t>
            </a:r>
          </a:p>
          <a:p>
            <a:endParaRPr lang="en-IN" sz="2000"/>
          </a:p>
        </p:txBody>
      </p:sp>
    </p:spTree>
    <p:extLst>
      <p:ext uri="{BB962C8B-B14F-4D97-AF65-F5344CB8AC3E}">
        <p14:creationId xmlns:p14="http://schemas.microsoft.com/office/powerpoint/2010/main" val="104610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2410AD-F705-436A-7411-524E95C6AD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3274400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4FB8A0-E3DF-AFDD-1643-F476C6217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2043271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3D17FC-2E0C-B87C-B602-072710B3DF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19459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DCE4975-D621-9A71-0417-0D2BD535593C}"/>
              </a:ext>
            </a:extLst>
          </p:cNvPr>
          <p:cNvSpPr txBox="1"/>
          <p:nvPr/>
        </p:nvSpPr>
        <p:spPr>
          <a:xfrm>
            <a:off x="2226775" y="240601"/>
            <a:ext cx="7308284" cy="830997"/>
          </a:xfrm>
          <a:prstGeom prst="rect">
            <a:avLst/>
          </a:prstGeom>
          <a:noFill/>
        </p:spPr>
        <p:txBody>
          <a:bodyPr wrap="none" rtlCol="0">
            <a:spAutoFit/>
          </a:bodyPr>
          <a:lstStyle/>
          <a:p>
            <a:pPr algn="ctr"/>
            <a:r>
              <a:rPr lang="en-US" sz="2400" b="1">
                <a:latin typeface="Times New Roman" panose="02020603050405020304" pitchFamily="18" charset="0"/>
                <a:cs typeface="Times New Roman" panose="02020603050405020304" pitchFamily="18" charset="0"/>
              </a:rPr>
              <a:t>DFD LEVEL 0</a:t>
            </a:r>
          </a:p>
          <a:p>
            <a:pPr algn="ctr"/>
            <a:r>
              <a:rPr lang="en-US" sz="2400" b="1">
                <a:latin typeface="Times New Roman" panose="02020603050405020304" pitchFamily="18" charset="0"/>
                <a:cs typeface="Times New Roman" panose="02020603050405020304" pitchFamily="18" charset="0"/>
              </a:rPr>
              <a:t>SecureCode AI System – Data Flow Diagram(Level 0) </a:t>
            </a:r>
            <a:endParaRPr lang="en-IN" sz="24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9FF027B-5088-B39D-A11D-8632BAEA0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5" y="1028700"/>
            <a:ext cx="10763250" cy="4800600"/>
          </a:xfrm>
          <a:prstGeom prst="rect">
            <a:avLst/>
          </a:prstGeom>
        </p:spPr>
      </p:pic>
    </p:spTree>
    <p:extLst>
      <p:ext uri="{BB962C8B-B14F-4D97-AF65-F5344CB8AC3E}">
        <p14:creationId xmlns:p14="http://schemas.microsoft.com/office/powerpoint/2010/main" val="2513325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3F192163-7367-6D51-8057-D7C7A860DE83}"/>
              </a:ext>
            </a:extLst>
          </p:cNvPr>
          <p:cNvSpPr txBox="1"/>
          <p:nvPr/>
        </p:nvSpPr>
        <p:spPr>
          <a:xfrm>
            <a:off x="2226775" y="240601"/>
            <a:ext cx="7308284" cy="830997"/>
          </a:xfrm>
          <a:prstGeom prst="rect">
            <a:avLst/>
          </a:prstGeom>
          <a:noFill/>
        </p:spPr>
        <p:txBody>
          <a:bodyPr wrap="none" rtlCol="0">
            <a:spAutoFit/>
          </a:bodyPr>
          <a:lstStyle/>
          <a:p>
            <a:pPr algn="ctr"/>
            <a:r>
              <a:rPr lang="en-US" sz="2400" b="1">
                <a:latin typeface="Times New Roman" panose="02020603050405020304" pitchFamily="18" charset="0"/>
                <a:cs typeface="Times New Roman" panose="02020603050405020304" pitchFamily="18" charset="0"/>
              </a:rPr>
              <a:t>DFD LEVEL 1</a:t>
            </a:r>
          </a:p>
          <a:p>
            <a:pPr algn="ctr"/>
            <a:r>
              <a:rPr lang="en-US" sz="2400" b="1">
                <a:latin typeface="Times New Roman" panose="02020603050405020304" pitchFamily="18" charset="0"/>
                <a:cs typeface="Times New Roman" panose="02020603050405020304" pitchFamily="18" charset="0"/>
              </a:rPr>
              <a:t>SecureCode AI System – Data Flow Diagram(Level 1) </a:t>
            </a:r>
            <a:endParaRPr lang="en-IN" sz="2400" b="1">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F55F1E3-CD31-9308-EBC1-7E0B1309ED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99916"/>
            <a:ext cx="12192000" cy="5758084"/>
          </a:xfrm>
          <a:prstGeom prst="rect">
            <a:avLst/>
          </a:prstGeom>
        </p:spPr>
      </p:pic>
    </p:spTree>
    <p:extLst>
      <p:ext uri="{BB962C8B-B14F-4D97-AF65-F5344CB8AC3E}">
        <p14:creationId xmlns:p14="http://schemas.microsoft.com/office/powerpoint/2010/main" val="3138171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ED28-F61B-4086-54C1-C62F779A77F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D26D9B5-73E7-51D6-0855-47FD36776AD4}"/>
              </a:ext>
            </a:extLst>
          </p:cNvPr>
          <p:cNvSpPr txBox="1"/>
          <p:nvPr/>
        </p:nvSpPr>
        <p:spPr>
          <a:xfrm>
            <a:off x="2226775" y="240601"/>
            <a:ext cx="7308284" cy="830997"/>
          </a:xfrm>
          <a:prstGeom prst="rect">
            <a:avLst/>
          </a:prstGeom>
          <a:noFill/>
        </p:spPr>
        <p:txBody>
          <a:bodyPr wrap="none" rtlCol="0">
            <a:spAutoFit/>
          </a:bodyPr>
          <a:lstStyle/>
          <a:p>
            <a:pPr algn="ctr"/>
            <a:r>
              <a:rPr lang="en-US" sz="2400" b="1">
                <a:latin typeface="Times New Roman" panose="02020603050405020304" pitchFamily="18" charset="0"/>
                <a:cs typeface="Times New Roman" panose="02020603050405020304" pitchFamily="18" charset="0"/>
              </a:rPr>
              <a:t>DFD LEVEL 2</a:t>
            </a:r>
          </a:p>
          <a:p>
            <a:pPr algn="ctr"/>
            <a:r>
              <a:rPr lang="en-US" sz="2400" b="1">
                <a:latin typeface="Times New Roman" panose="02020603050405020304" pitchFamily="18" charset="0"/>
                <a:cs typeface="Times New Roman" panose="02020603050405020304" pitchFamily="18" charset="0"/>
              </a:rPr>
              <a:t>SecureCode AI System – Data Flow Diagram(Level 2) </a:t>
            </a:r>
            <a:endParaRPr lang="en-IN" sz="2400" b="1">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8D6B666-D3C2-9641-E724-C5508C109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4200"/>
            <a:ext cx="12192000" cy="6010141"/>
          </a:xfrm>
          <a:prstGeom prst="rect">
            <a:avLst/>
          </a:prstGeom>
        </p:spPr>
      </p:pic>
    </p:spTree>
    <p:extLst>
      <p:ext uri="{BB962C8B-B14F-4D97-AF65-F5344CB8AC3E}">
        <p14:creationId xmlns:p14="http://schemas.microsoft.com/office/powerpoint/2010/main" val="3702595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68F28-2D6F-0C4A-5234-52E3A26B5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4169463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592571-103D-C362-38A2-7BE3B2848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60330"/>
            <a:ext cx="12192000" cy="6137339"/>
          </a:xfrm>
          <a:prstGeom prst="rect">
            <a:avLst/>
          </a:prstGeom>
        </p:spPr>
      </p:pic>
    </p:spTree>
    <p:extLst>
      <p:ext uri="{BB962C8B-B14F-4D97-AF65-F5344CB8AC3E}">
        <p14:creationId xmlns:p14="http://schemas.microsoft.com/office/powerpoint/2010/main" val="2995742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E82A84-0779-D81C-FF8E-32A7E1D761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0758"/>
            <a:ext cx="12192000" cy="6156483"/>
          </a:xfrm>
          <a:prstGeom prst="rect">
            <a:avLst/>
          </a:prstGeom>
        </p:spPr>
      </p:pic>
    </p:spTree>
    <p:extLst>
      <p:ext uri="{BB962C8B-B14F-4D97-AF65-F5344CB8AC3E}">
        <p14:creationId xmlns:p14="http://schemas.microsoft.com/office/powerpoint/2010/main" val="15668431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2A1DD6-8EE7-4898-3A34-5FDBE9E83A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53970"/>
            <a:ext cx="12192000" cy="6150060"/>
          </a:xfrm>
          <a:prstGeom prst="rect">
            <a:avLst/>
          </a:prstGeom>
        </p:spPr>
      </p:pic>
    </p:spTree>
    <p:extLst>
      <p:ext uri="{BB962C8B-B14F-4D97-AF65-F5344CB8AC3E}">
        <p14:creationId xmlns:p14="http://schemas.microsoft.com/office/powerpoint/2010/main" val="3908767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64EB38-3AC4-7FC3-5A52-A02EC6B00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1250"/>
            <a:ext cx="12192000" cy="6175499"/>
          </a:xfrm>
          <a:prstGeom prst="rect">
            <a:avLst/>
          </a:prstGeom>
        </p:spPr>
      </p:pic>
    </p:spTree>
    <p:extLst>
      <p:ext uri="{BB962C8B-B14F-4D97-AF65-F5344CB8AC3E}">
        <p14:creationId xmlns:p14="http://schemas.microsoft.com/office/powerpoint/2010/main" val="6246515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05F50F-CAA7-7038-9B3B-807A5FF00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4890"/>
            <a:ext cx="12192000" cy="6188219"/>
          </a:xfrm>
          <a:prstGeom prst="rect">
            <a:avLst/>
          </a:prstGeom>
        </p:spPr>
      </p:pic>
    </p:spTree>
    <p:extLst>
      <p:ext uri="{BB962C8B-B14F-4D97-AF65-F5344CB8AC3E}">
        <p14:creationId xmlns:p14="http://schemas.microsoft.com/office/powerpoint/2010/main" val="2381965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74D6B64-11C6-81F1-6598-F8D3EF0A77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1250"/>
            <a:ext cx="12192000" cy="6175499"/>
          </a:xfrm>
          <a:prstGeom prst="rect">
            <a:avLst/>
          </a:prstGeom>
        </p:spPr>
      </p:pic>
    </p:spTree>
    <p:extLst>
      <p:ext uri="{BB962C8B-B14F-4D97-AF65-F5344CB8AC3E}">
        <p14:creationId xmlns:p14="http://schemas.microsoft.com/office/powerpoint/2010/main" val="3909345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1CB3E3-9EB8-AFC0-00BF-05C6CE87A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4227"/>
            <a:ext cx="12192000" cy="5469546"/>
          </a:xfrm>
          <a:prstGeom prst="rect">
            <a:avLst/>
          </a:prstGeom>
        </p:spPr>
      </p:pic>
    </p:spTree>
    <p:extLst>
      <p:ext uri="{BB962C8B-B14F-4D97-AF65-F5344CB8AC3E}">
        <p14:creationId xmlns:p14="http://schemas.microsoft.com/office/powerpoint/2010/main" val="38320372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D758-A975-50FB-40C6-78BCF3708BF5}"/>
              </a:ext>
            </a:extLst>
          </p:cNvPr>
          <p:cNvSpPr>
            <a:spLocks noGrp="1"/>
          </p:cNvSpPr>
          <p:nvPr>
            <p:ph type="title"/>
          </p:nvPr>
        </p:nvSpPr>
        <p:spPr>
          <a:xfrm>
            <a:off x="4833784" y="297809"/>
            <a:ext cx="2524432" cy="766456"/>
          </a:xfrm>
        </p:spPr>
        <p:txBody>
          <a:bodyPr>
            <a:normAutofit/>
          </a:bodyPr>
          <a:lstStyle/>
          <a:p>
            <a:r>
              <a:rPr lang="en-IN" sz="400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BCF1A47-512F-6407-8ACD-C78E796ED96E}"/>
              </a:ext>
            </a:extLst>
          </p:cNvPr>
          <p:cNvSpPr>
            <a:spLocks noGrp="1"/>
          </p:cNvSpPr>
          <p:nvPr>
            <p:ph idx="1"/>
          </p:nvPr>
        </p:nvSpPr>
        <p:spPr>
          <a:xfrm>
            <a:off x="838200" y="1253330"/>
            <a:ext cx="10515600" cy="5462101"/>
          </a:xfrm>
        </p:spPr>
        <p:txBody>
          <a:bodyPr>
            <a:noAutofit/>
          </a:bodyPr>
          <a:lstStyle/>
          <a:p>
            <a:pPr lvl="0"/>
            <a:r>
              <a:rPr lang="en-IN" sz="2000" b="1">
                <a:latin typeface="Times New Roman" panose="02020603050405020304" pitchFamily="18" charset="0"/>
                <a:cs typeface="Times New Roman" panose="02020603050405020304" pitchFamily="18" charset="0"/>
              </a:rPr>
              <a:t>Existing coding platforms focus mainly on functionality</a:t>
            </a:r>
            <a:r>
              <a:rPr lang="en-IN" sz="2000">
                <a:latin typeface="Times New Roman" panose="02020603050405020304" pitchFamily="18" charset="0"/>
                <a:cs typeface="Times New Roman" panose="02020603050405020304" pitchFamily="18" charset="0"/>
              </a:rPr>
              <a:t>, while secure coding practice remains limited. </a:t>
            </a:r>
          </a:p>
          <a:p>
            <a:pPr lvl="0"/>
            <a:r>
              <a:rPr lang="en-IN" sz="2000" b="1">
                <a:latin typeface="Times New Roman" panose="02020603050405020304" pitchFamily="18" charset="0"/>
                <a:cs typeface="Times New Roman" panose="02020603050405020304" pitchFamily="18" charset="0"/>
              </a:rPr>
              <a:t>SecureCode AI bridges this gap</a:t>
            </a:r>
            <a:r>
              <a:rPr lang="en-IN" sz="2000">
                <a:latin typeface="Times New Roman" panose="02020603050405020304" pitchFamily="18" charset="0"/>
                <a:cs typeface="Times New Roman" panose="02020603050405020304" pitchFamily="18" charset="0"/>
              </a:rPr>
              <a:t> through vulnerability-based challenges and automated code evaluation. </a:t>
            </a:r>
          </a:p>
          <a:p>
            <a:pPr lvl="0"/>
            <a:r>
              <a:rPr lang="en-IN" sz="2000">
                <a:latin typeface="Times New Roman" panose="02020603050405020304" pitchFamily="18" charset="0"/>
                <a:cs typeface="Times New Roman" panose="02020603050405020304" pitchFamily="18" charset="0"/>
              </a:rPr>
              <a:t>The platform focuses on </a:t>
            </a:r>
            <a:r>
              <a:rPr lang="en-IN" sz="2000" b="1">
                <a:latin typeface="Times New Roman" panose="02020603050405020304" pitchFamily="18" charset="0"/>
                <a:cs typeface="Times New Roman" panose="02020603050405020304" pitchFamily="18" charset="0"/>
              </a:rPr>
              <a:t>practical secure coding education</a:t>
            </a:r>
            <a:r>
              <a:rPr lang="en-IN" sz="2000">
                <a:latin typeface="Times New Roman" panose="02020603050405020304" pitchFamily="18" charset="0"/>
                <a:cs typeface="Times New Roman" panose="02020603050405020304" pitchFamily="18" charset="0"/>
              </a:rPr>
              <a:t> through challenge-based learning. </a:t>
            </a:r>
          </a:p>
          <a:p>
            <a:pPr lvl="0"/>
            <a:r>
              <a:rPr lang="en-IN" sz="2000">
                <a:latin typeface="Times New Roman" panose="02020603050405020304" pitchFamily="18" charset="0"/>
                <a:cs typeface="Times New Roman" panose="02020603050405020304" pitchFamily="18" charset="0"/>
              </a:rPr>
              <a:t>The </a:t>
            </a:r>
            <a:r>
              <a:rPr lang="en-IN" sz="2000" b="1">
                <a:latin typeface="Times New Roman" panose="02020603050405020304" pitchFamily="18" charset="0"/>
                <a:cs typeface="Times New Roman" panose="02020603050405020304" pitchFamily="18" charset="0"/>
              </a:rPr>
              <a:t>functional and security evaluation workflow</a:t>
            </a:r>
            <a:r>
              <a:rPr lang="en-IN" sz="2000">
                <a:latin typeface="Times New Roman" panose="02020603050405020304" pitchFamily="18" charset="0"/>
                <a:cs typeface="Times New Roman" panose="02020603050405020304" pitchFamily="18" charset="0"/>
              </a:rPr>
              <a:t> has been implemented with the </a:t>
            </a:r>
            <a:r>
              <a:rPr lang="en-IN" sz="2000" b="1">
                <a:latin typeface="Times New Roman" panose="02020603050405020304" pitchFamily="18" charset="0"/>
                <a:cs typeface="Times New Roman" panose="02020603050405020304" pitchFamily="18" charset="0"/>
              </a:rPr>
              <a:t>Analysis Engine</a:t>
            </a:r>
            <a:r>
              <a:rPr lang="en-IN" sz="2000">
                <a:latin typeface="Times New Roman" panose="02020603050405020304" pitchFamily="18" charset="0"/>
                <a:cs typeface="Times New Roman" panose="02020603050405020304" pitchFamily="18" charset="0"/>
              </a:rPr>
              <a:t>. </a:t>
            </a:r>
          </a:p>
          <a:p>
            <a:pPr lvl="0"/>
            <a:r>
              <a:rPr lang="en-IN" sz="2000" b="1">
                <a:latin typeface="Times New Roman" panose="02020603050405020304" pitchFamily="18" charset="0"/>
                <a:cs typeface="Times New Roman" panose="02020603050405020304" pitchFamily="18" charset="0"/>
              </a:rPr>
              <a:t>Feedback Engine and LLM integration</a:t>
            </a:r>
            <a:r>
              <a:rPr lang="en-IN" sz="2000">
                <a:latin typeface="Times New Roman" panose="02020603050405020304" pitchFamily="18" charset="0"/>
                <a:cs typeface="Times New Roman" panose="02020603050405020304" pitchFamily="18" charset="0"/>
              </a:rPr>
              <a:t> are currently remaining for further development. </a:t>
            </a:r>
          </a:p>
          <a:p>
            <a:pPr lvl="0"/>
            <a:r>
              <a:rPr lang="en-IN" sz="2000">
                <a:latin typeface="Times New Roman" panose="02020603050405020304" pitchFamily="18" charset="0"/>
                <a:cs typeface="Times New Roman" panose="02020603050405020304" pitchFamily="18" charset="0"/>
              </a:rPr>
              <a:t>The initial scope focuses on </a:t>
            </a:r>
            <a:r>
              <a:rPr lang="en-IN" sz="2000" b="1">
                <a:latin typeface="Times New Roman" panose="02020603050405020304" pitchFamily="18" charset="0"/>
                <a:cs typeface="Times New Roman" panose="02020603050405020304" pitchFamily="18" charset="0"/>
              </a:rPr>
              <a:t>Injection Attacks</a:t>
            </a:r>
            <a:r>
              <a:rPr lang="en-IN" sz="2000">
                <a:latin typeface="Times New Roman" panose="02020603050405020304" pitchFamily="18" charset="0"/>
                <a:cs typeface="Times New Roman" panose="02020603050405020304" pitchFamily="18" charset="0"/>
              </a:rPr>
              <a:t>, with future expansion to additional OWASP vulnerabilities.</a:t>
            </a:r>
          </a:p>
        </p:txBody>
      </p:sp>
    </p:spTree>
    <p:extLst>
      <p:ext uri="{BB962C8B-B14F-4D97-AF65-F5344CB8AC3E}">
        <p14:creationId xmlns:p14="http://schemas.microsoft.com/office/powerpoint/2010/main" val="1377666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B7FA-A14C-7259-1049-83A3DDE8FD88}"/>
              </a:ext>
            </a:extLst>
          </p:cNvPr>
          <p:cNvSpPr>
            <a:spLocks noGrp="1"/>
          </p:cNvSpPr>
          <p:nvPr>
            <p:ph type="title"/>
          </p:nvPr>
        </p:nvSpPr>
        <p:spPr>
          <a:xfrm>
            <a:off x="4858364" y="283496"/>
            <a:ext cx="2475271" cy="795081"/>
          </a:xfrm>
        </p:spPr>
        <p:txBody>
          <a:bodyPr>
            <a:normAutofit/>
          </a:bodyPr>
          <a:lstStyle/>
          <a:p>
            <a:r>
              <a:rPr lang="en-IN" sz="400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323A1C7B-8DFB-C9A3-9DA0-16564EF39626}"/>
              </a:ext>
            </a:extLst>
          </p:cNvPr>
          <p:cNvSpPr>
            <a:spLocks noGrp="1"/>
          </p:cNvSpPr>
          <p:nvPr>
            <p:ph idx="1"/>
          </p:nvPr>
        </p:nvSpPr>
        <p:spPr>
          <a:xfrm>
            <a:off x="838199" y="1078577"/>
            <a:ext cx="10515600" cy="4351338"/>
          </a:xfrm>
        </p:spPr>
        <p:txBody>
          <a:bodyPr>
            <a:noAutofit/>
          </a:bodyPr>
          <a:lstStyle/>
          <a:p>
            <a:pPr marL="0" indent="0" algn="just">
              <a:buNone/>
            </a:pPr>
            <a:r>
              <a:rPr lang="en-IN" sz="1800">
                <a:latin typeface="Times New Roman" panose="02020603050405020304" pitchFamily="18" charset="0"/>
                <a:cs typeface="Times New Roman" panose="02020603050405020304" pitchFamily="18" charset="0"/>
              </a:rPr>
              <a:t>[1] V. Belozerov, P. J. Barclay, A. Sami,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with AI – From Detection to Repair," 2026.</a:t>
            </a:r>
          </a:p>
          <a:p>
            <a:pPr marL="0" indent="0" algn="just">
              <a:buNone/>
            </a:pPr>
            <a:r>
              <a:rPr lang="en-IN" sz="1800">
                <a:latin typeface="Times New Roman" panose="02020603050405020304" pitchFamily="18" charset="0"/>
                <a:cs typeface="Times New Roman" panose="02020603050405020304" pitchFamily="18" charset="0"/>
              </a:rPr>
              <a:t>[2] H. Yan, S. S. Vaidya, X. Zhang, and Z. Yao, "Guiding AI to Fix Its Own Flaws: An Empirical Study on LLM-Driven Secure Code Generation," 2025.</a:t>
            </a:r>
          </a:p>
          <a:p>
            <a:pPr marL="0" indent="0" algn="just">
              <a:buNone/>
            </a:pPr>
            <a:r>
              <a:rPr lang="en-IN" sz="1800">
                <a:latin typeface="Times New Roman" panose="02020603050405020304" pitchFamily="18" charset="0"/>
                <a:cs typeface="Times New Roman" panose="02020603050405020304" pitchFamily="18" charset="0"/>
              </a:rPr>
              <a:t>[3] R. Patir, K. Guo, H. Cai, and H. Hu, "Systematization of Knowledge (SoK): AI Secure Code Generation – Progress, Pitfalls and Paths Forward," 2026.</a:t>
            </a:r>
          </a:p>
          <a:p>
            <a:pPr marL="0" indent="0" algn="just">
              <a:buNone/>
            </a:pPr>
            <a:r>
              <a:rPr lang="en-IN" sz="1800">
                <a:latin typeface="Times New Roman" panose="02020603050405020304" pitchFamily="18" charset="0"/>
                <a:cs typeface="Times New Roman" panose="02020603050405020304" pitchFamily="18" charset="0"/>
              </a:rPr>
              <a:t>[4] H. S. Alwageed and R. A. Khan, "The Role of Generative AI in Strengthening Secure Software Coding Practices," 2025.</a:t>
            </a:r>
          </a:p>
          <a:p>
            <a:pPr marL="0" indent="0" algn="just">
              <a:buNone/>
            </a:pPr>
            <a:r>
              <a:rPr lang="en-IN" sz="1800">
                <a:latin typeface="Times New Roman" panose="02020603050405020304" pitchFamily="18" charset="0"/>
                <a:cs typeface="Times New Roman" panose="02020603050405020304" pitchFamily="18" charset="0"/>
              </a:rPr>
              <a:t>[5] F. H. Bappy,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with AI Coding Assistants: From Preventive to Reactive Security," 2026.</a:t>
            </a:r>
          </a:p>
          <a:p>
            <a:pPr marL="0" indent="0" algn="just">
              <a:buNone/>
            </a:pPr>
            <a:r>
              <a:rPr lang="en-IN" sz="1800">
                <a:latin typeface="Times New Roman" panose="02020603050405020304" pitchFamily="18" charset="0"/>
                <a:cs typeface="Times New Roman" panose="02020603050405020304" pitchFamily="18" charset="0"/>
              </a:rPr>
              <a:t>[6] T. E. Gasiba, U. Lechner, M. Pinto-Albuquerque, and D. Mendez, "Is Secure Coding Education in the Industry Needed?," 2021.</a:t>
            </a:r>
          </a:p>
          <a:p>
            <a:pPr marL="0" indent="0" algn="just">
              <a:buNone/>
            </a:pPr>
            <a:r>
              <a:rPr lang="en-IN" sz="1800">
                <a:latin typeface="Times New Roman" panose="02020603050405020304" pitchFamily="18" charset="0"/>
                <a:cs typeface="Times New Roman" panose="02020603050405020304" pitchFamily="18" charset="0"/>
              </a:rPr>
              <a:t>[7] T. Gasiba, U. Lechner, M. Pinto-Albuquerque, and A. Zouitni, "Design of Secure Coding Challenges for Cybersecurity Education in the Industry," 2021.</a:t>
            </a:r>
          </a:p>
          <a:p>
            <a:pPr marL="0" indent="0" algn="just">
              <a:buNone/>
            </a:pPr>
            <a:r>
              <a:rPr lang="en-IN" sz="1800">
                <a:latin typeface="Times New Roman" panose="02020603050405020304" pitchFamily="18" charset="0"/>
                <a:cs typeface="Times New Roman" panose="02020603050405020304" pitchFamily="18" charset="0"/>
              </a:rPr>
              <a:t>[8] K. Malinka,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"Using Real-World Bug Bounty Programs in Secure Coding Course," 2024.</a:t>
            </a:r>
          </a:p>
          <a:p>
            <a:pPr marL="0" indent="0" algn="just">
              <a:buNone/>
            </a:pPr>
            <a:r>
              <a:rPr lang="en-IN" sz="1800">
                <a:latin typeface="Times New Roman" panose="02020603050405020304" pitchFamily="18" charset="0"/>
                <a:cs typeface="Times New Roman" panose="02020603050405020304" pitchFamily="18" charset="0"/>
              </a:rPr>
              <a:t>[9] A. Torbunova, A. Ashraf, and I. Porres, "A Systematic Mapping Study on Teaching Security Concepts in Programming Courses," 2024.</a:t>
            </a:r>
          </a:p>
          <a:p>
            <a:pPr marL="0" indent="0" algn="just">
              <a:buNone/>
            </a:pPr>
            <a:r>
              <a:rPr lang="en-IN" sz="1800">
                <a:latin typeface="Times New Roman" panose="02020603050405020304" pitchFamily="18" charset="0"/>
                <a:cs typeface="Times New Roman" panose="02020603050405020304" pitchFamily="18" charset="0"/>
              </a:rPr>
              <a:t>[10] T. Gasiba, </a:t>
            </a:r>
            <a:r>
              <a:rPr lang="en-IN" sz="1800" i="1">
                <a:latin typeface="Times New Roman" panose="02020603050405020304" pitchFamily="18" charset="0"/>
                <a:cs typeface="Times New Roman" panose="02020603050405020304" pitchFamily="18" charset="0"/>
              </a:rPr>
              <a:t>et al.</a:t>
            </a:r>
            <a:r>
              <a:rPr lang="en-IN" sz="1800">
                <a:latin typeface="Times New Roman" panose="02020603050405020304" pitchFamily="18" charset="0"/>
                <a:cs typeface="Times New Roman" panose="02020603050405020304" pitchFamily="18" charset="0"/>
              </a:rPr>
              <a:t>, "Secure Coding Education Through Gamification and CTF Challenges," 2021.</a:t>
            </a:r>
          </a:p>
        </p:txBody>
      </p:sp>
    </p:spTree>
    <p:extLst>
      <p:ext uri="{BB962C8B-B14F-4D97-AF65-F5344CB8AC3E}">
        <p14:creationId xmlns:p14="http://schemas.microsoft.com/office/powerpoint/2010/main" val="1970901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1426</TotalTime>
  <Words>2639</Words>
  <Application>Microsoft Office PowerPoint</Application>
  <PresentationFormat>Widescreen</PresentationFormat>
  <Paragraphs>290</Paragraphs>
  <Slides>33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Calibri Light</vt:lpstr>
      <vt:lpstr>Times New Roman</vt:lpstr>
      <vt:lpstr>Office Theme</vt:lpstr>
      <vt:lpstr>“Secure Coding AI”</vt:lpstr>
      <vt:lpstr>PowerPoint Presentation</vt:lpstr>
      <vt:lpstr>Abstract</vt:lpstr>
      <vt:lpstr>Introduction</vt:lpstr>
      <vt:lpstr>PowerPoint Presentation</vt:lpstr>
      <vt:lpstr>PowerPoint Presentation</vt:lpstr>
      <vt:lpstr>PowerPoint Presentation</vt:lpstr>
      <vt:lpstr>PowerPoint Presentation</vt:lpstr>
      <vt:lpstr>PowerPoint Presentation</vt:lpstr>
      <vt:lpstr>Research Gap</vt:lpstr>
      <vt:lpstr>Problem Statement</vt:lpstr>
      <vt:lpstr>Objectives</vt:lpstr>
      <vt:lpstr>Scope</vt:lpstr>
      <vt:lpstr>PowerPoint Presentation</vt:lpstr>
      <vt:lpstr>SRS</vt:lpstr>
      <vt:lpstr>Non-Functional 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jain</dc:creator>
  <cp:lastModifiedBy>harsh jain</cp:lastModifiedBy>
  <cp:revision>15</cp:revision>
  <dcterms:created xsi:type="dcterms:W3CDTF">2026-07-27T07:38:45Z</dcterms:created>
  <dcterms:modified xsi:type="dcterms:W3CDTF">2026-10-01T05:16:06Z</dcterms:modified>
</cp:coreProperties>
</file>