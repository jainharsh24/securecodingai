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62" r:id="rId2"/>
  </p:sldMasterIdLst>
  <p:notesMasterIdLst>
    <p:notesMasterId r:id="rId37"/>
  </p:notesMasterIdLst>
  <p:sldIdLst>
    <p:sldId id="264" r:id="rId3"/>
    <p:sldId id="267" r:id="rId4"/>
    <p:sldId id="282" r:id="rId5"/>
    <p:sldId id="280" r:id="rId6"/>
    <p:sldId id="279" r:id="rId7"/>
    <p:sldId id="283" r:id="rId8"/>
    <p:sldId id="284" r:id="rId9"/>
    <p:sldId id="285" r:id="rId10"/>
    <p:sldId id="286" r:id="rId11"/>
    <p:sldId id="288" r:id="rId12"/>
    <p:sldId id="289" r:id="rId13"/>
    <p:sldId id="290" r:id="rId14"/>
    <p:sldId id="291" r:id="rId15"/>
    <p:sldId id="292" r:id="rId16"/>
    <p:sldId id="293" r:id="rId17"/>
    <p:sldId id="294" r:id="rId18"/>
    <p:sldId id="287" r:id="rId19"/>
    <p:sldId id="295" r:id="rId20"/>
    <p:sldId id="296" r:id="rId21"/>
    <p:sldId id="297" r:id="rId22"/>
    <p:sldId id="298" r:id="rId23"/>
    <p:sldId id="299" r:id="rId24"/>
    <p:sldId id="300" r:id="rId25"/>
    <p:sldId id="302" r:id="rId26"/>
    <p:sldId id="301" r:id="rId27"/>
    <p:sldId id="303" r:id="rId28"/>
    <p:sldId id="304" r:id="rId29"/>
    <p:sldId id="305" r:id="rId30"/>
    <p:sldId id="306" r:id="rId31"/>
    <p:sldId id="307" r:id="rId32"/>
    <p:sldId id="308" r:id="rId33"/>
    <p:sldId id="309" r:id="rId34"/>
    <p:sldId id="310" r:id="rId35"/>
    <p:sldId id="31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BC3505-57D8-4AA2-99DD-A63FEE8FE693}"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B6EC18-3E92-4085-BCB7-60D1BCAC4093}" type="slidenum">
              <a:rPr lang="en-IN" smtClean="0"/>
              <a:t>‹#›</a:t>
            </a:fld>
            <a:endParaRPr lang="en-IN"/>
          </a:p>
        </p:txBody>
      </p:sp>
    </p:spTree>
    <p:extLst>
      <p:ext uri="{BB962C8B-B14F-4D97-AF65-F5344CB8AC3E}">
        <p14:creationId xmlns:p14="http://schemas.microsoft.com/office/powerpoint/2010/main" val="2331023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D1505033-4460-41EF-B08C-F24AAB43425A}" type="datetimeFigureOut">
              <a:rPr kumimoji="0" lang="en-US" sz="900" b="0" i="0" u="none" strike="noStrike" kern="1200" cap="none" spc="0" normalizeH="0" baseline="0" noProof="0" smtClean="0">
                <a:ln>
                  <a:noFill/>
                </a:ln>
                <a:solidFill>
                  <a:srgbClr val="1A3260">
                    <a:lumMod val="75000"/>
                    <a:lumOff val="25000"/>
                  </a:srgbClr>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10/29/2026</a:t>
            </a:fld>
            <a:endParaRPr kumimoji="0" lang="en-US" sz="900" b="0" i="0" u="none" strike="noStrike" kern="1200" cap="none" spc="0" normalizeH="0" baseline="0" noProof="0">
              <a:ln>
                <a:noFill/>
              </a:ln>
              <a:solidFill>
                <a:srgbClr val="1A3260">
                  <a:lumMod val="75000"/>
                  <a:lumOff val="25000"/>
                </a:srgbClr>
              </a:solidFill>
              <a:effectLst/>
              <a:uLnTx/>
              <a:uFillTx/>
              <a:latin typeface="Gill Sans MT" panose="020B0502020104020203"/>
              <a:ea typeface="+mn-ea"/>
              <a:cs typeface="+mn-cs"/>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all" spc="0" normalizeH="0" baseline="0" noProof="0">
              <a:ln>
                <a:noFill/>
              </a:ln>
              <a:solidFill>
                <a:srgbClr val="1A3260">
                  <a:lumMod val="75000"/>
                  <a:lumOff val="25000"/>
                </a:srgbClr>
              </a:solidFill>
              <a:effectLst/>
              <a:uLnTx/>
              <a:uFillTx/>
              <a:latin typeface="Gill Sans MT" panose="020B0502020104020203"/>
              <a:ea typeface="+mn-ea"/>
              <a:cs typeface="+mn-cs"/>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612646A-9C6B-48A2-841D-CF0114097838}" type="slidenum">
              <a:rPr kumimoji="0" lang="en-US" sz="900" b="0" i="0" u="none" strike="noStrike" kern="1200" cap="none" spc="0" normalizeH="0" baseline="0" noProof="0" smtClean="0">
                <a:ln>
                  <a:noFill/>
                </a:ln>
                <a:solidFill>
                  <a:srgbClr val="1A3260">
                    <a:lumMod val="75000"/>
                    <a:lumOff val="25000"/>
                  </a:srgbClr>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1A3260">
                  <a:lumMod val="75000"/>
                  <a:lumOff val="25000"/>
                </a:srgbClr>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11467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505033-4460-41EF-B08C-F24AAB43425A}"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12646A-9C6B-48A2-841D-CF0114097838}" type="slidenum">
              <a:rPr lang="en-US" smtClean="0"/>
              <a:pPr/>
              <a:t>‹#›</a:t>
            </a:fld>
            <a:endParaRPr lang="en-US"/>
          </a:p>
        </p:txBody>
      </p:sp>
    </p:spTree>
    <p:extLst>
      <p:ext uri="{BB962C8B-B14F-4D97-AF65-F5344CB8AC3E}">
        <p14:creationId xmlns:p14="http://schemas.microsoft.com/office/powerpoint/2010/main" val="1536653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05033-4460-41EF-B08C-F24AAB43425A}"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2612646A-9C6B-48A2-841D-CF0114097838}" type="slidenum">
              <a:rPr lang="en-US" smtClean="0"/>
              <a:pPr/>
              <a:t>‹#›</a:t>
            </a:fld>
            <a:endParaRPr lang="en-US"/>
          </a:p>
        </p:txBody>
      </p:sp>
    </p:spTree>
    <p:extLst>
      <p:ext uri="{BB962C8B-B14F-4D97-AF65-F5344CB8AC3E}">
        <p14:creationId xmlns:p14="http://schemas.microsoft.com/office/powerpoint/2010/main" val="1303079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D1505033-4460-41EF-B08C-F24AAB43425A}" type="datetimeFigureOut">
              <a:rPr kumimoji="0" lang="en-US"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10/29/2026</a:t>
            </a:fld>
            <a:endParaRPr kumimoji="0" lang="en-US"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all" spc="0" normalizeH="0" baseline="0" noProof="0">
              <a:ln>
                <a:noFill/>
              </a:ln>
              <a:solidFill>
                <a:srgbClr val="4590B8"/>
              </a:solidFill>
              <a:effectLst/>
              <a:uLnTx/>
              <a:uFillTx/>
              <a:latin typeface="Gill Sans MT" panose="020B0502020104020203"/>
              <a:ea typeface="+mn-ea"/>
              <a:cs typeface="+mn-cs"/>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612646A-9C6B-48A2-841D-CF0114097838}" type="slidenum">
              <a:rPr kumimoji="0" lang="en-US"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2189629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D1505033-4460-41EF-B08C-F24AAB43425A}" type="datetimeFigureOut">
              <a:rPr kumimoji="0" lang="en-US"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10/29/2026</a:t>
            </a:fld>
            <a:endParaRPr kumimoji="0" lang="en-US"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all" spc="0" normalizeH="0" baseline="0" noProof="0">
              <a:ln>
                <a:noFill/>
              </a:ln>
              <a:solidFill>
                <a:srgbClr val="4590B8"/>
              </a:solidFill>
              <a:effectLst/>
              <a:uLnTx/>
              <a:uFillTx/>
              <a:latin typeface="Gill Sans MT" panose="020B0502020104020203"/>
              <a:ea typeface="+mn-ea"/>
              <a:cs typeface="+mn-cs"/>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612646A-9C6B-48A2-841D-CF0114097838}" type="slidenum">
              <a:rPr kumimoji="0" lang="en-US"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51557745"/>
      </p:ext>
    </p:extLst>
  </p:cSld>
  <p:clrMap bg1="lt1" tx1="dk1" bg2="lt2" tx2="dk2" accent1="accent1" accent2="accent2" accent3="accent3" accent4="accent4" accent5="accent5" accent6="accent6" hlink="hlink" folHlink="folHlink"/>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hyperlink" Target="https://doi.org/10.3390/software101000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4112"/>
          <a:stretch/>
        </p:blipFill>
        <p:spPr>
          <a:xfrm>
            <a:off x="310391" y="208633"/>
            <a:ext cx="1736764" cy="759555"/>
          </a:xfrm>
          <a:prstGeom prst="rect">
            <a:avLst/>
          </a:prstGeom>
        </p:spPr>
      </p:pic>
      <p:sp>
        <p:nvSpPr>
          <p:cNvPr id="5" name="TextBox 4"/>
          <p:cNvSpPr txBox="1"/>
          <p:nvPr/>
        </p:nvSpPr>
        <p:spPr>
          <a:xfrm>
            <a:off x="2148840" y="164592"/>
            <a:ext cx="9601200" cy="1005840"/>
          </a:xfrm>
          <a:prstGeom prst="rect">
            <a:avLst/>
          </a:prstGeom>
          <a:noFill/>
        </p:spPr>
        <p:txBody>
          <a:bodyPr wrap="square" lIns="0" tIns="0" rIns="0" bIns="0">
            <a:spAutoFit/>
          </a:bodyPr>
          <a:lstStyle/>
          <a:p>
            <a:pPr algn="l">
              <a:defRPr sz="2200" b="1">
                <a:solidFill>
                  <a:srgbClr val="1F4E79"/>
                </a:solidFill>
                <a:latin typeface="Times New Roman"/>
              </a:defRPr>
            </a:pPr>
            <a:r>
              <a:t>TERNA ENGINEERING COLLEGE, NAVI MUMBAI</a:t>
            </a:r>
          </a:p>
          <a:p>
            <a:pPr algn="l">
              <a:spcBef>
                <a:spcPts val="300"/>
              </a:spcBef>
              <a:defRPr sz="1400" b="1">
                <a:solidFill>
                  <a:srgbClr val="64748B"/>
                </a:solidFill>
                <a:latin typeface="Times New Roman"/>
              </a:defRPr>
            </a:pPr>
            <a:r>
              <a:t>DEPARTMENT OF COMPUTER ENGINEERING  •  ACADEMIC YEAR 2026-27</a:t>
            </a:r>
          </a:p>
        </p:txBody>
      </p:sp>
      <p:sp>
        <p:nvSpPr>
          <p:cNvPr id="6" name="TextBox 5"/>
          <p:cNvSpPr txBox="1"/>
          <p:nvPr/>
        </p:nvSpPr>
        <p:spPr>
          <a:xfrm>
            <a:off x="548640" y="1371600"/>
            <a:ext cx="11064240" cy="2103120"/>
          </a:xfrm>
          <a:prstGeom prst="rect">
            <a:avLst/>
          </a:prstGeom>
          <a:noFill/>
        </p:spPr>
        <p:txBody>
          <a:bodyPr wrap="square" lIns="0" tIns="0" rIns="0" bIns="0">
            <a:spAutoFit/>
          </a:bodyPr>
          <a:lstStyle/>
          <a:p>
            <a:pPr algn="ctr">
              <a:defRPr sz="1600" b="1">
                <a:solidFill>
                  <a:srgbClr val="C00000"/>
                </a:solidFill>
                <a:latin typeface="Times New Roman"/>
              </a:defRPr>
            </a:pPr>
            <a:r>
              <a:t>MAJOR PROJECT FINAL PRESENTATION</a:t>
            </a:r>
          </a:p>
          <a:p>
            <a:pPr algn="ctr">
              <a:spcBef>
                <a:spcPts val="400"/>
              </a:spcBef>
              <a:defRPr sz="4400" b="1">
                <a:solidFill>
                  <a:srgbClr val="1F4E79"/>
                </a:solidFill>
                <a:latin typeface="Times New Roman"/>
              </a:defRPr>
            </a:pPr>
            <a:r>
              <a:t>SECURECODE-AI</a:t>
            </a:r>
          </a:p>
          <a:p>
            <a:pPr algn="ctr">
              <a:spcBef>
                <a:spcPts val="400"/>
              </a:spcBef>
              <a:defRPr sz="2100">
                <a:solidFill>
                  <a:srgbClr val="222222"/>
                </a:solidFill>
                <a:latin typeface="Times New Roman"/>
              </a:defRPr>
            </a:pPr>
            <a:r>
              <a:t>A Hands-On Secure Coding Practice and Multi-Engine Evaluation Platform</a:t>
            </a:r>
          </a:p>
        </p:txBody>
      </p:sp>
      <p:sp>
        <p:nvSpPr>
          <p:cNvPr id="7" name="TextBox 6"/>
          <p:cNvSpPr txBox="1"/>
          <p:nvPr/>
        </p:nvSpPr>
        <p:spPr>
          <a:xfrm>
            <a:off x="731520" y="3749039"/>
            <a:ext cx="10698480" cy="1477328"/>
          </a:xfrm>
          <a:prstGeom prst="rect">
            <a:avLst/>
          </a:prstGeom>
          <a:noFill/>
        </p:spPr>
        <p:txBody>
          <a:bodyPr wrap="square" lIns="0" tIns="0" rIns="0" bIns="0">
            <a:spAutoFit/>
          </a:bodyPr>
          <a:lstStyle/>
          <a:p>
            <a:pPr algn="ctr">
              <a:defRPr sz="2000" b="1">
                <a:solidFill>
                  <a:srgbClr val="C00000"/>
                </a:solidFill>
                <a:latin typeface="Times New Roman"/>
              </a:defRPr>
            </a:pPr>
            <a:r>
              <a:rPr>
                <a:solidFill>
                  <a:schemeClr val="bg1"/>
                </a:solidFill>
              </a:rPr>
              <a:t>Group ID: A10   |   BE - Computer Engineering (Comps A)</a:t>
            </a:r>
          </a:p>
          <a:p>
            <a:pPr algn="ctr">
              <a:spcBef>
                <a:spcPts val="600"/>
              </a:spcBef>
              <a:spcAft>
                <a:spcPts val="1400"/>
              </a:spcAft>
              <a:defRPr sz="2000" b="1">
                <a:solidFill>
                  <a:srgbClr val="1F4E79"/>
                </a:solidFill>
                <a:latin typeface="Times New Roman"/>
              </a:defRPr>
            </a:pPr>
            <a:r>
              <a:rPr>
                <a:solidFill>
                  <a:schemeClr val="bg1"/>
                </a:solidFill>
              </a:rPr>
              <a:t>Under the Guidance of: Prof. Mohini Misale</a:t>
            </a:r>
          </a:p>
          <a:p>
            <a:pPr algn="ctr">
              <a:defRPr sz="1800" b="1">
                <a:solidFill>
                  <a:srgbClr val="222222"/>
                </a:solidFill>
                <a:latin typeface="Times New Roman"/>
              </a:defRPr>
            </a:pPr>
            <a:r>
              <a:rPr>
                <a:solidFill>
                  <a:schemeClr val="bg1"/>
                </a:solidFill>
              </a:rPr>
              <a:t>Project Team Members:</a:t>
            </a:r>
          </a:p>
          <a:p>
            <a:pPr algn="ctr">
              <a:spcBef>
                <a:spcPts val="400"/>
              </a:spcBef>
              <a:defRPr sz="1800" b="1">
                <a:solidFill>
                  <a:srgbClr val="222222"/>
                </a:solidFill>
                <a:latin typeface="Times New Roman"/>
              </a:defRPr>
            </a:pPr>
            <a:r>
              <a:rPr>
                <a:solidFill>
                  <a:schemeClr val="bg1"/>
                </a:solidFill>
              </a:rPr>
              <a:t>Harsh Jain (A-58)   •   Atharva Kadam (A-54)   •   Sayli Vekhande (A-63)   •   Arya Ratnaker (A-47)</a:t>
            </a:r>
          </a:p>
        </p:txBody>
      </p:sp>
    </p:spTree>
    <p:extLst>
      <p:ext uri="{BB962C8B-B14F-4D97-AF65-F5344CB8AC3E}">
        <p14:creationId xmlns:p14="http://schemas.microsoft.com/office/powerpoint/2010/main" val="3814721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00D3B9-E8D5-D2AD-0079-BD0246B01951}"/>
              </a:ext>
            </a:extLst>
          </p:cNvPr>
          <p:cNvPicPr>
            <a:picLocks noChangeAspect="1"/>
          </p:cNvPicPr>
          <p:nvPr/>
        </p:nvPicPr>
        <p:blipFill rotWithShape="1">
          <a:blip r:embed="rId2"/>
          <a:srcRect r="4112"/>
          <a:stretch/>
        </p:blipFill>
        <p:spPr>
          <a:xfrm>
            <a:off x="397476" y="235847"/>
            <a:ext cx="1736764" cy="759555"/>
          </a:xfrm>
          <a:prstGeom prst="rect">
            <a:avLst/>
          </a:prstGeom>
        </p:spPr>
      </p:pic>
      <p:graphicFrame>
        <p:nvGraphicFramePr>
          <p:cNvPr id="4" name="Table 3">
            <a:extLst>
              <a:ext uri="{FF2B5EF4-FFF2-40B4-BE49-F238E27FC236}">
                <a16:creationId xmlns:a16="http://schemas.microsoft.com/office/drawing/2014/main" id="{E1D33DFE-D194-86E6-F7A1-378404E4C5AC}"/>
              </a:ext>
            </a:extLst>
          </p:cNvPr>
          <p:cNvGraphicFramePr>
            <a:graphicFrameLocks noGrp="1"/>
          </p:cNvGraphicFramePr>
          <p:nvPr/>
        </p:nvGraphicFramePr>
        <p:xfrm>
          <a:off x="2134240" y="1164771"/>
          <a:ext cx="7930241" cy="5334584"/>
        </p:xfrm>
        <a:graphic>
          <a:graphicData uri="http://schemas.openxmlformats.org/drawingml/2006/table">
            <a:tbl>
              <a:tblPr firstRow="1" bandRow="1">
                <a:tableStyleId>{5C22544A-7EE6-4342-B048-85BDC9FD1C3A}</a:tableStyleId>
              </a:tblPr>
              <a:tblGrid>
                <a:gridCol w="1263293">
                  <a:extLst>
                    <a:ext uri="{9D8B030D-6E8A-4147-A177-3AD203B41FA5}">
                      <a16:colId xmlns:a16="http://schemas.microsoft.com/office/drawing/2014/main" val="3554599143"/>
                    </a:ext>
                  </a:extLst>
                </a:gridCol>
                <a:gridCol w="3333474">
                  <a:extLst>
                    <a:ext uri="{9D8B030D-6E8A-4147-A177-3AD203B41FA5}">
                      <a16:colId xmlns:a16="http://schemas.microsoft.com/office/drawing/2014/main" val="3849773313"/>
                    </a:ext>
                  </a:extLst>
                </a:gridCol>
                <a:gridCol w="3333474">
                  <a:extLst>
                    <a:ext uri="{9D8B030D-6E8A-4147-A177-3AD203B41FA5}">
                      <a16:colId xmlns:a16="http://schemas.microsoft.com/office/drawing/2014/main" val="310206491"/>
                    </a:ext>
                  </a:extLst>
                </a:gridCol>
              </a:tblGrid>
              <a:tr h="351954">
                <a:tc>
                  <a:txBody>
                    <a:bodyPr/>
                    <a:lstStyle/>
                    <a:p>
                      <a:r>
                        <a:rPr lang="en-US" sz="1500" dirty="0" err="1">
                          <a:latin typeface="Times New Roman" panose="02020603050405020304" pitchFamily="18" charset="0"/>
                          <a:cs typeface="Times New Roman" panose="02020603050405020304" pitchFamily="18" charset="0"/>
                        </a:rPr>
                        <a:t>Sr.No</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Table of Contents</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Page No.</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8781022"/>
                  </a:ext>
                </a:extLst>
              </a:tr>
              <a:tr h="360116">
                <a:tc>
                  <a:txBody>
                    <a:bodyPr/>
                    <a:lstStyle/>
                    <a:p>
                      <a:r>
                        <a:rPr lang="en-US" sz="1500" dirty="0">
                          <a:latin typeface="Times New Roman" panose="02020603050405020304" pitchFamily="18" charset="0"/>
                          <a:cs typeface="Times New Roman" panose="02020603050405020304" pitchFamily="18" charset="0"/>
                        </a:rPr>
                        <a:t>1</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Abstract</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3</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9111708"/>
                  </a:ext>
                </a:extLst>
              </a:tr>
              <a:tr h="360116">
                <a:tc>
                  <a:txBody>
                    <a:bodyPr/>
                    <a:lstStyle/>
                    <a:p>
                      <a:r>
                        <a:rPr lang="en-US" sz="1500" dirty="0">
                          <a:latin typeface="Times New Roman" panose="02020603050405020304" pitchFamily="18" charset="0"/>
                          <a:cs typeface="Times New Roman" panose="02020603050405020304" pitchFamily="18" charset="0"/>
                        </a:rPr>
                        <a:t>2</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Introduction</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4</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0359754"/>
                  </a:ext>
                </a:extLst>
              </a:tr>
              <a:tr h="360116">
                <a:tc>
                  <a:txBody>
                    <a:bodyPr/>
                    <a:lstStyle/>
                    <a:p>
                      <a:r>
                        <a:rPr lang="en-US" sz="1500" dirty="0">
                          <a:latin typeface="Times New Roman" panose="02020603050405020304" pitchFamily="18" charset="0"/>
                          <a:cs typeface="Times New Roman" panose="02020603050405020304" pitchFamily="18" charset="0"/>
                        </a:rPr>
                        <a:t>3</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Literature Survey</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5</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5943716"/>
                  </a:ext>
                </a:extLst>
              </a:tr>
              <a:tr h="360116">
                <a:tc>
                  <a:txBody>
                    <a:bodyPr/>
                    <a:lstStyle/>
                    <a:p>
                      <a:r>
                        <a:rPr lang="en-US" sz="1500" dirty="0">
                          <a:latin typeface="Times New Roman" panose="02020603050405020304" pitchFamily="18" charset="0"/>
                          <a:cs typeface="Times New Roman" panose="02020603050405020304" pitchFamily="18" charset="0"/>
                        </a:rPr>
                        <a:t>4</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Research Gap</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6</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8934911"/>
                  </a:ext>
                </a:extLst>
              </a:tr>
              <a:tr h="360116">
                <a:tc>
                  <a:txBody>
                    <a:bodyPr/>
                    <a:lstStyle/>
                    <a:p>
                      <a:r>
                        <a:rPr lang="en-US" sz="1500" dirty="0">
                          <a:latin typeface="Times New Roman" panose="02020603050405020304" pitchFamily="18" charset="0"/>
                          <a:cs typeface="Times New Roman" panose="02020603050405020304" pitchFamily="18" charset="0"/>
                        </a:rPr>
                        <a:t>5</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Problem Statement</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7</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1951228"/>
                  </a:ext>
                </a:extLst>
              </a:tr>
              <a:tr h="360116">
                <a:tc>
                  <a:txBody>
                    <a:bodyPr/>
                    <a:lstStyle/>
                    <a:p>
                      <a:r>
                        <a:rPr lang="en-US" sz="1500" dirty="0">
                          <a:latin typeface="Times New Roman" panose="02020603050405020304" pitchFamily="18" charset="0"/>
                          <a:cs typeface="Times New Roman" panose="02020603050405020304" pitchFamily="18" charset="0"/>
                        </a:rPr>
                        <a:t>6</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Objective</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8</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409094"/>
                  </a:ext>
                </a:extLst>
              </a:tr>
              <a:tr h="360116">
                <a:tc>
                  <a:txBody>
                    <a:bodyPr/>
                    <a:lstStyle/>
                    <a:p>
                      <a:r>
                        <a:rPr lang="en-US" sz="1500" dirty="0">
                          <a:latin typeface="Times New Roman" panose="02020603050405020304" pitchFamily="18" charset="0"/>
                          <a:cs typeface="Times New Roman" panose="02020603050405020304" pitchFamily="18" charset="0"/>
                        </a:rPr>
                        <a:t>7</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Scope</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9</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0886838"/>
                  </a:ext>
                </a:extLst>
              </a:tr>
              <a:tr h="360116">
                <a:tc>
                  <a:txBody>
                    <a:bodyPr/>
                    <a:lstStyle/>
                    <a:p>
                      <a:r>
                        <a:rPr lang="en-US" sz="1500" dirty="0">
                          <a:latin typeface="Times New Roman" panose="02020603050405020304" pitchFamily="18" charset="0"/>
                          <a:cs typeface="Times New Roman" panose="02020603050405020304" pitchFamily="18" charset="0"/>
                        </a:rPr>
                        <a:t>8</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SRS</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10</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32397108"/>
                  </a:ext>
                </a:extLst>
              </a:tr>
              <a:tr h="328105">
                <a:tc>
                  <a:txBody>
                    <a:bodyPr/>
                    <a:lstStyle/>
                    <a:p>
                      <a:r>
                        <a:rPr lang="en-US" sz="1500" dirty="0">
                          <a:latin typeface="Times New Roman" panose="02020603050405020304" pitchFamily="18" charset="0"/>
                          <a:cs typeface="Times New Roman" panose="02020603050405020304" pitchFamily="18" charset="0"/>
                        </a:rPr>
                        <a:t>9</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Proposed Architecture</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11</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4670501"/>
                  </a:ext>
                </a:extLst>
              </a:tr>
              <a:tr h="360116">
                <a:tc>
                  <a:txBody>
                    <a:bodyPr/>
                    <a:lstStyle/>
                    <a:p>
                      <a:r>
                        <a:rPr lang="en-US" sz="1500" dirty="0">
                          <a:latin typeface="Times New Roman" panose="02020603050405020304" pitchFamily="18" charset="0"/>
                          <a:cs typeface="Times New Roman" panose="02020603050405020304" pitchFamily="18" charset="0"/>
                        </a:rPr>
                        <a:t>10</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Use Case Diagram</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12</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5840256"/>
                  </a:ext>
                </a:extLst>
              </a:tr>
              <a:tr h="360116">
                <a:tc>
                  <a:txBody>
                    <a:bodyPr/>
                    <a:lstStyle/>
                    <a:p>
                      <a:r>
                        <a:rPr lang="en-US" sz="1500" dirty="0">
                          <a:latin typeface="Times New Roman" panose="02020603050405020304" pitchFamily="18" charset="0"/>
                          <a:cs typeface="Times New Roman" panose="02020603050405020304" pitchFamily="18" charset="0"/>
                        </a:rPr>
                        <a:t>11</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Activity Diagram</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13</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9245363"/>
                  </a:ext>
                </a:extLst>
              </a:tr>
              <a:tr h="333133">
                <a:tc>
                  <a:txBody>
                    <a:bodyPr/>
                    <a:lstStyle/>
                    <a:p>
                      <a:r>
                        <a:rPr lang="en-US" sz="1500" dirty="0">
                          <a:latin typeface="Times New Roman" panose="02020603050405020304" pitchFamily="18" charset="0"/>
                          <a:cs typeface="Times New Roman" panose="02020603050405020304" pitchFamily="18" charset="0"/>
                        </a:rPr>
                        <a:t>12</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Hardware and Software used</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14</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6925791"/>
                  </a:ext>
                </a:extLst>
              </a:tr>
              <a:tr h="360116">
                <a:tc>
                  <a:txBody>
                    <a:bodyPr/>
                    <a:lstStyle/>
                    <a:p>
                      <a:r>
                        <a:rPr lang="en-US" sz="1500" dirty="0">
                          <a:latin typeface="Times New Roman" panose="02020603050405020304" pitchFamily="18" charset="0"/>
                          <a:cs typeface="Times New Roman" panose="02020603050405020304" pitchFamily="18" charset="0"/>
                        </a:rPr>
                        <a:t>13</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Conclusion</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15</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1379296"/>
                  </a:ext>
                </a:extLst>
              </a:tr>
              <a:tr h="360116">
                <a:tc>
                  <a:txBody>
                    <a:bodyPr/>
                    <a:lstStyle/>
                    <a:p>
                      <a:r>
                        <a:rPr lang="en-US" sz="1500" dirty="0">
                          <a:latin typeface="Times New Roman" panose="02020603050405020304" pitchFamily="18" charset="0"/>
                          <a:cs typeface="Times New Roman" panose="02020603050405020304" pitchFamily="18" charset="0"/>
                        </a:rPr>
                        <a:t>14</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References</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16</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4859389"/>
                  </a:ext>
                </a:extLst>
              </a:tr>
            </a:tbl>
          </a:graphicData>
        </a:graphic>
      </p:graphicFrame>
      <p:sp>
        <p:nvSpPr>
          <p:cNvPr id="8" name="TextBox 7">
            <a:extLst>
              <a:ext uri="{FF2B5EF4-FFF2-40B4-BE49-F238E27FC236}">
                <a16:creationId xmlns:a16="http://schemas.microsoft.com/office/drawing/2014/main" id="{003D9DD7-C6E3-5F37-78E6-B3C3C7727067}"/>
              </a:ext>
            </a:extLst>
          </p:cNvPr>
          <p:cNvSpPr txBox="1"/>
          <p:nvPr/>
        </p:nvSpPr>
        <p:spPr>
          <a:xfrm>
            <a:off x="4533899" y="545454"/>
            <a:ext cx="2394857" cy="553998"/>
          </a:xfrm>
          <a:prstGeom prst="rect">
            <a:avLst/>
          </a:prstGeom>
          <a:noFill/>
        </p:spPr>
        <p:txBody>
          <a:bodyPr wrap="square" rtlCol="0">
            <a:spAutoFit/>
          </a:bodyPr>
          <a:lstStyle/>
          <a:p>
            <a:pPr algn="ctr"/>
            <a:r>
              <a:rPr lang="en-US" sz="3000" dirty="0">
                <a:latin typeface="Times New Roman" panose="02020603050405020304" pitchFamily="18" charset="0"/>
                <a:cs typeface="Times New Roman" panose="02020603050405020304" pitchFamily="18" charset="0"/>
              </a:rPr>
              <a:t>INDEX</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205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3509-C5C8-528F-5EF9-600FBD5DA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A86D6-1D4F-B4A7-6CC0-E9870E04CF8C}"/>
              </a:ext>
            </a:extLst>
          </p:cNvPr>
          <p:cNvSpPr>
            <a:spLocks noGrp="1"/>
          </p:cNvSpPr>
          <p:nvPr>
            <p:ph type="title"/>
          </p:nvPr>
        </p:nvSpPr>
        <p:spPr>
          <a:xfrm>
            <a:off x="4616374" y="869866"/>
            <a:ext cx="2959249" cy="836322"/>
          </a:xfrm>
        </p:spPr>
        <p:txBody>
          <a:bodyPr>
            <a:normAutofit/>
          </a:bodyPr>
          <a:lstStyle/>
          <a:p>
            <a:r>
              <a:rPr lang="en-US" sz="4000" dirty="0">
                <a:latin typeface="Times New Roman" panose="02020603050405020304" pitchFamily="18" charset="0"/>
                <a:cs typeface="Times New Roman" panose="02020603050405020304" pitchFamily="18" charset="0"/>
              </a:rPr>
              <a:t>Abstract</a:t>
            </a:r>
          </a:p>
        </p:txBody>
      </p:sp>
      <p:pic>
        <p:nvPicPr>
          <p:cNvPr id="4" name="Picture 3">
            <a:extLst>
              <a:ext uri="{FF2B5EF4-FFF2-40B4-BE49-F238E27FC236}">
                <a16:creationId xmlns:a16="http://schemas.microsoft.com/office/drawing/2014/main" id="{4DB77735-5341-CBD7-05F8-F8DAD69C05A9}"/>
              </a:ext>
            </a:extLst>
          </p:cNvPr>
          <p:cNvPicPr>
            <a:picLocks noChangeAspect="1"/>
          </p:cNvPicPr>
          <p:nvPr/>
        </p:nvPicPr>
        <p:blipFill rotWithShape="1">
          <a:blip r:embed="rId2"/>
          <a:srcRect r="4112"/>
          <a:stretch/>
        </p:blipFill>
        <p:spPr>
          <a:xfrm>
            <a:off x="299505" y="208633"/>
            <a:ext cx="1736764" cy="759555"/>
          </a:xfrm>
          <a:prstGeom prst="rect">
            <a:avLst/>
          </a:prstGeom>
        </p:spPr>
      </p:pic>
      <p:sp>
        <p:nvSpPr>
          <p:cNvPr id="5" name="TextBox 4">
            <a:extLst>
              <a:ext uri="{FF2B5EF4-FFF2-40B4-BE49-F238E27FC236}">
                <a16:creationId xmlns:a16="http://schemas.microsoft.com/office/drawing/2014/main" id="{EDA14B0F-D3F3-0C9E-7506-90E25BEB5F7E}"/>
              </a:ext>
            </a:extLst>
          </p:cNvPr>
          <p:cNvSpPr txBox="1"/>
          <p:nvPr/>
        </p:nvSpPr>
        <p:spPr>
          <a:xfrm>
            <a:off x="433669" y="1946787"/>
            <a:ext cx="11324661" cy="3970318"/>
          </a:xfrm>
          <a:prstGeom prst="rect">
            <a:avLst/>
          </a:prstGeom>
          <a:noFill/>
        </p:spPr>
        <p:txBody>
          <a:bodyPr wrap="square" rtlCol="0">
            <a:spAutoFit/>
          </a:bodyPr>
          <a:lstStyle/>
          <a:p>
            <a:pPr marL="285750" lvl="0" indent="-285750">
              <a:buFont typeface="Arial" panose="020B0604020202020204" pitchFamily="34" charset="0"/>
              <a:buChar char="•"/>
            </a:pPr>
            <a:r>
              <a:rPr lang="en-IN"/>
              <a:t>SecureCode AI is a web-based secure coding practice platform designed to help students learn how to identify and fix security vulnerabilities through hands-on coding challenges.</a:t>
            </a:r>
          </a:p>
          <a:p>
            <a:pPr marL="285750" lvl="0" indent="-285750">
              <a:buFont typeface="Arial" panose="020B0604020202020204" pitchFamily="34" charset="0"/>
              <a:buChar char="•"/>
            </a:pPr>
            <a:r>
              <a:rPr lang="en-IN"/>
              <a:t>Unlike traditional coding platforms, it evaluates both functional correctness (whether the code works correctly) and security correctness (whether the code follows secure coding practices).</a:t>
            </a:r>
          </a:p>
          <a:p>
            <a:pPr marL="285750" lvl="0" indent="-285750">
              <a:buFont typeface="Arial" panose="020B0604020202020204" pitchFamily="34" charset="0"/>
              <a:buChar char="•"/>
            </a:pPr>
            <a:r>
              <a:rPr lang="en-IN"/>
              <a:t>The platform uses Judge0 for code execution, Semgrep and SpotBugs/FindSecBugs for static security analysis, and Groq AI for additional security advice.</a:t>
            </a:r>
          </a:p>
          <a:p>
            <a:pPr marL="285750" lvl="0" indent="-285750">
              <a:buFont typeface="Arial" panose="020B0604020202020204" pitchFamily="34" charset="0"/>
              <a:buChar char="•"/>
            </a:pPr>
            <a:r>
              <a:rPr lang="en-IN"/>
              <a:t>It provides 45 injection-based challenges covering SQL, NoSQL, Command, LDAP, XPath, and other injection vulnerabilities, with four difficulty levels.</a:t>
            </a:r>
          </a:p>
          <a:p>
            <a:pPr marL="285750" lvl="0" indent="-285750">
              <a:buFont typeface="Arial" panose="020B0604020202020204" pitchFamily="34" charset="0"/>
              <a:buChar char="•"/>
            </a:pPr>
            <a:r>
              <a:rPr lang="en-IN"/>
              <a:t>Features include an interactive code editor, tiered hints, conceptual understanding quizzes, submission history, and learning analytics.</a:t>
            </a:r>
          </a:p>
          <a:p>
            <a:pPr marL="285750" lvl="0" indent="-285750">
              <a:buFont typeface="Arial" panose="020B0604020202020204" pitchFamily="34" charset="0"/>
              <a:buChar char="•"/>
            </a:pPr>
            <a:r>
              <a:rPr lang="en-IN"/>
              <a:t>A four-pillar learning score measures functional correctness, security correctness, conceptual understanding, and independent problem-solving.</a:t>
            </a:r>
          </a:p>
          <a:p>
            <a:pPr marL="285750" lvl="0" indent="-285750">
              <a:buFont typeface="Arial" panose="020B0604020202020204" pitchFamily="34" charset="0"/>
              <a:buChar char="•"/>
            </a:pPr>
            <a:r>
              <a:rPr lang="en-IN"/>
              <a:t>The main goal is to help learners develop practical secure coding skills and build applications that are both functional and resistant to common vulnerabilities.</a:t>
            </a:r>
          </a:p>
        </p:txBody>
      </p:sp>
    </p:spTree>
    <p:extLst>
      <p:ext uri="{BB962C8B-B14F-4D97-AF65-F5344CB8AC3E}">
        <p14:creationId xmlns:p14="http://schemas.microsoft.com/office/powerpoint/2010/main" val="469010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CADC3-24A7-C2B8-DF51-BFB940C97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792B7-465E-3ED9-F9C0-2A4E66F31533}"/>
              </a:ext>
            </a:extLst>
          </p:cNvPr>
          <p:cNvSpPr>
            <a:spLocks noGrp="1"/>
          </p:cNvSpPr>
          <p:nvPr>
            <p:ph type="title"/>
          </p:nvPr>
        </p:nvSpPr>
        <p:spPr>
          <a:xfrm>
            <a:off x="3997336" y="727587"/>
            <a:ext cx="4197325" cy="994916"/>
          </a:xfrm>
        </p:spPr>
        <p:txBody>
          <a:bodyPr>
            <a:normAutofit/>
          </a:bodyPr>
          <a:lstStyle/>
          <a:p>
            <a:r>
              <a:rPr lang="en-IN" sz="4000">
                <a:latin typeface="Times New Roman" panose="02020603050405020304" pitchFamily="18" charset="0"/>
                <a:cs typeface="Times New Roman" panose="02020603050405020304" pitchFamily="18" charset="0"/>
              </a:rPr>
              <a:t>Introduction</a:t>
            </a:r>
            <a:endParaRPr lang="en-US"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9BBCD1-FB9C-7F66-7D6E-99CD70941953}"/>
              </a:ext>
            </a:extLst>
          </p:cNvPr>
          <p:cNvPicPr>
            <a:picLocks noChangeAspect="1"/>
          </p:cNvPicPr>
          <p:nvPr/>
        </p:nvPicPr>
        <p:blipFill rotWithShape="1">
          <a:blip r:embed="rId2"/>
          <a:srcRect r="4112"/>
          <a:stretch/>
        </p:blipFill>
        <p:spPr>
          <a:xfrm>
            <a:off x="299505" y="208633"/>
            <a:ext cx="1736764" cy="759555"/>
          </a:xfrm>
          <a:prstGeom prst="rect">
            <a:avLst/>
          </a:prstGeom>
        </p:spPr>
      </p:pic>
      <p:sp>
        <p:nvSpPr>
          <p:cNvPr id="5" name="TextBox 4">
            <a:extLst>
              <a:ext uri="{FF2B5EF4-FFF2-40B4-BE49-F238E27FC236}">
                <a16:creationId xmlns:a16="http://schemas.microsoft.com/office/drawing/2014/main" id="{39FE5DE7-AF96-DF79-DF90-F68BC3CA1ADD}"/>
              </a:ext>
            </a:extLst>
          </p:cNvPr>
          <p:cNvSpPr txBox="1"/>
          <p:nvPr/>
        </p:nvSpPr>
        <p:spPr>
          <a:xfrm>
            <a:off x="433669" y="1946787"/>
            <a:ext cx="11324661" cy="4524315"/>
          </a:xfrm>
          <a:prstGeom prst="rect">
            <a:avLst/>
          </a:prstGeom>
          <a:noFill/>
        </p:spPr>
        <p:txBody>
          <a:bodyPr wrap="square" rtlCol="0">
            <a:spAutoFit/>
          </a:bodyPr>
          <a:lstStyle/>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Modern applications are widely used in banking, healthcare, e-commerce, education, and other important sectors. Protecting their data and functionality is essential.</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Software vulnerabilities such as SQL Injection and Command Injection can allow attackers to access sensitive information, modify data, or execute unauthorized commands.</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Traditional coding platforms mainly evaluate program output and functional correctness. They may accept a solution even when its implementation contains security weaknesses.</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Existing cybersecurity learning platforms often focus on penetration testing and exploiting vulnerabilities, while learners also need practical experience in writing and fixing secure source code.</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SecureCode AI addresses this gap by combining coding practice, automated functional testing, multi-engine security analysis, and understandable remediation feedback in one platform.</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Students can solve challenges, receive hints, review security findings, answer conceptual questions, and track their progress through learning analytics.</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 platform follows a shift-left security approach, encouraging developers to identify and prevent vulnerabilities during coding rather than waiting until an application is deployed.</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Overall, SecureCode AI aims to develop a security-focused programming mindset and help learners write code that is both functionally correct and secure.</a:t>
            </a:r>
          </a:p>
        </p:txBody>
      </p:sp>
    </p:spTree>
    <p:extLst>
      <p:ext uri="{BB962C8B-B14F-4D97-AF65-F5344CB8AC3E}">
        <p14:creationId xmlns:p14="http://schemas.microsoft.com/office/powerpoint/2010/main" val="3967529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8142932-46E3-2271-3FD1-F5CD508F2434}"/>
              </a:ext>
            </a:extLst>
          </p:cNvPr>
          <p:cNvGraphicFramePr>
            <a:graphicFrameLocks noGrp="1"/>
          </p:cNvGraphicFramePr>
          <p:nvPr>
            <p:extLst>
              <p:ext uri="{D42A27DB-BD31-4B8C-83A1-F6EECF244321}">
                <p14:modId xmlns:p14="http://schemas.microsoft.com/office/powerpoint/2010/main" val="274217484"/>
              </p:ext>
            </p:extLst>
          </p:nvPr>
        </p:nvGraphicFramePr>
        <p:xfrm>
          <a:off x="367633" y="1127760"/>
          <a:ext cx="11456733" cy="5730240"/>
        </p:xfrm>
        <a:graphic>
          <a:graphicData uri="http://schemas.openxmlformats.org/drawingml/2006/table">
            <a:tbl>
              <a:tblPr firstRow="1" bandRow="1">
                <a:tableStyleId>{5C22544A-7EE6-4342-B048-85BDC9FD1C3A}</a:tableStyleId>
              </a:tblPr>
              <a:tblGrid>
                <a:gridCol w="535859">
                  <a:extLst>
                    <a:ext uri="{9D8B030D-6E8A-4147-A177-3AD203B41FA5}">
                      <a16:colId xmlns:a16="http://schemas.microsoft.com/office/drawing/2014/main" val="1425768034"/>
                    </a:ext>
                  </a:extLst>
                </a:gridCol>
                <a:gridCol w="2429643">
                  <a:extLst>
                    <a:ext uri="{9D8B030D-6E8A-4147-A177-3AD203B41FA5}">
                      <a16:colId xmlns:a16="http://schemas.microsoft.com/office/drawing/2014/main" val="3814177953"/>
                    </a:ext>
                  </a:extLst>
                </a:gridCol>
                <a:gridCol w="2841523">
                  <a:extLst>
                    <a:ext uri="{9D8B030D-6E8A-4147-A177-3AD203B41FA5}">
                      <a16:colId xmlns:a16="http://schemas.microsoft.com/office/drawing/2014/main" val="1340773443"/>
                    </a:ext>
                  </a:extLst>
                </a:gridCol>
                <a:gridCol w="2487561">
                  <a:extLst>
                    <a:ext uri="{9D8B030D-6E8A-4147-A177-3AD203B41FA5}">
                      <a16:colId xmlns:a16="http://schemas.microsoft.com/office/drawing/2014/main" val="281377767"/>
                    </a:ext>
                  </a:extLst>
                </a:gridCol>
                <a:gridCol w="3162147">
                  <a:extLst>
                    <a:ext uri="{9D8B030D-6E8A-4147-A177-3AD203B41FA5}">
                      <a16:colId xmlns:a16="http://schemas.microsoft.com/office/drawing/2014/main" val="80272989"/>
                    </a:ext>
                  </a:extLst>
                </a:gridCol>
              </a:tblGrid>
              <a:tr h="570642">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771995">
                <a:tc>
                  <a:txBody>
                    <a:bodyPr/>
                    <a:lstStyle/>
                    <a:p>
                      <a:r>
                        <a:rPr lang="en-IN" sz="1600">
                          <a:latin typeface="Times New Roman" panose="02020603050405020304" pitchFamily="18" charset="0"/>
                          <a:cs typeface="Times New Roman" panose="02020603050405020304" pitchFamily="18" charset="0"/>
                        </a:rPr>
                        <a:t>1</a:t>
                      </a:r>
                    </a:p>
                  </a:txBody>
                  <a:tcPr/>
                </a:tc>
                <a:tc>
                  <a:txBody>
                    <a:bodyPr/>
                    <a:lstStyle/>
                    <a:p>
                      <a:r>
                        <a:rPr lang="en-IN" sz="1600" b="1">
                          <a:latin typeface="Times New Roman" panose="02020603050405020304" pitchFamily="18" charset="0"/>
                          <a:cs typeface="Times New Roman" panose="02020603050405020304" pitchFamily="18" charset="0"/>
                        </a:rPr>
                        <a:t>Secure Coding with AI – From Detection to Repair</a:t>
                      </a:r>
                      <a:r>
                        <a:rPr lang="en-IN" sz="1600">
                          <a:latin typeface="Times New Roman" panose="02020603050405020304" pitchFamily="18" charset="0"/>
                          <a:cs typeface="Times New Roman" panose="02020603050405020304" pitchFamily="18" charset="0"/>
                        </a:rPr>
                        <a:t> (Vladislav Belozerov, Peter J. Barclay, Ashkan Sami, 2026)</a:t>
                      </a:r>
                    </a:p>
                  </a:txBody>
                  <a:tcPr/>
                </a:tc>
                <a:tc>
                  <a:txBody>
                    <a:bodyPr/>
                    <a:lstStyle/>
                    <a:p>
                      <a:r>
                        <a:rPr lang="en-IN" sz="1600">
                          <a:latin typeface="Times New Roman" panose="02020603050405020304" pitchFamily="18" charset="0"/>
                          <a:cs typeface="Times New Roman" panose="02020603050405020304" pitchFamily="18" charset="0"/>
                        </a:rPr>
                        <a:t>Evaluated GPT-4.1, GPT-5 and Claude for real-world vulnerability detection and repair. Modern LLMs repaired around 75–80% of detected vulnerabilities.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Secrets, Integer Overflow, Memory Corruption, Input Validation flaws</a:t>
                      </a:r>
                    </a:p>
                  </a:txBody>
                  <a:tcPr/>
                </a:tc>
                <a:tc>
                  <a:txBody>
                    <a:bodyPr/>
                    <a:lstStyle/>
                    <a:p>
                      <a:r>
                        <a:rPr lang="en-IN" sz="1600">
                          <a:latin typeface="Times New Roman" panose="02020603050405020304" pitchFamily="18" charset="0"/>
                          <a:cs typeface="Times New Roman" panose="02020603050405020304" pitchFamily="18" charset="0"/>
                        </a:rPr>
                        <a:t>Focuses only on evaluating LLMs for vulnerability detection and repair. Does not provide an interactive secure coding practice platform, coding challenges, learner progress tracking, or AI-assisted educational feedback.</a:t>
                      </a:r>
                    </a:p>
                  </a:txBody>
                  <a:tcPr/>
                </a:tc>
                <a:extLst>
                  <a:ext uri="{0D108BD9-81ED-4DB2-BD59-A6C34878D82A}">
                    <a16:rowId xmlns:a16="http://schemas.microsoft.com/office/drawing/2014/main" val="1214652384"/>
                  </a:ext>
                </a:extLst>
              </a:tr>
              <a:tr h="1549191">
                <a:tc>
                  <a:txBody>
                    <a:bodyPr/>
                    <a:lstStyle/>
                    <a:p>
                      <a:r>
                        <a:rPr lang="en-IN" sz="1600">
                          <a:latin typeface="Times New Roman" panose="02020603050405020304" pitchFamily="18" charset="0"/>
                          <a:cs typeface="Times New Roman" panose="02020603050405020304" pitchFamily="18" charset="0"/>
                        </a:rPr>
                        <a:t>2</a:t>
                      </a:r>
                    </a:p>
                  </a:txBody>
                  <a:tcPr/>
                </a:tc>
                <a:tc>
                  <a:txBody>
                    <a:bodyPr/>
                    <a:lstStyle/>
                    <a:p>
                      <a:r>
                        <a:rPr lang="en-IN" sz="1600" b="1">
                          <a:latin typeface="Times New Roman" panose="02020603050405020304" pitchFamily="18" charset="0"/>
                          <a:cs typeface="Times New Roman" panose="02020603050405020304" pitchFamily="18" charset="0"/>
                        </a:rPr>
                        <a:t>An Empirical Study on LLM-Driven Secure Code Generation</a:t>
                      </a:r>
                      <a:r>
                        <a:rPr lang="en-IN" sz="1600">
                          <a:latin typeface="Times New Roman" panose="02020603050405020304" pitchFamily="18" charset="0"/>
                          <a:cs typeface="Times New Roman" panose="02020603050405020304" pitchFamily="18" charset="0"/>
                        </a:rPr>
                        <a:t> (Hao Yan, Swapneel S. Vaidya, Xiaokuan Zhang, Ziyu Yao, 2025)</a:t>
                      </a:r>
                    </a:p>
                  </a:txBody>
                  <a:tcPr/>
                </a:tc>
                <a:tc>
                  <a:txBody>
                    <a:bodyPr/>
                    <a:lstStyle/>
                    <a:p>
                      <a:r>
                        <a:rPr lang="en-IN" sz="1600">
                          <a:latin typeface="Times New Roman" panose="02020603050405020304" pitchFamily="18" charset="0"/>
                          <a:cs typeface="Times New Roman" panose="02020603050405020304" pitchFamily="18" charset="0"/>
                        </a:rPr>
                        <a:t>Demonstrated that self-generated vulnerability hints significantly improve secure code generation and vulnerability repair by LLMs.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Credentials, Weak Input Validation</a:t>
                      </a:r>
                    </a:p>
                  </a:txBody>
                  <a:tcPr/>
                </a:tc>
                <a:tc>
                  <a:txBody>
                    <a:bodyPr/>
                    <a:lstStyle/>
                    <a:p>
                      <a:r>
                        <a:rPr lang="en-IN" sz="1600">
                          <a:latin typeface="Times New Roman" panose="02020603050405020304" pitchFamily="18" charset="0"/>
                          <a:cs typeface="Times New Roman" panose="02020603050405020304" pitchFamily="18" charset="0"/>
                        </a:rPr>
                        <a:t>Focuses on improving LLM code generation rather than building a learning platform. Does not support secure coding exercises, user assessment, or personalized developer learning.</a:t>
                      </a:r>
                    </a:p>
                  </a:txBody>
                  <a:tcPr/>
                </a:tc>
                <a:extLst>
                  <a:ext uri="{0D108BD9-81ED-4DB2-BD59-A6C34878D82A}">
                    <a16:rowId xmlns:a16="http://schemas.microsoft.com/office/drawing/2014/main" val="3675125292"/>
                  </a:ext>
                </a:extLst>
              </a:tr>
              <a:tr h="1771995">
                <a:tc>
                  <a:txBody>
                    <a:bodyPr/>
                    <a:lstStyle/>
                    <a:p>
                      <a:r>
                        <a:rPr lang="en-IN" sz="1600">
                          <a:latin typeface="Times New Roman" panose="02020603050405020304" pitchFamily="18" charset="0"/>
                          <a:cs typeface="Times New Roman" panose="02020603050405020304" pitchFamily="18" charset="0"/>
                        </a:rPr>
                        <a:t>3</a:t>
                      </a:r>
                    </a:p>
                  </a:txBody>
                  <a:tcPr/>
                </a:tc>
                <a:tc>
                  <a:txBody>
                    <a:bodyPr/>
                    <a:lstStyle/>
                    <a:p>
                      <a:r>
                        <a:rPr lang="en-IN" sz="1600" b="1">
                          <a:latin typeface="Times New Roman" panose="02020603050405020304" pitchFamily="18" charset="0"/>
                          <a:cs typeface="Times New Roman" panose="02020603050405020304" pitchFamily="18" charset="0"/>
                        </a:rPr>
                        <a:t>Design of Secure Coding Challenges for Cybersecurity Education in the Industry</a:t>
                      </a:r>
                      <a:r>
                        <a:rPr lang="en-IN" sz="1600">
                          <a:latin typeface="Times New Roman" panose="02020603050405020304" pitchFamily="18" charset="0"/>
                          <a:cs typeface="Times New Roman" panose="02020603050405020304" pitchFamily="18" charset="0"/>
                        </a:rPr>
                        <a:t> (Tiago Gasiba, Ulrike Lechner, Maria Pinto-Albuquerque, Alae Zouitni, 2021) </a:t>
                      </a:r>
                    </a:p>
                  </a:txBody>
                  <a:tcPr/>
                </a:tc>
                <a:tc>
                  <a:txBody>
                    <a:bodyPr/>
                    <a:lstStyle/>
                    <a:p>
                      <a:pPr rtl="0" eaLnBrk="1" latinLnBrk="0" hangingPunct="1"/>
                      <a:r>
                        <a:rPr lang="en-IN" sz="1800" kern="1200">
                          <a:solidFill>
                            <a:schemeClr val="dk1"/>
                          </a:solidFill>
                          <a:effectLst/>
                          <a:latin typeface="+mn-lt"/>
                          <a:ea typeface="+mn-ea"/>
                          <a:cs typeface="+mn-cs"/>
                        </a:rPr>
                        <a:t>Introduces Capture-the-Flag (CTF) challenge structures to improve developers' secure coding skills.</a:t>
                      </a:r>
                      <a:endParaRPr lang="en-IN" sz="1600">
                        <a:effectLs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SQL Injection, XSS, Buffer Overflow, Authentication flaws, Secure Coding Practices</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Provides challenge design only. Does not include automated code evaluation, AI-generated explanations, adaptive learning, or progress tracking.</a:t>
                      </a:r>
                      <a:endParaRPr lang="en-IN" sz="1600">
                        <a:effectLst/>
                      </a:endParaRPr>
                    </a:p>
                  </a:txBody>
                  <a:tcPr/>
                </a:tc>
                <a:extLst>
                  <a:ext uri="{0D108BD9-81ED-4DB2-BD59-A6C34878D82A}">
                    <a16:rowId xmlns:a16="http://schemas.microsoft.com/office/drawing/2014/main" val="4275212338"/>
                  </a:ext>
                </a:extLst>
              </a:tr>
            </a:tbl>
          </a:graphicData>
        </a:graphic>
      </p:graphicFrame>
      <p:sp>
        <p:nvSpPr>
          <p:cNvPr id="4" name="TextBox 3">
            <a:extLst>
              <a:ext uri="{FF2B5EF4-FFF2-40B4-BE49-F238E27FC236}">
                <a16:creationId xmlns:a16="http://schemas.microsoft.com/office/drawing/2014/main" id="{89FBD35D-A56A-F065-BE2A-D21A3CBC2059}"/>
              </a:ext>
            </a:extLst>
          </p:cNvPr>
          <p:cNvSpPr txBox="1"/>
          <p:nvPr/>
        </p:nvSpPr>
        <p:spPr>
          <a:xfrm>
            <a:off x="4201089" y="422786"/>
            <a:ext cx="3789820" cy="707886"/>
          </a:xfrm>
          <a:prstGeom prst="rect">
            <a:avLst/>
          </a:prstGeom>
          <a:noFill/>
        </p:spPr>
        <p:txBody>
          <a:bodyPr wrap="none" rtlCol="0">
            <a:spAutoFit/>
          </a:bodyPr>
          <a:lstStyle/>
          <a:p>
            <a:r>
              <a:rPr lang="en-IN" sz="400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958310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EBD3A37-C4CD-F443-D820-E2E0644B3F40}"/>
              </a:ext>
            </a:extLst>
          </p:cNvPr>
          <p:cNvGraphicFramePr>
            <a:graphicFrameLocks noGrp="1"/>
          </p:cNvGraphicFramePr>
          <p:nvPr>
            <p:extLst>
              <p:ext uri="{D42A27DB-BD31-4B8C-83A1-F6EECF244321}">
                <p14:modId xmlns:p14="http://schemas.microsoft.com/office/powerpoint/2010/main" val="2216469173"/>
              </p:ext>
            </p:extLst>
          </p:nvPr>
        </p:nvGraphicFramePr>
        <p:xfrm>
          <a:off x="132736" y="337696"/>
          <a:ext cx="11926527" cy="6385152"/>
        </p:xfrm>
        <a:graphic>
          <a:graphicData uri="http://schemas.openxmlformats.org/drawingml/2006/table">
            <a:tbl>
              <a:tblPr firstRow="1" bandRow="1">
                <a:tableStyleId>{5C22544A-7EE6-4342-B048-85BDC9FD1C3A}</a:tableStyleId>
              </a:tblPr>
              <a:tblGrid>
                <a:gridCol w="595818">
                  <a:extLst>
                    <a:ext uri="{9D8B030D-6E8A-4147-A177-3AD203B41FA5}">
                      <a16:colId xmlns:a16="http://schemas.microsoft.com/office/drawing/2014/main" val="1425768034"/>
                    </a:ext>
                  </a:extLst>
                </a:gridCol>
                <a:gridCol w="2861959">
                  <a:extLst>
                    <a:ext uri="{9D8B030D-6E8A-4147-A177-3AD203B41FA5}">
                      <a16:colId xmlns:a16="http://schemas.microsoft.com/office/drawing/2014/main" val="3814177953"/>
                    </a:ext>
                  </a:extLst>
                </a:gridCol>
                <a:gridCol w="2637890">
                  <a:extLst>
                    <a:ext uri="{9D8B030D-6E8A-4147-A177-3AD203B41FA5}">
                      <a16:colId xmlns:a16="http://schemas.microsoft.com/office/drawing/2014/main" val="1340773443"/>
                    </a:ext>
                  </a:extLst>
                </a:gridCol>
                <a:gridCol w="2525857">
                  <a:extLst>
                    <a:ext uri="{9D8B030D-6E8A-4147-A177-3AD203B41FA5}">
                      <a16:colId xmlns:a16="http://schemas.microsoft.com/office/drawing/2014/main" val="281377767"/>
                    </a:ext>
                  </a:extLst>
                </a:gridCol>
                <a:gridCol w="3305003">
                  <a:extLst>
                    <a:ext uri="{9D8B030D-6E8A-4147-A177-3AD203B41FA5}">
                      <a16:colId xmlns:a16="http://schemas.microsoft.com/office/drawing/2014/main" val="80272989"/>
                    </a:ext>
                  </a:extLst>
                </a:gridCol>
              </a:tblGrid>
              <a:tr h="679493">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308343">
                <a:tc>
                  <a:txBody>
                    <a:bodyPr/>
                    <a:lstStyle/>
                    <a:p>
                      <a:r>
                        <a:rPr lang="en-IN" sz="1600">
                          <a:latin typeface="Times New Roman" panose="02020603050405020304" pitchFamily="18" charset="0"/>
                          <a:cs typeface="Times New Roman" panose="02020603050405020304" pitchFamily="18" charset="0"/>
                        </a:rPr>
                        <a:t>4</a:t>
                      </a:r>
                    </a:p>
                  </a:txBody>
                  <a:tcPr/>
                </a:tc>
                <a:tc>
                  <a:txBody>
                    <a:bodyPr/>
                    <a:lstStyle/>
                    <a:p>
                      <a:r>
                        <a:rPr lang="en-IN" sz="1600" b="1">
                          <a:latin typeface="Times New Roman" panose="02020603050405020304" pitchFamily="18" charset="0"/>
                          <a:cs typeface="Times New Roman" panose="02020603050405020304" pitchFamily="18" charset="0"/>
                        </a:rPr>
                        <a:t>The Role of Generative AI in Strengthening Secure Software Coding Practices</a:t>
                      </a:r>
                      <a:r>
                        <a:rPr lang="en-IN" sz="1600">
                          <a:latin typeface="Times New Roman" panose="02020603050405020304" pitchFamily="18" charset="0"/>
                          <a:cs typeface="Times New Roman" panose="02020603050405020304" pitchFamily="18" charset="0"/>
                        </a:rPr>
                        <a:t> (Hathal S. Alwageed, Rafiq Ahmad Khan, 2025)</a:t>
                      </a:r>
                    </a:p>
                  </a:txBody>
                  <a:tcPr/>
                </a:tc>
                <a:tc>
                  <a:txBody>
                    <a:bodyPr/>
                    <a:lstStyle/>
                    <a:p>
                      <a:r>
                        <a:rPr lang="en-IN" sz="1600">
                          <a:latin typeface="Times New Roman" panose="02020603050405020304" pitchFamily="18" charset="0"/>
                          <a:cs typeface="Times New Roman" panose="02020603050405020304" pitchFamily="18" charset="0"/>
                        </a:rPr>
                        <a:t>Reviews how GenAI improves secure coding, vulnerability detection and developer productivity.</a:t>
                      </a:r>
                    </a:p>
                  </a:txBody>
                  <a:tcPr/>
                </a:tc>
                <a:tc>
                  <a:txBody>
                    <a:bodyPr/>
                    <a:lstStyle/>
                    <a:p>
                      <a:r>
                        <a:rPr lang="en-IN" sz="1600">
                          <a:latin typeface="Times New Roman" panose="02020603050405020304" pitchFamily="18" charset="0"/>
                          <a:cs typeface="Times New Roman" panose="02020603050405020304" pitchFamily="18" charset="0"/>
                        </a:rPr>
                        <a:t>SQL Injection, Cross-Site Scripting (XSS), Buffer Overflow, Input Validation issues</a:t>
                      </a:r>
                    </a:p>
                  </a:txBody>
                  <a:tcPr/>
                </a:tc>
                <a:tc>
                  <a:txBody>
                    <a:bodyPr/>
                    <a:lstStyle/>
                    <a:p>
                      <a:r>
                        <a:rPr lang="en-IN" sz="1600">
                          <a:latin typeface="Times New Roman" panose="02020603050405020304" pitchFamily="18" charset="0"/>
                          <a:cs typeface="Times New Roman" panose="02020603050405020304" pitchFamily="18" charset="0"/>
                        </a:rPr>
                        <a:t>Provides theoretical discussion only. No implementation of a secure coding platform, coding challenges, AI feedback, or vulnerability assessment workflow.</a:t>
                      </a:r>
                    </a:p>
                  </a:txBody>
                  <a:tcPr/>
                </a:tc>
                <a:extLst>
                  <a:ext uri="{0D108BD9-81ED-4DB2-BD59-A6C34878D82A}">
                    <a16:rowId xmlns:a16="http://schemas.microsoft.com/office/drawing/2014/main" val="1214652384"/>
                  </a:ext>
                </a:extLst>
              </a:tr>
              <a:tr h="1347019">
                <a:tc>
                  <a:txBody>
                    <a:bodyPr/>
                    <a:lstStyle/>
                    <a:p>
                      <a:r>
                        <a:rPr lang="en-IN" sz="1600">
                          <a:latin typeface="Times New Roman" panose="02020603050405020304" pitchFamily="18" charset="0"/>
                          <a:cs typeface="Times New Roman" panose="02020603050405020304" pitchFamily="18" charset="0"/>
                        </a:rPr>
                        <a:t>5</a:t>
                      </a:r>
                    </a:p>
                  </a:txBody>
                  <a:tcPr/>
                </a:tc>
                <a:tc>
                  <a:txBody>
                    <a:bodyPr/>
                    <a:lstStyle/>
                    <a:p>
                      <a:r>
                        <a:rPr lang="en-IN" sz="1600" b="1">
                          <a:latin typeface="Times New Roman" panose="02020603050405020304" pitchFamily="18" charset="0"/>
                          <a:cs typeface="Times New Roman" panose="02020603050405020304" pitchFamily="18" charset="0"/>
                        </a:rPr>
                        <a:t>Secure Coding with AI Coding Assistants: From Preventive to Reactive Security</a:t>
                      </a:r>
                      <a:r>
                        <a:rPr lang="en-IN" sz="1600">
                          <a:latin typeface="Times New Roman" panose="02020603050405020304" pitchFamily="18" charset="0"/>
                          <a:cs typeface="Times New Roman" panose="02020603050405020304" pitchFamily="18" charset="0"/>
                        </a:rPr>
                        <a:t> (Faisal Haque Bappy et al., 2026)</a:t>
                      </a:r>
                    </a:p>
                  </a:txBody>
                  <a:tcPr/>
                </a:tc>
                <a:tc>
                  <a:txBody>
                    <a:bodyPr/>
                    <a:lstStyle/>
                    <a:p>
                      <a:r>
                        <a:rPr lang="en-IN" sz="1600">
                          <a:latin typeface="Times New Roman" panose="02020603050405020304" pitchFamily="18" charset="0"/>
                          <a:cs typeface="Times New Roman" panose="02020603050405020304" pitchFamily="18" charset="0"/>
                        </a:rPr>
                        <a:t>Shows AI coding assistants shift developers from writing secure code proactively to reviewing security after code generation.</a:t>
                      </a:r>
                    </a:p>
                  </a:txBody>
                  <a:tcPr/>
                </a:tc>
                <a:tc>
                  <a:txBody>
                    <a:bodyPr/>
                    <a:lstStyle/>
                    <a:p>
                      <a:r>
                        <a:rPr lang="en-IN" sz="1600">
                          <a:latin typeface="Times New Roman" panose="02020603050405020304" pitchFamily="18" charset="0"/>
                          <a:cs typeface="Times New Roman" panose="02020603050405020304" pitchFamily="18" charset="0"/>
                        </a:rPr>
                        <a:t>General secure coding awareness for OWASP Top 10 vulnerabilities</a:t>
                      </a:r>
                    </a:p>
                  </a:txBody>
                  <a:tcPr/>
                </a:tc>
                <a:tc>
                  <a:txBody>
                    <a:bodyPr/>
                    <a:lstStyle/>
                    <a:p>
                      <a:r>
                        <a:rPr lang="en-IN" sz="1600">
                          <a:latin typeface="Times New Roman" panose="02020603050405020304" pitchFamily="18" charset="0"/>
                          <a:cs typeface="Times New Roman" panose="02020603050405020304" pitchFamily="18" charset="0"/>
                        </a:rPr>
                        <a:t>Focuses on developer behaviour rather than developing a secure coding education platform with automated vulnerability detection, scoring, and learning analytics.</a:t>
                      </a:r>
                    </a:p>
                  </a:txBody>
                  <a:tcPr/>
                </a:tc>
                <a:extLst>
                  <a:ext uri="{0D108BD9-81ED-4DB2-BD59-A6C34878D82A}">
                    <a16:rowId xmlns:a16="http://schemas.microsoft.com/office/drawing/2014/main" val="3675125292"/>
                  </a:ext>
                </a:extLst>
              </a:tr>
              <a:tr h="1051123">
                <a:tc>
                  <a:txBody>
                    <a:bodyPr/>
                    <a:lstStyle/>
                    <a:p>
                      <a:r>
                        <a:rPr lang="en-IN" sz="1600">
                          <a:latin typeface="Times New Roman" panose="02020603050405020304" pitchFamily="18" charset="0"/>
                          <a:cs typeface="Times New Roman" panose="02020603050405020304" pitchFamily="18" charset="0"/>
                        </a:rPr>
                        <a:t>6</a:t>
                      </a:r>
                    </a:p>
                  </a:txBody>
                  <a:tcPr/>
                </a:tc>
                <a:tc>
                  <a:txBody>
                    <a:bodyPr/>
                    <a:lstStyle/>
                    <a:p>
                      <a:r>
                        <a:rPr lang="en-IN" sz="1600" b="1">
                          <a:latin typeface="Times New Roman" panose="02020603050405020304" pitchFamily="18" charset="0"/>
                          <a:cs typeface="Times New Roman" panose="02020603050405020304" pitchFamily="18" charset="0"/>
                        </a:rPr>
                        <a:t>Is Secure Coding Education in the Industry Needed?</a:t>
                      </a:r>
                      <a:r>
                        <a:rPr lang="en-IN" sz="1600">
                          <a:latin typeface="Times New Roman" panose="02020603050405020304" pitchFamily="18" charset="0"/>
                          <a:cs typeface="Times New Roman" panose="02020603050405020304" pitchFamily="18" charset="0"/>
                        </a:rPr>
                        <a:t> (Tiago Espinha Gasiba, Ulrike Lechner, Maria Pinto-Albuquerque, Daniel Mendez, 2021)</a:t>
                      </a:r>
                    </a:p>
                  </a:txBody>
                  <a:tcPr/>
                </a:tc>
                <a:tc>
                  <a:txBody>
                    <a:bodyPr/>
                    <a:lstStyle/>
                    <a:p>
                      <a:r>
                        <a:rPr lang="en-IN" sz="1600">
                          <a:latin typeface="Times New Roman" panose="02020603050405020304" pitchFamily="18" charset="0"/>
                          <a:cs typeface="Times New Roman" panose="02020603050405020304" pitchFamily="18" charset="0"/>
                        </a:rPr>
                        <a:t>Large-scale survey reveals many developers lack awareness and compliance with secure coding guidelines.</a:t>
                      </a:r>
                    </a:p>
                  </a:txBody>
                  <a:tcPr/>
                </a:tc>
                <a:tc>
                  <a:txBody>
                    <a:bodyPr/>
                    <a:lstStyle/>
                    <a:p>
                      <a:r>
                        <a:rPr lang="en-IN" sz="1600">
                          <a:latin typeface="Times New Roman" panose="02020603050405020304" pitchFamily="18" charset="0"/>
                          <a:cs typeface="Times New Roman" panose="02020603050405020304" pitchFamily="18" charset="0"/>
                        </a:rPr>
                        <a:t>General secure coding issues including SQL Injection, XSS, Authentication, Secure Coding Standards</a:t>
                      </a:r>
                    </a:p>
                  </a:txBody>
                  <a:tcPr/>
                </a:tc>
                <a:tc>
                  <a:txBody>
                    <a:bodyPr/>
                    <a:lstStyle/>
                    <a:p>
                      <a:r>
                        <a:rPr lang="en-IN" sz="1600">
                          <a:latin typeface="Times New Roman" panose="02020603050405020304" pitchFamily="18" charset="0"/>
                          <a:cs typeface="Times New Roman" panose="02020603050405020304" pitchFamily="18" charset="0"/>
                        </a:rPr>
                        <a:t>Identifies the need for secure coding education but does not propose or implement an AI-assisted secure coding learning platform.</a:t>
                      </a:r>
                    </a:p>
                  </a:txBody>
                  <a:tcPr/>
                </a:tc>
                <a:extLst>
                  <a:ext uri="{0D108BD9-81ED-4DB2-BD59-A6C34878D82A}">
                    <a16:rowId xmlns:a16="http://schemas.microsoft.com/office/drawing/2014/main" val="4275212338"/>
                  </a:ext>
                </a:extLst>
              </a:tr>
              <a:tr h="1051123">
                <a:tc>
                  <a:txBody>
                    <a:bodyPr/>
                    <a:lstStyle/>
                    <a:p>
                      <a:r>
                        <a:rPr lang="en-IN" sz="160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latin typeface="Times New Roman" panose="02020603050405020304" pitchFamily="18" charset="0"/>
                          <a:cs typeface="Times New Roman" panose="02020603050405020304" pitchFamily="18" charset="0"/>
                        </a:rPr>
                        <a:t>SoK: AI Secure Code Generation – Progress, Pitfalls and Paths Forward</a:t>
                      </a:r>
                      <a:r>
                        <a:rPr lang="en-IN" sz="1600">
                          <a:latin typeface="Times New Roman" panose="02020603050405020304" pitchFamily="18" charset="0"/>
                          <a:cs typeface="Times New Roman" panose="02020603050405020304" pitchFamily="18" charset="0"/>
                        </a:rPr>
                        <a:t> (Rupam Patir, Keyan Guo, Haipeng Cai, Hongxin Hu, 2026)</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Comprehensive survey introducing KAUGE framework for evaluating secure code generation using secure coding principles.</a:t>
                      </a:r>
                      <a:endParaRPr lang="en-IN" sz="1600">
                        <a:effectLst/>
                      </a:endParaRPr>
                    </a:p>
                  </a:txBody>
                  <a:tcPr/>
                </a:tc>
                <a:tc>
                  <a:txBody>
                    <a:bodyPr/>
                    <a:lstStyle/>
                    <a:p>
                      <a:r>
                        <a:rPr lang="en-IN" sz="1600">
                          <a:latin typeface="Times New Roman" panose="02020603050405020304" pitchFamily="18" charset="0"/>
                          <a:cs typeface="Times New Roman" panose="02020603050405020304" pitchFamily="18" charset="0"/>
                        </a:rPr>
                        <a:t>SQL Injection, Command Injection, Path Traversal, Weak Cryptography, Security Misconfiguration, Dependency Vulnerabilities</a:t>
                      </a:r>
                    </a:p>
                  </a:txBody>
                  <a:tcPr/>
                </a:tc>
                <a:tc>
                  <a:txBody>
                    <a:bodyPr/>
                    <a:lstStyle/>
                    <a:p>
                      <a:pPr rtl="0" eaLnBrk="1" latinLnBrk="0" hangingPunct="1"/>
                      <a:r>
                        <a:rPr lang="en-IN" sz="1800" kern="1200">
                          <a:solidFill>
                            <a:schemeClr val="dk1"/>
                          </a:solidFill>
                          <a:effectLst/>
                          <a:latin typeface="+mn-lt"/>
                          <a:ea typeface="+mn-ea"/>
                          <a:cs typeface="+mn-cs"/>
                        </a:rPr>
                        <a:t>Survey paper only. Does not implement an AI-powered secure coding environment, automated code evaluation, or practical learning modules.</a:t>
                      </a:r>
                      <a:endParaRPr lang="en-IN" sz="1600">
                        <a:effectLst/>
                      </a:endParaRPr>
                    </a:p>
                  </a:txBody>
                  <a:tcPr/>
                </a:tc>
                <a:extLst>
                  <a:ext uri="{0D108BD9-81ED-4DB2-BD59-A6C34878D82A}">
                    <a16:rowId xmlns:a16="http://schemas.microsoft.com/office/drawing/2014/main" val="3941584282"/>
                  </a:ext>
                </a:extLst>
              </a:tr>
            </a:tbl>
          </a:graphicData>
        </a:graphic>
      </p:graphicFrame>
    </p:spTree>
    <p:extLst>
      <p:ext uri="{BB962C8B-B14F-4D97-AF65-F5344CB8AC3E}">
        <p14:creationId xmlns:p14="http://schemas.microsoft.com/office/powerpoint/2010/main" val="3015867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E4B6D-C661-E30D-DEBE-BDCFDABAC1C8}"/>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34C3709-00BA-5B91-5335-302D618657E4}"/>
              </a:ext>
            </a:extLst>
          </p:cNvPr>
          <p:cNvGraphicFramePr>
            <a:graphicFrameLocks noGrp="1"/>
          </p:cNvGraphicFramePr>
          <p:nvPr>
            <p:extLst>
              <p:ext uri="{D42A27DB-BD31-4B8C-83A1-F6EECF244321}">
                <p14:modId xmlns:p14="http://schemas.microsoft.com/office/powerpoint/2010/main" val="1412151123"/>
              </p:ext>
            </p:extLst>
          </p:nvPr>
        </p:nvGraphicFramePr>
        <p:xfrm>
          <a:off x="162233" y="346568"/>
          <a:ext cx="11867534" cy="6164864"/>
        </p:xfrm>
        <a:graphic>
          <a:graphicData uri="http://schemas.openxmlformats.org/drawingml/2006/table">
            <a:tbl>
              <a:tblPr firstRow="1" bandRow="1">
                <a:tableStyleId>{5C22544A-7EE6-4342-B048-85BDC9FD1C3A}</a:tableStyleId>
              </a:tblPr>
              <a:tblGrid>
                <a:gridCol w="555073">
                  <a:extLst>
                    <a:ext uri="{9D8B030D-6E8A-4147-A177-3AD203B41FA5}">
                      <a16:colId xmlns:a16="http://schemas.microsoft.com/office/drawing/2014/main" val="1425768034"/>
                    </a:ext>
                  </a:extLst>
                </a:gridCol>
                <a:gridCol w="2863046">
                  <a:extLst>
                    <a:ext uri="{9D8B030D-6E8A-4147-A177-3AD203B41FA5}">
                      <a16:colId xmlns:a16="http://schemas.microsoft.com/office/drawing/2014/main" val="3814177953"/>
                    </a:ext>
                  </a:extLst>
                </a:gridCol>
                <a:gridCol w="3055444">
                  <a:extLst>
                    <a:ext uri="{9D8B030D-6E8A-4147-A177-3AD203B41FA5}">
                      <a16:colId xmlns:a16="http://schemas.microsoft.com/office/drawing/2014/main" val="1340773443"/>
                    </a:ext>
                  </a:extLst>
                </a:gridCol>
                <a:gridCol w="2504348">
                  <a:extLst>
                    <a:ext uri="{9D8B030D-6E8A-4147-A177-3AD203B41FA5}">
                      <a16:colId xmlns:a16="http://schemas.microsoft.com/office/drawing/2014/main" val="281377767"/>
                    </a:ext>
                  </a:extLst>
                </a:gridCol>
                <a:gridCol w="2889623">
                  <a:extLst>
                    <a:ext uri="{9D8B030D-6E8A-4147-A177-3AD203B41FA5}">
                      <a16:colId xmlns:a16="http://schemas.microsoft.com/office/drawing/2014/main" val="80272989"/>
                    </a:ext>
                  </a:extLst>
                </a:gridCol>
              </a:tblGrid>
              <a:tr h="690302">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824854">
                <a:tc>
                  <a:txBody>
                    <a:bodyPr/>
                    <a:lstStyle/>
                    <a:p>
                      <a:r>
                        <a:rPr lang="en-IN" sz="1600">
                          <a:latin typeface="Times New Roman" panose="02020603050405020304" pitchFamily="18" charset="0"/>
                          <a:cs typeface="Times New Roman" panose="02020603050405020304" pitchFamily="18" charset="0"/>
                        </a:rPr>
                        <a:t>8</a:t>
                      </a:r>
                    </a:p>
                  </a:txBody>
                  <a:tcPr/>
                </a:tc>
                <a:tc>
                  <a:txBody>
                    <a:bodyPr/>
                    <a:lstStyle/>
                    <a:p>
                      <a:r>
                        <a:rPr lang="en-IN" sz="1600" b="1">
                          <a:latin typeface="Times New Roman" panose="02020603050405020304" pitchFamily="18" charset="0"/>
                          <a:cs typeface="Times New Roman" panose="02020603050405020304" pitchFamily="18" charset="0"/>
                        </a:rPr>
                        <a:t>Using Real-World Bug Bounty Programs in Secure Coding Course</a:t>
                      </a:r>
                      <a:r>
                        <a:rPr lang="en-IN" sz="1600">
                          <a:latin typeface="Times New Roman" panose="02020603050405020304" pitchFamily="18" charset="0"/>
                          <a:cs typeface="Times New Roman" panose="02020603050405020304" pitchFamily="18" charset="0"/>
                        </a:rPr>
                        <a:t> (Kamil Malinka et al., 2024)</a:t>
                      </a:r>
                    </a:p>
                  </a:txBody>
                  <a:tcPr/>
                </a:tc>
                <a:tc>
                  <a:txBody>
                    <a:bodyPr/>
                    <a:lstStyle/>
                    <a:p>
                      <a:r>
                        <a:rPr lang="en-IN" sz="1600">
                          <a:latin typeface="Times New Roman" panose="02020603050405020304" pitchFamily="18" charset="0"/>
                          <a:cs typeface="Times New Roman" panose="02020603050405020304" pitchFamily="18" charset="0"/>
                        </a:rPr>
                        <a:t>Demonstrates that integrating bug bounty programs into education improves practical vulnerability discovery skills.</a:t>
                      </a:r>
                    </a:p>
                  </a:txBody>
                  <a:tcPr/>
                </a:tc>
                <a:tc>
                  <a:txBody>
                    <a:bodyPr/>
                    <a:lstStyle/>
                    <a:p>
                      <a:r>
                        <a:rPr lang="en-IN" sz="1600">
                          <a:latin typeface="Times New Roman" panose="02020603050405020304" pitchFamily="18" charset="0"/>
                          <a:cs typeface="Times New Roman" panose="02020603050405020304" pitchFamily="18" charset="0"/>
                        </a:rPr>
                        <a:t>Real-world Web Vulnerabilities (SQLi, XSS, Access Control, Misconfigurations depending on targets)</a:t>
                      </a:r>
                    </a:p>
                  </a:txBody>
                  <a:tcPr/>
                </a:tc>
                <a:tc>
                  <a:txBody>
                    <a:bodyPr/>
                    <a:lstStyle/>
                    <a:p>
                      <a:r>
                        <a:rPr lang="en-IN" sz="1600">
                          <a:latin typeface="Times New Roman" panose="02020603050405020304" pitchFamily="18" charset="0"/>
                          <a:cs typeface="Times New Roman" panose="02020603050405020304" pitchFamily="18" charset="0"/>
                        </a:rPr>
                        <a:t>Depends on external bug bounty programs. Does not offer a structured AI-based learning environment with predefined secure coding exercises and automated assessment.</a:t>
                      </a:r>
                    </a:p>
                  </a:txBody>
                  <a:tcPr/>
                </a:tc>
                <a:extLst>
                  <a:ext uri="{0D108BD9-81ED-4DB2-BD59-A6C34878D82A}">
                    <a16:rowId xmlns:a16="http://schemas.microsoft.com/office/drawing/2014/main" val="1214652384"/>
                  </a:ext>
                </a:extLst>
              </a:tr>
              <a:tr h="1824854">
                <a:tc>
                  <a:txBody>
                    <a:bodyPr/>
                    <a:lstStyle/>
                    <a:p>
                      <a:r>
                        <a:rPr lang="en-IN" sz="1600">
                          <a:latin typeface="Times New Roman" panose="02020603050405020304" pitchFamily="18" charset="0"/>
                          <a:cs typeface="Times New Roman" panose="02020603050405020304" pitchFamily="18" charset="0"/>
                        </a:rPr>
                        <a:t>9</a:t>
                      </a:r>
                    </a:p>
                  </a:txBody>
                  <a:tcPr/>
                </a:tc>
                <a:tc>
                  <a:txBody>
                    <a:bodyPr/>
                    <a:lstStyle/>
                    <a:p>
                      <a:r>
                        <a:rPr lang="en-IN" sz="1600" b="1">
                          <a:latin typeface="Times New Roman" panose="02020603050405020304" pitchFamily="18" charset="0"/>
                          <a:cs typeface="Times New Roman" panose="02020603050405020304" pitchFamily="18" charset="0"/>
                        </a:rPr>
                        <a:t>A Systematic Mapping Study on Teaching Security Concepts in Programming Courses</a:t>
                      </a:r>
                      <a:r>
                        <a:rPr lang="en-IN" sz="1600">
                          <a:latin typeface="Times New Roman" panose="02020603050405020304" pitchFamily="18" charset="0"/>
                          <a:cs typeface="Times New Roman" panose="02020603050405020304" pitchFamily="18" charset="0"/>
                        </a:rPr>
                        <a:t> (Alina Torbunova, Adnan Ashraf, Ivan Porres, 2024)</a:t>
                      </a:r>
                    </a:p>
                  </a:txBody>
                  <a:tcPr/>
                </a:tc>
                <a:tc>
                  <a:txBody>
                    <a:bodyPr/>
                    <a:lstStyle/>
                    <a:p>
                      <a:r>
                        <a:rPr lang="en-IN" sz="1600">
                          <a:latin typeface="Times New Roman" panose="02020603050405020304" pitchFamily="18" charset="0"/>
                          <a:cs typeface="Times New Roman" panose="02020603050405020304" pitchFamily="18" charset="0"/>
                        </a:rPr>
                        <a:t>Reviews approaches for teaching secure programming and identifies gaps in university-level cybersecurity education.</a:t>
                      </a:r>
                    </a:p>
                  </a:txBody>
                  <a:tcPr/>
                </a:tc>
                <a:tc>
                  <a:txBody>
                    <a:bodyPr/>
                    <a:lstStyle/>
                    <a:p>
                      <a:r>
                        <a:rPr lang="en-IN" sz="1600">
                          <a:latin typeface="Times New Roman" panose="02020603050405020304" pitchFamily="18" charset="0"/>
                          <a:cs typeface="Times New Roman" panose="02020603050405020304" pitchFamily="18" charset="0"/>
                        </a:rPr>
                        <a:t>General Secure Coding Concepts, Common Vulnerabilities, Secure Programming Practices</a:t>
                      </a:r>
                    </a:p>
                  </a:txBody>
                  <a:tcPr/>
                </a:tc>
                <a:tc>
                  <a:txBody>
                    <a:bodyPr/>
                    <a:lstStyle/>
                    <a:p>
                      <a:r>
                        <a:rPr lang="en-IN" sz="1600">
                          <a:latin typeface="Times New Roman" panose="02020603050405020304" pitchFamily="18" charset="0"/>
                          <a:cs typeface="Times New Roman" panose="02020603050405020304" pitchFamily="18" charset="0"/>
                        </a:rPr>
                        <a:t>Reviews existing teaching methods but does not propose an intelligent adaptive learning platform with AI-assisted vulnerability analysis and coding practice.</a:t>
                      </a:r>
                    </a:p>
                  </a:txBody>
                  <a:tcPr/>
                </a:tc>
                <a:extLst>
                  <a:ext uri="{0D108BD9-81ED-4DB2-BD59-A6C34878D82A}">
                    <a16:rowId xmlns:a16="http://schemas.microsoft.com/office/drawing/2014/main" val="3675125292"/>
                  </a:ext>
                </a:extLst>
              </a:tr>
              <a:tr h="1824854">
                <a:tc>
                  <a:txBody>
                    <a:bodyPr/>
                    <a:lstStyle/>
                    <a:p>
                      <a:r>
                        <a:rPr lang="en-IN" sz="1600">
                          <a:latin typeface="Times New Roman" panose="02020603050405020304" pitchFamily="18" charset="0"/>
                          <a:cs typeface="Times New Roman" panose="02020603050405020304" pitchFamily="18" charset="0"/>
                        </a:rPr>
                        <a:t>10</a:t>
                      </a:r>
                    </a:p>
                  </a:txBody>
                  <a:tcPr/>
                </a:tc>
                <a:tc>
                  <a:txBody>
                    <a:bodyPr/>
                    <a:lstStyle/>
                    <a:p>
                      <a:r>
                        <a:rPr lang="en-IN" sz="1600" b="1">
                          <a:latin typeface="Times New Roman" panose="02020603050405020304" pitchFamily="18" charset="0"/>
                          <a:cs typeface="Times New Roman" panose="02020603050405020304" pitchFamily="18" charset="0"/>
                        </a:rPr>
                        <a:t>Secure Coding Education Through Gamification and CTF Challenges</a:t>
                      </a:r>
                      <a:r>
                        <a:rPr lang="en-IN" sz="1600">
                          <a:latin typeface="Times New Roman" panose="02020603050405020304" pitchFamily="18" charset="0"/>
                          <a:cs typeface="Times New Roman" panose="02020603050405020304" pitchFamily="18" charset="0"/>
                        </a:rPr>
                        <a:t> (Tiago Gasiba et al., 2021)</a:t>
                      </a:r>
                    </a:p>
                  </a:txBody>
                  <a:tcPr/>
                </a:tc>
                <a:tc>
                  <a:txBody>
                    <a:bodyPr/>
                    <a:lstStyle/>
                    <a:p>
                      <a:r>
                        <a:rPr lang="en-IN" sz="1600">
                          <a:latin typeface="Times New Roman" panose="02020603050405020304" pitchFamily="18" charset="0"/>
                          <a:cs typeface="Times New Roman" panose="02020603050405020304" pitchFamily="18" charset="0"/>
                        </a:rPr>
                        <a:t>Shows gamified secure coding exercises improve developer engagement and secure programming awareness.</a:t>
                      </a:r>
                    </a:p>
                  </a:txBody>
                  <a:tcPr/>
                </a:tc>
                <a:tc>
                  <a:txBody>
                    <a:bodyPr/>
                    <a:lstStyle/>
                    <a:p>
                      <a:r>
                        <a:rPr lang="en-IN" sz="1600">
                          <a:latin typeface="Times New Roman" panose="02020603050405020304" pitchFamily="18" charset="0"/>
                          <a:cs typeface="Times New Roman" panose="02020603050405020304" pitchFamily="18" charset="0"/>
                        </a:rPr>
                        <a:t>SQL Injection, XSS, Buffer Overflow, Secure Authentication</a:t>
                      </a:r>
                    </a:p>
                  </a:txBody>
                  <a:tcPr/>
                </a:tc>
                <a:tc>
                  <a:txBody>
                    <a:bodyPr/>
                    <a:lstStyle/>
                    <a:p>
                      <a:r>
                        <a:rPr lang="en-IN" sz="1600">
                          <a:latin typeface="Times New Roman" panose="02020603050405020304" pitchFamily="18" charset="0"/>
                          <a:cs typeface="Times New Roman" panose="02020603050405020304" pitchFamily="18" charset="0"/>
                        </a:rPr>
                        <a:t>Uses gamification but lacks AI-powered code analysis, automated vulnerability detection, personalized feedback, and secure coding performance analytics.</a:t>
                      </a:r>
                    </a:p>
                  </a:txBody>
                  <a:tcPr/>
                </a:tc>
                <a:extLst>
                  <a:ext uri="{0D108BD9-81ED-4DB2-BD59-A6C34878D82A}">
                    <a16:rowId xmlns:a16="http://schemas.microsoft.com/office/drawing/2014/main" val="4275212338"/>
                  </a:ext>
                </a:extLst>
              </a:tr>
            </a:tbl>
          </a:graphicData>
        </a:graphic>
      </p:graphicFrame>
    </p:spTree>
    <p:extLst>
      <p:ext uri="{BB962C8B-B14F-4D97-AF65-F5344CB8AC3E}">
        <p14:creationId xmlns:p14="http://schemas.microsoft.com/office/powerpoint/2010/main" val="4208938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32E58-93AD-9AD3-E42A-6E6085E4D5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06D4D1-35F5-6CC8-5B7C-4A49F59F0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8089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D36D-78C5-9AD0-4ECC-B1F19DDE33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CD6A21-E48A-75F2-E30E-CC59BEB8D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320314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E14610-0008-9E6C-2AFD-5105C2554936}"/>
              </a:ext>
            </a:extLst>
          </p:cNvPr>
          <p:cNvSpPr txBox="1"/>
          <p:nvPr/>
        </p:nvSpPr>
        <p:spPr>
          <a:xfrm>
            <a:off x="4562630" y="866335"/>
            <a:ext cx="3066737" cy="707886"/>
          </a:xfrm>
          <a:prstGeom prst="rect">
            <a:avLst/>
          </a:prstGeom>
          <a:noFill/>
        </p:spPr>
        <p:txBody>
          <a:bodyPr wrap="none" rtlCol="0">
            <a:spAutoFit/>
          </a:bodyPr>
          <a:lstStyle/>
          <a:p>
            <a:r>
              <a:rPr lang="en-IN" sz="4000">
                <a:solidFill>
                  <a:schemeClr val="bg1"/>
                </a:solidFill>
                <a:latin typeface="Times New Roman" panose="02020603050405020304" pitchFamily="18" charset="0"/>
                <a:cs typeface="Times New Roman" panose="02020603050405020304" pitchFamily="18" charset="0"/>
              </a:rPr>
              <a:t>Research Gap</a:t>
            </a:r>
          </a:p>
        </p:txBody>
      </p:sp>
      <p:sp>
        <p:nvSpPr>
          <p:cNvPr id="7" name="TextBox 6">
            <a:extLst>
              <a:ext uri="{FF2B5EF4-FFF2-40B4-BE49-F238E27FC236}">
                <a16:creationId xmlns:a16="http://schemas.microsoft.com/office/drawing/2014/main" id="{88804C53-323D-251F-15C8-1C8A67751137}"/>
              </a:ext>
            </a:extLst>
          </p:cNvPr>
          <p:cNvSpPr txBox="1"/>
          <p:nvPr/>
        </p:nvSpPr>
        <p:spPr>
          <a:xfrm>
            <a:off x="471514" y="1927771"/>
            <a:ext cx="11248967" cy="4801314"/>
          </a:xfrm>
          <a:prstGeom prst="rect">
            <a:avLst/>
          </a:prstGeom>
          <a:noFill/>
        </p:spPr>
        <p:txBody>
          <a:bodyPr wrap="square" rtlCol="0">
            <a:spAutoFit/>
          </a:bodyPr>
          <a:lstStyle/>
          <a:p>
            <a:pPr marL="285750" lvl="0" indent="-285750">
              <a:buFont typeface="Arial" panose="020B0604020202020204" pitchFamily="34" charset="0"/>
              <a:buChar char="•"/>
            </a:pPr>
            <a:r>
              <a:rPr lang="en-IN"/>
              <a:t>Most existing studies focus on AI-based vulnerability detection and repair rather than providing an interactive platform for secure coding practice.</a:t>
            </a:r>
          </a:p>
          <a:p>
            <a:pPr marL="285750" lvl="0" indent="-285750">
              <a:buFont typeface="Arial" panose="020B0604020202020204" pitchFamily="34" charset="0"/>
              <a:buChar char="•"/>
            </a:pPr>
            <a:r>
              <a:rPr lang="en-IN"/>
              <a:t>Research on Large Language Models (LLMs) mainly explores secure code generation and vulnerability detection, with less focus on improving developers’ practical security skills.</a:t>
            </a:r>
          </a:p>
          <a:p>
            <a:pPr marL="285750" lvl="0" indent="-285750">
              <a:buFont typeface="Arial" panose="020B0604020202020204" pitchFamily="34" charset="0"/>
              <a:buChar char="•"/>
            </a:pPr>
            <a:r>
              <a:rPr lang="en-IN"/>
              <a:t>Existing secure coding surveys explain security techniques and frameworks but do not implement a complete, hands-on learning environment.</a:t>
            </a:r>
          </a:p>
          <a:p>
            <a:pPr marL="285750" lvl="0" indent="-285750">
              <a:buFont typeface="Arial" panose="020B0604020202020204" pitchFamily="34" charset="0"/>
              <a:buChar char="•"/>
            </a:pPr>
            <a:r>
              <a:rPr lang="en-IN"/>
              <a:t>Current coding platforms mainly evaluate functional correctness, while security training platforms often focus on vulnerability exploitation. Both lack a unified approach to evaluating functional and security correctness.</a:t>
            </a:r>
          </a:p>
          <a:p>
            <a:pPr marL="285750" lvl="0" indent="-285750">
              <a:buFont typeface="Arial" panose="020B0604020202020204" pitchFamily="34" charset="0"/>
              <a:buChar char="•"/>
            </a:pPr>
            <a:r>
              <a:rPr lang="en-IN"/>
              <a:t>Many learning systems lack integrated AI-assisted explanations, actionable remediation feedback, conceptual understanding assessments, and personalized learning progress tracking.</a:t>
            </a:r>
          </a:p>
          <a:p>
            <a:pPr marL="285750" lvl="0" indent="-285750">
              <a:buFont typeface="Arial" panose="020B0604020202020204" pitchFamily="34" charset="0"/>
              <a:buChar char="•"/>
            </a:pPr>
            <a:r>
              <a:rPr lang="en-IN"/>
              <a:t>Bug bounty and CTF-based platforms emphasize finding or exploiting vulnerabilities rather than following a structured curriculum for writing secure code.</a:t>
            </a:r>
          </a:p>
          <a:p>
            <a:pPr marL="285750" lvl="0" indent="-285750">
              <a:buFont typeface="Arial" panose="020B0604020202020204" pitchFamily="34" charset="0"/>
              <a:buChar char="•"/>
            </a:pPr>
            <a:r>
              <a:rPr lang="en-IN"/>
              <a:t>Existing approaches often lack a unified environment combining vulnerability-based coding challenges, automated multi-engine security analysis, learning scores, and progress analytics.</a:t>
            </a:r>
          </a:p>
          <a:p>
            <a:pPr marL="285750" lvl="0" indent="-285750">
              <a:buFont typeface="Arial" panose="020B0604020202020204" pitchFamily="34" charset="0"/>
              <a:buChar char="•"/>
            </a:pPr>
            <a:r>
              <a:rPr lang="en-IN"/>
              <a:t>Identified Research Gap: There is a need for an integrated platform that combines hands-on secure coding practice, dual-stage code evaluation, AI-assisted feedback, conceptual assessment, and learning analytics to improve secure software development skills.</a:t>
            </a:r>
          </a:p>
        </p:txBody>
      </p:sp>
    </p:spTree>
    <p:extLst>
      <p:ext uri="{BB962C8B-B14F-4D97-AF65-F5344CB8AC3E}">
        <p14:creationId xmlns:p14="http://schemas.microsoft.com/office/powerpoint/2010/main" val="848003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2D96E4-8F3B-CEF1-EB3E-C82EA8E5348C}"/>
              </a:ext>
            </a:extLst>
          </p:cNvPr>
          <p:cNvSpPr>
            <a:spLocks noGrp="1"/>
          </p:cNvSpPr>
          <p:nvPr>
            <p:ph type="title"/>
          </p:nvPr>
        </p:nvSpPr>
        <p:spPr>
          <a:xfrm>
            <a:off x="3225593" y="886234"/>
            <a:ext cx="5740811" cy="775417"/>
          </a:xfrm>
        </p:spPr>
        <p:txBody>
          <a:bodyPr>
            <a:noAutofit/>
          </a:bodyPr>
          <a:lstStyle/>
          <a:p>
            <a:r>
              <a:rPr lang="en-IN" sz="4000">
                <a:latin typeface="Times New Roman" panose="02020603050405020304" pitchFamily="18" charset="0"/>
                <a:cs typeface="Times New Roman" panose="02020603050405020304" pitchFamily="18" charset="0"/>
              </a:rPr>
              <a:t>Problem Statement</a:t>
            </a:r>
          </a:p>
        </p:txBody>
      </p:sp>
      <p:sp>
        <p:nvSpPr>
          <p:cNvPr id="5" name="Content Placeholder 2">
            <a:extLst>
              <a:ext uri="{FF2B5EF4-FFF2-40B4-BE49-F238E27FC236}">
                <a16:creationId xmlns:a16="http://schemas.microsoft.com/office/drawing/2014/main" id="{B6CAB7FB-E179-C6C7-959F-C76B46A4DA2B}"/>
              </a:ext>
            </a:extLst>
          </p:cNvPr>
          <p:cNvSpPr>
            <a:spLocks noGrp="1"/>
          </p:cNvSpPr>
          <p:nvPr>
            <p:ph idx="1"/>
          </p:nvPr>
        </p:nvSpPr>
        <p:spPr>
          <a:xfrm>
            <a:off x="513735" y="2032103"/>
            <a:ext cx="11245645" cy="2943020"/>
          </a:xfrm>
        </p:spPr>
        <p:txBody>
          <a:bodyPr>
            <a:normAutofit/>
          </a:bodyPr>
          <a:lstStyle/>
          <a:p>
            <a:pPr marL="0" indent="0" algn="just">
              <a:lnSpc>
                <a:spcPct val="100000"/>
              </a:lnSpc>
              <a:buNone/>
            </a:pPr>
            <a:r>
              <a:rPr lang="en-IN" sz="2000">
                <a:latin typeface="Times New Roman" panose="02020603050405020304" pitchFamily="18" charset="0"/>
                <a:cs typeface="Times New Roman" panose="02020603050405020304" pitchFamily="18" charset="0"/>
              </a:rPr>
              <a:t>Modern software applications are increasingly vulnerable to security flaws due to the lack of practical secure coding skills among developers. Existing educational platforms primarily focus on algorithmic programming, cybersecurity awareness, penetration testing, or vulnerability detection, but they provide limited opportunities to practice </a:t>
            </a:r>
            <a:r>
              <a:rPr lang="en-IN" sz="2000" b="1">
                <a:latin typeface="Times New Roman" panose="02020603050405020304" pitchFamily="18" charset="0"/>
                <a:cs typeface="Times New Roman" panose="02020603050405020304" pitchFamily="18" charset="0"/>
              </a:rPr>
              <a:t>secure software development</a:t>
            </a:r>
            <a:r>
              <a:rPr lang="en-IN" sz="2000">
                <a:latin typeface="Times New Roman" panose="02020603050405020304" pitchFamily="18" charset="0"/>
                <a:cs typeface="Times New Roman" panose="02020603050405020304" pitchFamily="18" charset="0"/>
              </a:rPr>
              <a:t> through real coding exercises. As a result, many developers are able to write functionally correct programs but struggle to implement secure coding practices that prevent vulnerabilities during development. There is a need for an interactive learning platform that enables developers to practice secure coding through vulnerability-based programming challenges, evaluate both functional and security correctness, and receive educational feedback to improve their secure software development skills.</a:t>
            </a:r>
          </a:p>
        </p:txBody>
      </p:sp>
    </p:spTree>
    <p:extLst>
      <p:ext uri="{BB962C8B-B14F-4D97-AF65-F5344CB8AC3E}">
        <p14:creationId xmlns:p14="http://schemas.microsoft.com/office/powerpoint/2010/main" val="748928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6E8C0-E459-ACD5-46F9-2033349D21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CB4C83-A0CD-E1FC-5581-416258CAE924}"/>
              </a:ext>
            </a:extLst>
          </p:cNvPr>
          <p:cNvSpPr txBox="1"/>
          <p:nvPr/>
        </p:nvSpPr>
        <p:spPr>
          <a:xfrm>
            <a:off x="432619" y="1995948"/>
            <a:ext cx="11297265" cy="4401205"/>
          </a:xfrm>
          <a:prstGeom prst="rect">
            <a:avLst/>
          </a:prstGeom>
          <a:noFill/>
        </p:spPr>
        <p:txBody>
          <a:bodyPr wrap="square" rtlCol="0">
            <a:spAutoFit/>
          </a:bodyPr>
          <a:lstStyle/>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develop an interactive web-based platform for learning and practicing secure software development through hands-on coding challenges.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strengthen secure coding skills by providing vulnerability-based challenges across different difficulty levels.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implement a dual-stage evaluation system that checks functional correctness first and security correctness after successful functional testing.</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integrate multiple security analysis tools, including Semgrep and SpotBugs/FindSecBugs, with AI-assisted feedback to help users understand and fix vulnerabilities.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assess learners through conceptual understanding quizzes and a learning score based on functional correctness, security correctness, understanding, and independent problem-solving.</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provide structured learning through hints, challenge prerequisites, attempt history, and progress analytics.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To develop a scalable architecture that can be extended to support additional vulnerability categories and programming languages in future versions.</a:t>
            </a:r>
          </a:p>
        </p:txBody>
      </p:sp>
      <p:sp>
        <p:nvSpPr>
          <p:cNvPr id="5" name="Title 1">
            <a:extLst>
              <a:ext uri="{FF2B5EF4-FFF2-40B4-BE49-F238E27FC236}">
                <a16:creationId xmlns:a16="http://schemas.microsoft.com/office/drawing/2014/main" id="{6CB12765-B4AE-A6B4-6921-271E0D4E5D10}"/>
              </a:ext>
            </a:extLst>
          </p:cNvPr>
          <p:cNvSpPr>
            <a:spLocks noGrp="1"/>
          </p:cNvSpPr>
          <p:nvPr>
            <p:ph type="title"/>
          </p:nvPr>
        </p:nvSpPr>
        <p:spPr>
          <a:xfrm>
            <a:off x="4550184" y="737418"/>
            <a:ext cx="3413946" cy="867185"/>
          </a:xfrm>
        </p:spPr>
        <p:txBody>
          <a:bodyPr>
            <a:normAutofit/>
          </a:bodyPr>
          <a:lstStyle/>
          <a:p>
            <a:r>
              <a:rPr lang="en-IN" sz="400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617707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151-E48D-ED00-CD5E-144BEA74275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CEE0ADD-730E-499A-1BD5-689619C4045F}"/>
              </a:ext>
            </a:extLst>
          </p:cNvPr>
          <p:cNvSpPr txBox="1"/>
          <p:nvPr/>
        </p:nvSpPr>
        <p:spPr>
          <a:xfrm>
            <a:off x="5290825" y="975360"/>
            <a:ext cx="1507580" cy="707886"/>
          </a:xfrm>
          <a:prstGeom prst="rect">
            <a:avLst/>
          </a:prstGeom>
          <a:noFill/>
        </p:spPr>
        <p:txBody>
          <a:bodyPr wrap="square" rtlCol="0">
            <a:spAutoFit/>
          </a:bodyPr>
          <a:lstStyle/>
          <a:p>
            <a:r>
              <a:rPr lang="en-IN" sz="4000">
                <a:solidFill>
                  <a:schemeClr val="bg1"/>
                </a:solidFill>
                <a:latin typeface="Times New Roman" panose="02020603050405020304" pitchFamily="18" charset="0"/>
                <a:cs typeface="Times New Roman" panose="02020603050405020304" pitchFamily="18" charset="0"/>
              </a:rPr>
              <a:t>Scope</a:t>
            </a:r>
          </a:p>
        </p:txBody>
      </p:sp>
      <p:sp>
        <p:nvSpPr>
          <p:cNvPr id="6" name="TextBox 5">
            <a:extLst>
              <a:ext uri="{FF2B5EF4-FFF2-40B4-BE49-F238E27FC236}">
                <a16:creationId xmlns:a16="http://schemas.microsoft.com/office/drawing/2014/main" id="{A5BDB5A7-1589-BCD7-057D-0C67F4D9B211}"/>
              </a:ext>
            </a:extLst>
          </p:cNvPr>
          <p:cNvSpPr txBox="1"/>
          <p:nvPr/>
        </p:nvSpPr>
        <p:spPr>
          <a:xfrm>
            <a:off x="452520" y="1828800"/>
            <a:ext cx="11272120" cy="5016758"/>
          </a:xfrm>
          <a:prstGeom prst="rect">
            <a:avLst/>
          </a:prstGeom>
          <a:noFill/>
        </p:spPr>
        <p:txBody>
          <a:bodyPr wrap="square" rtlCol="0">
            <a:spAutoFit/>
          </a:bodyPr>
          <a:lstStyle/>
          <a:p>
            <a:r>
              <a:rPr lang="en-IN" sz="2000">
                <a:latin typeface="Times New Roman" panose="02020603050405020304" pitchFamily="18" charset="0"/>
                <a:cs typeface="Times New Roman" panose="02020603050405020304" pitchFamily="18" charset="0"/>
              </a:rPr>
              <a:t>1. Secure Coding Learning Platform</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Develop an interactive web-based platform for learning and practicing secure software development.</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Provide hands-on, challenge-based learning for secure coding concepts.</a:t>
            </a:r>
          </a:p>
          <a:p>
            <a:r>
              <a:rPr lang="en-IN" sz="2000">
                <a:latin typeface="Times New Roman" panose="02020603050405020304" pitchFamily="18" charset="0"/>
                <a:cs typeface="Times New Roman" panose="02020603050405020304" pitchFamily="18" charset="0"/>
              </a:rPr>
              <a:t>2. Vulnerability Coverage</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Initially focus on the Injection Attacks category and its major subtypes as a proof of concept.</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Support future expansion to additional OWASP vulnerability categories.</a:t>
            </a:r>
          </a:p>
          <a:p>
            <a:r>
              <a:rPr lang="en-IN" sz="2000">
                <a:latin typeface="Times New Roman" panose="02020603050405020304" pitchFamily="18" charset="0"/>
                <a:cs typeface="Times New Roman" panose="02020603050405020304" pitchFamily="18" charset="0"/>
              </a:rPr>
              <a:t>3. Programming Challenges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Provide vulnerability-based coding challenges with different difficulty levels.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Enable users to identify, prevent, and fix security vulnerabilities through practical exercises.</a:t>
            </a:r>
          </a:p>
          <a:p>
            <a:r>
              <a:rPr lang="en-IN" sz="2000">
                <a:latin typeface="Times New Roman" panose="02020603050405020304" pitchFamily="18" charset="0"/>
                <a:cs typeface="Times New Roman" panose="02020603050405020304" pitchFamily="18" charset="0"/>
              </a:rPr>
              <a:t>4. Automated Code Evaluation</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Evaluate submitted code for functional correctness and security correctness.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Identify potential security issues using automated testing and multiple security analysis tools.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Support the addition of new challenges, security rules, vulnerability categories, and learning resources.</a:t>
            </a:r>
          </a:p>
          <a:p>
            <a:r>
              <a:rPr lang="en-IN" sz="2000">
                <a:latin typeface="Times New Roman" panose="02020603050405020304" pitchFamily="18" charset="0"/>
                <a:cs typeface="Times New Roman" panose="02020603050405020304" pitchFamily="18" charset="0"/>
              </a:rPr>
              <a:t>5. Secure Coding Guidance and Feedback</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Provide AI-assisted educational feedback to explain vulnerabilities and suggest fixes.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Align secure coding guidance with recognized standards such as OWASP, CWE, and CERT.</a:t>
            </a:r>
          </a:p>
        </p:txBody>
      </p:sp>
    </p:spTree>
    <p:extLst>
      <p:ext uri="{BB962C8B-B14F-4D97-AF65-F5344CB8AC3E}">
        <p14:creationId xmlns:p14="http://schemas.microsoft.com/office/powerpoint/2010/main" val="3519750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DD1133-BCEF-CAFF-3E8B-9727829EADB7}"/>
              </a:ext>
            </a:extLst>
          </p:cNvPr>
          <p:cNvSpPr txBox="1"/>
          <p:nvPr/>
        </p:nvSpPr>
        <p:spPr>
          <a:xfrm>
            <a:off x="457200" y="2204720"/>
            <a:ext cx="11257280" cy="3477875"/>
          </a:xfrm>
          <a:prstGeom prst="rect">
            <a:avLst/>
          </a:prstGeom>
          <a:noFill/>
        </p:spPr>
        <p:txBody>
          <a:bodyPr wrap="square" rtlCol="0">
            <a:spAutoFit/>
          </a:bodyPr>
          <a:lstStyle/>
          <a:p>
            <a:r>
              <a:rPr lang="en-IN" sz="2000">
                <a:latin typeface="Times New Roman" panose="02020603050405020304" pitchFamily="18" charset="0"/>
                <a:cs typeface="Times New Roman" panose="02020603050405020304" pitchFamily="18" charset="0"/>
              </a:rPr>
              <a:t>6. Target Users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Students learning software development and cybersecurity.</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Software developers seeking to improve secure coding practices.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Learners interested in practical secure software development.</a:t>
            </a:r>
          </a:p>
          <a:p>
            <a:r>
              <a:rPr lang="en-IN" sz="2000">
                <a:latin typeface="Times New Roman" panose="02020603050405020304" pitchFamily="18" charset="0"/>
                <a:cs typeface="Times New Roman" panose="02020603050405020304" pitchFamily="18" charset="0"/>
              </a:rPr>
              <a:t>7. Progress Tracking</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Track performance across coding challenges, including learning scores and submission history.</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Help users identify strengths and areas for improvement.</a:t>
            </a:r>
          </a:p>
          <a:p>
            <a:r>
              <a:rPr lang="en-IN" sz="2000">
                <a:latin typeface="Times New Roman" panose="02020603050405020304" pitchFamily="18" charset="0"/>
                <a:cs typeface="Times New Roman" panose="02020603050405020304" pitchFamily="18" charset="0"/>
              </a:rPr>
              <a:t>8. Modular and Scalable Design</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Use a modular architecture to simplify maintenance and future enhancements.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Allow continuous expansion of challenges, security rules, learning resources, and supported programming languages.</a:t>
            </a:r>
          </a:p>
        </p:txBody>
      </p:sp>
    </p:spTree>
    <p:extLst>
      <p:ext uri="{BB962C8B-B14F-4D97-AF65-F5344CB8AC3E}">
        <p14:creationId xmlns:p14="http://schemas.microsoft.com/office/powerpoint/2010/main" val="318448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AA18FD-9783-3C8D-F4E0-46C60D0FF32C}"/>
              </a:ext>
            </a:extLst>
          </p:cNvPr>
          <p:cNvSpPr txBox="1"/>
          <p:nvPr/>
        </p:nvSpPr>
        <p:spPr>
          <a:xfrm>
            <a:off x="509319" y="846689"/>
            <a:ext cx="1410921" cy="707886"/>
          </a:xfrm>
          <a:prstGeom prst="rect">
            <a:avLst/>
          </a:prstGeom>
          <a:noFill/>
        </p:spPr>
        <p:txBody>
          <a:bodyPr wrap="square" rtlCol="0">
            <a:spAutoFit/>
          </a:bodyPr>
          <a:lstStyle/>
          <a:p>
            <a:r>
              <a:rPr lang="en-IN" sz="4000">
                <a:solidFill>
                  <a:schemeClr val="bg1"/>
                </a:solidFill>
                <a:latin typeface="Times New Roman" panose="02020603050405020304" pitchFamily="18" charset="0"/>
                <a:cs typeface="Times New Roman" panose="02020603050405020304" pitchFamily="18" charset="0"/>
              </a:rPr>
              <a:t>SRS:</a:t>
            </a:r>
          </a:p>
        </p:txBody>
      </p:sp>
      <p:sp>
        <p:nvSpPr>
          <p:cNvPr id="5" name="TextBox 4">
            <a:extLst>
              <a:ext uri="{FF2B5EF4-FFF2-40B4-BE49-F238E27FC236}">
                <a16:creationId xmlns:a16="http://schemas.microsoft.com/office/drawing/2014/main" id="{5FB607DE-F474-D3CC-C565-6F909C4BE862}"/>
              </a:ext>
            </a:extLst>
          </p:cNvPr>
          <p:cNvSpPr txBox="1"/>
          <p:nvPr/>
        </p:nvSpPr>
        <p:spPr>
          <a:xfrm>
            <a:off x="1800403" y="846689"/>
            <a:ext cx="5749010" cy="707886"/>
          </a:xfrm>
          <a:prstGeom prst="rect">
            <a:avLst/>
          </a:prstGeom>
          <a:noFill/>
        </p:spPr>
        <p:txBody>
          <a:bodyPr wrap="none" rtlCol="0">
            <a:spAutoFit/>
          </a:bodyPr>
          <a:lstStyle/>
          <a:p>
            <a:r>
              <a:rPr lang="en-IN" sz="4000" b="1">
                <a:solidFill>
                  <a:schemeClr val="bg1"/>
                </a:solidFill>
                <a:latin typeface="Times New Roman" panose="02020603050405020304" pitchFamily="18" charset="0"/>
                <a:cs typeface="Times New Roman" panose="02020603050405020304" pitchFamily="18" charset="0"/>
              </a:rPr>
              <a:t>Functional Requirements</a:t>
            </a:r>
          </a:p>
        </p:txBody>
      </p:sp>
      <p:sp>
        <p:nvSpPr>
          <p:cNvPr id="9" name="TextBox 8">
            <a:extLst>
              <a:ext uri="{FF2B5EF4-FFF2-40B4-BE49-F238E27FC236}">
                <a16:creationId xmlns:a16="http://schemas.microsoft.com/office/drawing/2014/main" id="{F7A8591B-55A1-99EC-ADAA-8DDF842898B0}"/>
              </a:ext>
            </a:extLst>
          </p:cNvPr>
          <p:cNvSpPr txBox="1"/>
          <p:nvPr/>
        </p:nvSpPr>
        <p:spPr>
          <a:xfrm>
            <a:off x="509319" y="2405024"/>
            <a:ext cx="2422458"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1. User Management</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User Registration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Login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Profile Management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Role Management</a:t>
            </a:r>
          </a:p>
        </p:txBody>
      </p:sp>
      <p:sp>
        <p:nvSpPr>
          <p:cNvPr id="11" name="TextBox 10">
            <a:extLst>
              <a:ext uri="{FF2B5EF4-FFF2-40B4-BE49-F238E27FC236}">
                <a16:creationId xmlns:a16="http://schemas.microsoft.com/office/drawing/2014/main" id="{F63D614E-7CDB-6CA8-C62D-8073BC684A34}"/>
              </a:ext>
            </a:extLst>
          </p:cNvPr>
          <p:cNvSpPr txBox="1"/>
          <p:nvPr/>
        </p:nvSpPr>
        <p:spPr>
          <a:xfrm>
            <a:off x="2928330" y="2405024"/>
            <a:ext cx="2755883"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2. Challenge Management</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Browse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Search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Filter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Challenge Details</a:t>
            </a:r>
          </a:p>
        </p:txBody>
      </p:sp>
      <p:sp>
        <p:nvSpPr>
          <p:cNvPr id="13" name="TextBox 12">
            <a:extLst>
              <a:ext uri="{FF2B5EF4-FFF2-40B4-BE49-F238E27FC236}">
                <a16:creationId xmlns:a16="http://schemas.microsoft.com/office/drawing/2014/main" id="{6D019295-965A-6B5D-CF57-86B79D7F7CD0}"/>
              </a:ext>
            </a:extLst>
          </p:cNvPr>
          <p:cNvSpPr txBox="1"/>
          <p:nvPr/>
        </p:nvSpPr>
        <p:spPr>
          <a:xfrm>
            <a:off x="5891830" y="2405024"/>
            <a:ext cx="2492990"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3. Code Editor</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Online Editor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Language Selection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Submission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Attempt Management</a:t>
            </a:r>
          </a:p>
        </p:txBody>
      </p:sp>
      <p:sp>
        <p:nvSpPr>
          <p:cNvPr id="15" name="TextBox 14">
            <a:extLst>
              <a:ext uri="{FF2B5EF4-FFF2-40B4-BE49-F238E27FC236}">
                <a16:creationId xmlns:a16="http://schemas.microsoft.com/office/drawing/2014/main" id="{75E9A82E-2C7E-4892-028A-80D3217FE5FC}"/>
              </a:ext>
            </a:extLst>
          </p:cNvPr>
          <p:cNvSpPr txBox="1"/>
          <p:nvPr/>
        </p:nvSpPr>
        <p:spPr>
          <a:xfrm>
            <a:off x="8384820" y="2405024"/>
            <a:ext cx="2614818"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4. Functional Evaluation</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Compilation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Test Execution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Result Evaluation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Error Detection</a:t>
            </a:r>
          </a:p>
        </p:txBody>
      </p:sp>
      <p:sp>
        <p:nvSpPr>
          <p:cNvPr id="17" name="TextBox 16">
            <a:extLst>
              <a:ext uri="{FF2B5EF4-FFF2-40B4-BE49-F238E27FC236}">
                <a16:creationId xmlns:a16="http://schemas.microsoft.com/office/drawing/2014/main" id="{463DE2FB-9B97-8ABC-18EB-FCB45138CE0C}"/>
              </a:ext>
            </a:extLst>
          </p:cNvPr>
          <p:cNvSpPr txBox="1"/>
          <p:nvPr/>
        </p:nvSpPr>
        <p:spPr>
          <a:xfrm>
            <a:off x="509320" y="4368800"/>
            <a:ext cx="2582167" cy="1754326"/>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5. Security Evaluation</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Static Analysis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Vulnerability Detection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Security Findings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Risk Identification</a:t>
            </a:r>
          </a:p>
        </p:txBody>
      </p:sp>
      <p:sp>
        <p:nvSpPr>
          <p:cNvPr id="19" name="TextBox 18">
            <a:extLst>
              <a:ext uri="{FF2B5EF4-FFF2-40B4-BE49-F238E27FC236}">
                <a16:creationId xmlns:a16="http://schemas.microsoft.com/office/drawing/2014/main" id="{8348151A-4CE9-788E-CCBE-A471C5DDC100}"/>
              </a:ext>
            </a:extLst>
          </p:cNvPr>
          <p:cNvSpPr txBox="1"/>
          <p:nvPr/>
        </p:nvSpPr>
        <p:spPr>
          <a:xfrm>
            <a:off x="2928330" y="4383931"/>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6. Feedback System</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Vulnerability Explanation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Recommendations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Improvement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Learning Hints</a:t>
            </a:r>
          </a:p>
        </p:txBody>
      </p:sp>
      <p:sp>
        <p:nvSpPr>
          <p:cNvPr id="21" name="TextBox 20">
            <a:extLst>
              <a:ext uri="{FF2B5EF4-FFF2-40B4-BE49-F238E27FC236}">
                <a16:creationId xmlns:a16="http://schemas.microsoft.com/office/drawing/2014/main" id="{FE292E1E-2ECE-16A2-5025-84A0B0050224}"/>
              </a:ext>
            </a:extLst>
          </p:cNvPr>
          <p:cNvSpPr txBox="1"/>
          <p:nvPr/>
        </p:nvSpPr>
        <p:spPr>
          <a:xfrm>
            <a:off x="5891830" y="4383931"/>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7. Learning Analytics</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Progress Tracking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Attempt History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Performance Analysis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Learning Dashboard</a:t>
            </a:r>
          </a:p>
        </p:txBody>
      </p:sp>
      <p:sp>
        <p:nvSpPr>
          <p:cNvPr id="23" name="TextBox 22">
            <a:extLst>
              <a:ext uri="{FF2B5EF4-FFF2-40B4-BE49-F238E27FC236}">
                <a16:creationId xmlns:a16="http://schemas.microsoft.com/office/drawing/2014/main" id="{B79EA4E1-DD4A-AAFB-3A1E-4328499C90D4}"/>
              </a:ext>
            </a:extLst>
          </p:cNvPr>
          <p:cNvSpPr txBox="1"/>
          <p:nvPr/>
        </p:nvSpPr>
        <p:spPr>
          <a:xfrm>
            <a:off x="8384820" y="4368800"/>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8. Admin Module</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User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Challenge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Content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System Monitoring</a:t>
            </a:r>
          </a:p>
        </p:txBody>
      </p:sp>
    </p:spTree>
    <p:extLst>
      <p:ext uri="{BB962C8B-B14F-4D97-AF65-F5344CB8AC3E}">
        <p14:creationId xmlns:p14="http://schemas.microsoft.com/office/powerpoint/2010/main" val="15788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B38ABA-1661-46DD-0BEF-8ED0EC8F7A44}"/>
              </a:ext>
            </a:extLst>
          </p:cNvPr>
          <p:cNvSpPr txBox="1"/>
          <p:nvPr/>
        </p:nvSpPr>
        <p:spPr>
          <a:xfrm>
            <a:off x="609600" y="792480"/>
            <a:ext cx="6832640" cy="707886"/>
          </a:xfrm>
          <a:prstGeom prst="rect">
            <a:avLst/>
          </a:prstGeom>
          <a:noFill/>
        </p:spPr>
        <p:txBody>
          <a:bodyPr wrap="none" rtlCol="0">
            <a:spAutoFit/>
          </a:bodyPr>
          <a:lstStyle/>
          <a:p>
            <a:r>
              <a:rPr lang="en-IN" sz="4000" b="1">
                <a:solidFill>
                  <a:schemeClr val="bg1"/>
                </a:solidFill>
                <a:latin typeface="Times New Roman" panose="02020603050405020304" pitchFamily="18" charset="0"/>
                <a:cs typeface="Times New Roman" panose="02020603050405020304" pitchFamily="18" charset="0"/>
              </a:rPr>
              <a:t>Non-Functional Requirements</a:t>
            </a:r>
            <a:endParaRPr lang="en-IN" sz="400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57E9487-38A5-11A7-B2D5-FD68A6206E42}"/>
              </a:ext>
            </a:extLst>
          </p:cNvPr>
          <p:cNvSpPr txBox="1"/>
          <p:nvPr/>
        </p:nvSpPr>
        <p:spPr>
          <a:xfrm>
            <a:off x="1097326" y="1948183"/>
            <a:ext cx="2697918" cy="4801314"/>
          </a:xfrm>
          <a:prstGeom prst="rect">
            <a:avLst/>
          </a:prstGeom>
          <a:noFill/>
        </p:spPr>
        <p:txBody>
          <a:bodyPr wrap="square" rtlCol="0">
            <a:spAutoFit/>
          </a:bodyPr>
          <a:lstStyle/>
          <a:p>
            <a:r>
              <a:rPr lang="en-IN" b="1">
                <a:latin typeface="Times New Roman" panose="02020603050405020304" pitchFamily="18" charset="0"/>
                <a:cs typeface="Times New Roman" panose="02020603050405020304" pitchFamily="18" charset="0"/>
              </a:rPr>
              <a:t>1. Usability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User-Friendly Interface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Responsive Design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Simple Navigation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Clear Feedback </a:t>
            </a:r>
          </a:p>
          <a:p>
            <a:pPr lvl="0"/>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2. Performance</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Fast Compilation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Quick Evaluation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Resource Management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Response Optimization </a:t>
            </a:r>
          </a:p>
          <a:p>
            <a:pPr lvl="0"/>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3. Security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Authentication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Data Protection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Access Control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Isolation</a:t>
            </a:r>
          </a:p>
        </p:txBody>
      </p:sp>
      <p:sp>
        <p:nvSpPr>
          <p:cNvPr id="8" name="TextBox 7">
            <a:extLst>
              <a:ext uri="{FF2B5EF4-FFF2-40B4-BE49-F238E27FC236}">
                <a16:creationId xmlns:a16="http://schemas.microsoft.com/office/drawing/2014/main" id="{08672017-9ED0-5C44-1219-F9A96719FCD5}"/>
              </a:ext>
            </a:extLst>
          </p:cNvPr>
          <p:cNvSpPr txBox="1"/>
          <p:nvPr/>
        </p:nvSpPr>
        <p:spPr>
          <a:xfrm>
            <a:off x="4814239" y="1948183"/>
            <a:ext cx="2563522" cy="3416320"/>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4. Scalability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Modular Expansion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New Vulnerabilities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New Languages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Additional Evaluators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5. Reliability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Error Handling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Data Consistency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Service Recovery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Result Accuracy</a:t>
            </a:r>
          </a:p>
          <a:p>
            <a:endParaRPr lang="en-IN">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5BA4405-04A6-9661-0087-0A2625401CBD}"/>
              </a:ext>
            </a:extLst>
          </p:cNvPr>
          <p:cNvSpPr txBox="1"/>
          <p:nvPr/>
        </p:nvSpPr>
        <p:spPr>
          <a:xfrm>
            <a:off x="8276467" y="1948183"/>
            <a:ext cx="2706447" cy="5078313"/>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6. Maintainability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Modular Architecture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Clean Code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Component Reusability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Easy Testing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7. Compatibility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Browser Support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API Integration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Cross-Platform Access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External Tool Support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8. Availability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Service Availability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Failure Recovery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Backup Support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Continuous Operation</a:t>
            </a:r>
          </a:p>
          <a:p>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286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7B68-FEBE-543B-C121-2C9493A7C7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8FCC51-B468-AF1A-7D78-644CC5F9D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534" y="0"/>
            <a:ext cx="10282932" cy="6858000"/>
          </a:xfrm>
          <a:prstGeom prst="rect">
            <a:avLst/>
          </a:prstGeom>
        </p:spPr>
      </p:pic>
    </p:spTree>
    <p:extLst>
      <p:ext uri="{BB962C8B-B14F-4D97-AF65-F5344CB8AC3E}">
        <p14:creationId xmlns:p14="http://schemas.microsoft.com/office/powerpoint/2010/main" val="2510658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38375F-93F2-3550-0D03-0035FBA8C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534" y="0"/>
            <a:ext cx="10282932" cy="6858000"/>
          </a:xfrm>
          <a:prstGeom prst="rect">
            <a:avLst/>
          </a:prstGeom>
        </p:spPr>
      </p:pic>
    </p:spTree>
    <p:extLst>
      <p:ext uri="{BB962C8B-B14F-4D97-AF65-F5344CB8AC3E}">
        <p14:creationId xmlns:p14="http://schemas.microsoft.com/office/powerpoint/2010/main" val="174204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1065B0-847E-2CBD-D64B-C223A5AD9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534" y="0"/>
            <a:ext cx="10282932" cy="6858000"/>
          </a:xfrm>
          <a:prstGeom prst="rect">
            <a:avLst/>
          </a:prstGeom>
        </p:spPr>
      </p:pic>
    </p:spTree>
    <p:extLst>
      <p:ext uri="{BB962C8B-B14F-4D97-AF65-F5344CB8AC3E}">
        <p14:creationId xmlns:p14="http://schemas.microsoft.com/office/powerpoint/2010/main" val="1628272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78AC05-C3A9-EC13-C7A8-E66C39E91E1D}"/>
              </a:ext>
            </a:extLst>
          </p:cNvPr>
          <p:cNvPicPr>
            <a:picLocks noChangeAspect="1"/>
          </p:cNvPicPr>
          <p:nvPr/>
        </p:nvPicPr>
        <p:blipFill>
          <a:blip r:embed="rId2"/>
          <a:stretch>
            <a:fillRect/>
          </a:stretch>
        </p:blipFill>
        <p:spPr>
          <a:xfrm>
            <a:off x="1034133" y="1888396"/>
            <a:ext cx="7102996" cy="3081208"/>
          </a:xfrm>
          <a:prstGeom prst="rect">
            <a:avLst/>
          </a:prstGeom>
        </p:spPr>
      </p:pic>
      <p:sp>
        <p:nvSpPr>
          <p:cNvPr id="4" name="TextBox 3">
            <a:extLst>
              <a:ext uri="{FF2B5EF4-FFF2-40B4-BE49-F238E27FC236}">
                <a16:creationId xmlns:a16="http://schemas.microsoft.com/office/drawing/2014/main" id="{263EFE8D-DB38-0B2B-4C27-A800DB60A373}"/>
              </a:ext>
            </a:extLst>
          </p:cNvPr>
          <p:cNvSpPr txBox="1"/>
          <p:nvPr/>
        </p:nvSpPr>
        <p:spPr>
          <a:xfrm>
            <a:off x="1034133" y="528906"/>
            <a:ext cx="10123733" cy="646331"/>
          </a:xfrm>
          <a:prstGeom prst="rect">
            <a:avLst/>
          </a:prstGeom>
          <a:noFill/>
        </p:spPr>
        <p:txBody>
          <a:bodyPr wrap="none" rtlCol="0">
            <a:spAutoFit/>
          </a:bodyPr>
          <a:lstStyle/>
          <a:p>
            <a:r>
              <a:rPr lang="en-US" sz="3600">
                <a:latin typeface="Times New Roman" panose="02020603050405020304" pitchFamily="18" charset="0"/>
                <a:cs typeface="Times New Roman" panose="02020603050405020304" pitchFamily="18" charset="0"/>
              </a:rPr>
              <a:t>SOFTWARE AND HARDWARE REQUIREMENTS</a:t>
            </a:r>
            <a:endParaRPr lang="en-IN" sz="36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27B7405-5F0C-C9C8-B3E6-591669E29170}"/>
              </a:ext>
            </a:extLst>
          </p:cNvPr>
          <p:cNvSpPr txBox="1"/>
          <p:nvPr/>
        </p:nvSpPr>
        <p:spPr>
          <a:xfrm>
            <a:off x="1034133" y="1365176"/>
            <a:ext cx="4078681" cy="523220"/>
          </a:xfrm>
          <a:prstGeom prst="rect">
            <a:avLst/>
          </a:prstGeom>
          <a:noFill/>
        </p:spPr>
        <p:txBody>
          <a:bodyPr wrap="none" rtlCol="0">
            <a:spAutoFit/>
          </a:bodyPr>
          <a:lstStyle/>
          <a:p>
            <a:r>
              <a:rPr lang="en-IN" sz="2800">
                <a:latin typeface="Times New Roman" panose="02020603050405020304" pitchFamily="18" charset="0"/>
                <a:cs typeface="Times New Roman" panose="02020603050405020304" pitchFamily="18" charset="0"/>
              </a:rPr>
              <a:t>1. Hardware Requirements</a:t>
            </a:r>
          </a:p>
        </p:txBody>
      </p:sp>
    </p:spTree>
    <p:extLst>
      <p:ext uri="{BB962C8B-B14F-4D97-AF65-F5344CB8AC3E}">
        <p14:creationId xmlns:p14="http://schemas.microsoft.com/office/powerpoint/2010/main" val="1890185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95200A-752C-6639-4155-629FBF198CE5}"/>
              </a:ext>
            </a:extLst>
          </p:cNvPr>
          <p:cNvPicPr>
            <a:picLocks noChangeAspect="1"/>
          </p:cNvPicPr>
          <p:nvPr/>
        </p:nvPicPr>
        <p:blipFill>
          <a:blip r:embed="rId2"/>
          <a:stretch>
            <a:fillRect/>
          </a:stretch>
        </p:blipFill>
        <p:spPr>
          <a:xfrm>
            <a:off x="722387" y="1081836"/>
            <a:ext cx="6829807" cy="5739647"/>
          </a:xfrm>
          <a:prstGeom prst="rect">
            <a:avLst/>
          </a:prstGeom>
        </p:spPr>
      </p:pic>
      <p:sp>
        <p:nvSpPr>
          <p:cNvPr id="5" name="TextBox 4">
            <a:extLst>
              <a:ext uri="{FF2B5EF4-FFF2-40B4-BE49-F238E27FC236}">
                <a16:creationId xmlns:a16="http://schemas.microsoft.com/office/drawing/2014/main" id="{F585B440-F0F2-178C-850B-B6F313811F69}"/>
              </a:ext>
            </a:extLst>
          </p:cNvPr>
          <p:cNvSpPr txBox="1"/>
          <p:nvPr/>
        </p:nvSpPr>
        <p:spPr>
          <a:xfrm>
            <a:off x="722388" y="633656"/>
            <a:ext cx="3917419" cy="523220"/>
          </a:xfrm>
          <a:prstGeom prst="rect">
            <a:avLst/>
          </a:prstGeom>
          <a:noFill/>
        </p:spPr>
        <p:txBody>
          <a:bodyPr wrap="none" rtlCol="0">
            <a:spAutoFit/>
          </a:bodyPr>
          <a:lstStyle/>
          <a:p>
            <a:r>
              <a:rPr lang="en-IN" sz="2800"/>
              <a:t>2. Software Requirements</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4623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0227B1-0DBF-DE8A-FFCB-0E5E16C93272}"/>
              </a:ext>
            </a:extLst>
          </p:cNvPr>
          <p:cNvSpPr txBox="1"/>
          <p:nvPr/>
        </p:nvSpPr>
        <p:spPr>
          <a:xfrm>
            <a:off x="4747329" y="609600"/>
            <a:ext cx="2697341"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DFD LEVEL 0</a:t>
            </a:r>
          </a:p>
        </p:txBody>
      </p:sp>
      <p:pic>
        <p:nvPicPr>
          <p:cNvPr id="4" name="Picture 3">
            <a:extLst>
              <a:ext uri="{FF2B5EF4-FFF2-40B4-BE49-F238E27FC236}">
                <a16:creationId xmlns:a16="http://schemas.microsoft.com/office/drawing/2014/main" id="{A62C7EDD-BD8E-EE16-A681-F984837970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 y="1298892"/>
            <a:ext cx="12096750" cy="5133975"/>
          </a:xfrm>
          <a:prstGeom prst="rect">
            <a:avLst/>
          </a:prstGeom>
        </p:spPr>
      </p:pic>
    </p:spTree>
    <p:extLst>
      <p:ext uri="{BB962C8B-B14F-4D97-AF65-F5344CB8AC3E}">
        <p14:creationId xmlns:p14="http://schemas.microsoft.com/office/powerpoint/2010/main" val="891198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3E6A2C-D705-DC16-6326-D718ED4F372D}"/>
              </a:ext>
            </a:extLst>
          </p:cNvPr>
          <p:cNvSpPr txBox="1"/>
          <p:nvPr/>
        </p:nvSpPr>
        <p:spPr>
          <a:xfrm>
            <a:off x="4747329" y="609600"/>
            <a:ext cx="2697341"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DFD LEVEL 1</a:t>
            </a:r>
          </a:p>
        </p:txBody>
      </p:sp>
      <p:pic>
        <p:nvPicPr>
          <p:cNvPr id="5" name="Picture 4">
            <a:extLst>
              <a:ext uri="{FF2B5EF4-FFF2-40B4-BE49-F238E27FC236}">
                <a16:creationId xmlns:a16="http://schemas.microsoft.com/office/drawing/2014/main" id="{DA142E0C-4ECC-3C2E-5083-80C30EEA0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99637"/>
            <a:ext cx="12192000" cy="3858725"/>
          </a:xfrm>
          <a:prstGeom prst="rect">
            <a:avLst/>
          </a:prstGeom>
        </p:spPr>
      </p:pic>
    </p:spTree>
    <p:extLst>
      <p:ext uri="{BB962C8B-B14F-4D97-AF65-F5344CB8AC3E}">
        <p14:creationId xmlns:p14="http://schemas.microsoft.com/office/powerpoint/2010/main" val="3748969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3FFAE-2D7E-F92D-8731-69F20E5EF8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556EFF-1426-3F99-EFE2-2C37F11E88E1}"/>
              </a:ext>
            </a:extLst>
          </p:cNvPr>
          <p:cNvSpPr txBox="1"/>
          <p:nvPr/>
        </p:nvSpPr>
        <p:spPr>
          <a:xfrm>
            <a:off x="419169" y="619760"/>
            <a:ext cx="2697341"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DFD LEVEL 2</a:t>
            </a:r>
          </a:p>
        </p:txBody>
      </p:sp>
      <p:pic>
        <p:nvPicPr>
          <p:cNvPr id="4" name="Picture 3">
            <a:extLst>
              <a:ext uri="{FF2B5EF4-FFF2-40B4-BE49-F238E27FC236}">
                <a16:creationId xmlns:a16="http://schemas.microsoft.com/office/drawing/2014/main" id="{4BB5C848-B5B5-46D5-E1CF-D0E8CF1312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7" y="0"/>
            <a:ext cx="4283983" cy="6858000"/>
          </a:xfrm>
          <a:prstGeom prst="rect">
            <a:avLst/>
          </a:prstGeom>
        </p:spPr>
      </p:pic>
    </p:spTree>
    <p:extLst>
      <p:ext uri="{BB962C8B-B14F-4D97-AF65-F5344CB8AC3E}">
        <p14:creationId xmlns:p14="http://schemas.microsoft.com/office/powerpoint/2010/main" val="74028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8B7F89-992A-58AE-EA38-EC86F1911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3665"/>
            <a:ext cx="12192000" cy="5604335"/>
          </a:xfrm>
          <a:prstGeom prst="rect">
            <a:avLst/>
          </a:prstGeom>
        </p:spPr>
      </p:pic>
      <p:sp>
        <p:nvSpPr>
          <p:cNvPr id="5" name="TextBox 4">
            <a:extLst>
              <a:ext uri="{FF2B5EF4-FFF2-40B4-BE49-F238E27FC236}">
                <a16:creationId xmlns:a16="http://schemas.microsoft.com/office/drawing/2014/main" id="{DDDD1F0D-F6CD-44F0-5D09-972A3B6DCA67}"/>
              </a:ext>
            </a:extLst>
          </p:cNvPr>
          <p:cNvSpPr txBox="1"/>
          <p:nvPr/>
        </p:nvSpPr>
        <p:spPr>
          <a:xfrm>
            <a:off x="5051483" y="558800"/>
            <a:ext cx="2089033"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Home Page</a:t>
            </a:r>
          </a:p>
        </p:txBody>
      </p:sp>
    </p:spTree>
    <p:extLst>
      <p:ext uri="{BB962C8B-B14F-4D97-AF65-F5344CB8AC3E}">
        <p14:creationId xmlns:p14="http://schemas.microsoft.com/office/powerpoint/2010/main" val="271616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CA734-04B4-9365-DE00-2EE458DDDB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0ACADC-5FA4-2F56-DFC8-B717DA77BA2C}"/>
              </a:ext>
            </a:extLst>
          </p:cNvPr>
          <p:cNvSpPr txBox="1"/>
          <p:nvPr/>
        </p:nvSpPr>
        <p:spPr>
          <a:xfrm>
            <a:off x="4640313" y="538480"/>
            <a:ext cx="2911374"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Challenges Page</a:t>
            </a:r>
          </a:p>
        </p:txBody>
      </p:sp>
      <p:pic>
        <p:nvPicPr>
          <p:cNvPr id="4" name="Picture 3">
            <a:extLst>
              <a:ext uri="{FF2B5EF4-FFF2-40B4-BE49-F238E27FC236}">
                <a16:creationId xmlns:a16="http://schemas.microsoft.com/office/drawing/2014/main" id="{A2FBE6E4-EB6B-814E-6F19-8CA21BBF4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6216"/>
            <a:ext cx="12192000" cy="5611784"/>
          </a:xfrm>
          <a:prstGeom prst="rect">
            <a:avLst/>
          </a:prstGeom>
        </p:spPr>
      </p:pic>
    </p:spTree>
    <p:extLst>
      <p:ext uri="{BB962C8B-B14F-4D97-AF65-F5344CB8AC3E}">
        <p14:creationId xmlns:p14="http://schemas.microsoft.com/office/powerpoint/2010/main" val="2850581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3E812-28FB-5D99-87D9-42F90B9D52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7FF8B8-8B10-345E-ABC1-6BA2A1CF8828}"/>
              </a:ext>
            </a:extLst>
          </p:cNvPr>
          <p:cNvSpPr txBox="1"/>
          <p:nvPr/>
        </p:nvSpPr>
        <p:spPr>
          <a:xfrm>
            <a:off x="4766148" y="528320"/>
            <a:ext cx="2659702"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Analytics Page</a:t>
            </a:r>
          </a:p>
        </p:txBody>
      </p:sp>
      <p:pic>
        <p:nvPicPr>
          <p:cNvPr id="4" name="Picture 3">
            <a:extLst>
              <a:ext uri="{FF2B5EF4-FFF2-40B4-BE49-F238E27FC236}">
                <a16:creationId xmlns:a16="http://schemas.microsoft.com/office/drawing/2014/main" id="{CCD8064D-A843-5348-C728-B3ED58EC8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37917"/>
            <a:ext cx="12192000" cy="5589603"/>
          </a:xfrm>
          <a:prstGeom prst="rect">
            <a:avLst/>
          </a:prstGeom>
        </p:spPr>
      </p:pic>
    </p:spTree>
    <p:extLst>
      <p:ext uri="{BB962C8B-B14F-4D97-AF65-F5344CB8AC3E}">
        <p14:creationId xmlns:p14="http://schemas.microsoft.com/office/powerpoint/2010/main" val="1647397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32B7-911F-7E8B-4349-34B70F0B6D5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8CB86F-12D2-ACDD-4AE2-C8EADAF2854C}"/>
              </a:ext>
            </a:extLst>
          </p:cNvPr>
          <p:cNvSpPr txBox="1"/>
          <p:nvPr/>
        </p:nvSpPr>
        <p:spPr>
          <a:xfrm>
            <a:off x="4539323" y="568960"/>
            <a:ext cx="3113353"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Code-Editor Page</a:t>
            </a:r>
          </a:p>
        </p:txBody>
      </p:sp>
      <p:pic>
        <p:nvPicPr>
          <p:cNvPr id="3" name="Picture 2">
            <a:extLst>
              <a:ext uri="{FF2B5EF4-FFF2-40B4-BE49-F238E27FC236}">
                <a16:creationId xmlns:a16="http://schemas.microsoft.com/office/drawing/2014/main" id="{7F5C9120-96A9-D50F-BE95-81E7C1D5A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1742"/>
            <a:ext cx="12192000" cy="5606258"/>
          </a:xfrm>
          <a:prstGeom prst="rect">
            <a:avLst/>
          </a:prstGeom>
        </p:spPr>
      </p:pic>
    </p:spTree>
    <p:extLst>
      <p:ext uri="{BB962C8B-B14F-4D97-AF65-F5344CB8AC3E}">
        <p14:creationId xmlns:p14="http://schemas.microsoft.com/office/powerpoint/2010/main" val="4044466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3389A-79E8-D8E4-DA82-11DCF5D56D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42DE70-D005-E5EB-E13F-7A572E6EA593}"/>
              </a:ext>
            </a:extLst>
          </p:cNvPr>
          <p:cNvSpPr txBox="1"/>
          <p:nvPr/>
        </p:nvSpPr>
        <p:spPr>
          <a:xfrm>
            <a:off x="3836503" y="548640"/>
            <a:ext cx="4518994"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Submission Analysis Page</a:t>
            </a:r>
          </a:p>
        </p:txBody>
      </p:sp>
      <p:pic>
        <p:nvPicPr>
          <p:cNvPr id="3" name="Picture 2">
            <a:extLst>
              <a:ext uri="{FF2B5EF4-FFF2-40B4-BE49-F238E27FC236}">
                <a16:creationId xmlns:a16="http://schemas.microsoft.com/office/drawing/2014/main" id="{F68F7789-06C4-FD40-6459-294CE51A52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5457"/>
            <a:ext cx="12192000" cy="5592543"/>
          </a:xfrm>
          <a:prstGeom prst="rect">
            <a:avLst/>
          </a:prstGeom>
        </p:spPr>
      </p:pic>
    </p:spTree>
    <p:extLst>
      <p:ext uri="{BB962C8B-B14F-4D97-AF65-F5344CB8AC3E}">
        <p14:creationId xmlns:p14="http://schemas.microsoft.com/office/powerpoint/2010/main" val="3888395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8CA33-65AC-802A-5408-C6FB6B8151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6BA3C0-DF3C-D695-0BA9-C6CFC8DA3F61}"/>
              </a:ext>
            </a:extLst>
          </p:cNvPr>
          <p:cNvSpPr txBox="1"/>
          <p:nvPr/>
        </p:nvSpPr>
        <p:spPr>
          <a:xfrm>
            <a:off x="4191472" y="568960"/>
            <a:ext cx="3809056"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Learning Score Board</a:t>
            </a:r>
          </a:p>
        </p:txBody>
      </p:sp>
      <p:pic>
        <p:nvPicPr>
          <p:cNvPr id="3" name="Picture 2">
            <a:extLst>
              <a:ext uri="{FF2B5EF4-FFF2-40B4-BE49-F238E27FC236}">
                <a16:creationId xmlns:a16="http://schemas.microsoft.com/office/drawing/2014/main" id="{518B3043-301E-E3F5-1CF1-6C1BFC525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98"/>
            <a:ext cx="12192000" cy="5563402"/>
          </a:xfrm>
          <a:prstGeom prst="rect">
            <a:avLst/>
          </a:prstGeom>
        </p:spPr>
      </p:pic>
    </p:spTree>
    <p:extLst>
      <p:ext uri="{BB962C8B-B14F-4D97-AF65-F5344CB8AC3E}">
        <p14:creationId xmlns:p14="http://schemas.microsoft.com/office/powerpoint/2010/main" val="1346310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3EBC-39A6-917D-3776-FCA37FB6BE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B013631-4B89-5595-E1A4-D8EE417EF284}"/>
              </a:ext>
            </a:extLst>
          </p:cNvPr>
          <p:cNvSpPr txBox="1"/>
          <p:nvPr/>
        </p:nvSpPr>
        <p:spPr>
          <a:xfrm>
            <a:off x="4152101" y="467408"/>
            <a:ext cx="3887796" cy="584775"/>
          </a:xfrm>
          <a:prstGeom prst="rect">
            <a:avLst/>
          </a:prstGeom>
          <a:noFill/>
        </p:spPr>
        <p:txBody>
          <a:bodyPr wrap="none" rtlCol="0">
            <a:spAutoFit/>
          </a:bodyPr>
          <a:lstStyle/>
          <a:p>
            <a:r>
              <a:rPr lang="en-IN" sz="3200">
                <a:latin typeface="Times New Roman" panose="02020603050405020304" pitchFamily="18" charset="0"/>
                <a:cs typeface="Times New Roman" panose="02020603050405020304" pitchFamily="18" charset="0"/>
              </a:rPr>
              <a:t>Five-Attempt Window</a:t>
            </a:r>
          </a:p>
        </p:txBody>
      </p:sp>
      <p:pic>
        <p:nvPicPr>
          <p:cNvPr id="3" name="Picture 2">
            <a:extLst>
              <a:ext uri="{FF2B5EF4-FFF2-40B4-BE49-F238E27FC236}">
                <a16:creationId xmlns:a16="http://schemas.microsoft.com/office/drawing/2014/main" id="{5C892E45-7F19-AAE0-84C0-B106253B4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818" y="1052183"/>
            <a:ext cx="9384363" cy="5805817"/>
          </a:xfrm>
          <a:prstGeom prst="rect">
            <a:avLst/>
          </a:prstGeom>
        </p:spPr>
      </p:pic>
    </p:spTree>
    <p:extLst>
      <p:ext uri="{BB962C8B-B14F-4D97-AF65-F5344CB8AC3E}">
        <p14:creationId xmlns:p14="http://schemas.microsoft.com/office/powerpoint/2010/main" val="4246279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F68A57-0D2F-69AA-5989-C99287664883}"/>
              </a:ext>
            </a:extLst>
          </p:cNvPr>
          <p:cNvSpPr txBox="1"/>
          <p:nvPr/>
        </p:nvSpPr>
        <p:spPr>
          <a:xfrm>
            <a:off x="467360" y="2214880"/>
            <a:ext cx="11257280" cy="3785652"/>
          </a:xfrm>
          <a:prstGeom prst="rect">
            <a:avLst/>
          </a:prstGeom>
          <a:noFill/>
        </p:spPr>
        <p:txBody>
          <a:bodyPr wrap="square" rtlCol="0">
            <a:spAutoFit/>
          </a:bodyPr>
          <a:lstStyle/>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SecureCode AI provides an interactive platform for learning and practicing secure software development through hands-on coding challenges.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It evaluates both functional correctness and security correctness, helping learners develop code that works correctly and follows secure coding practices.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The platform combines Judge0, Semgrep, SpotBugs/FindSecBugs, and Groq AI to support code evaluation and security feedback.</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Its learning features include vulnerability-based challenges, hints, conceptual assessments, learning scores, and progress analytics.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The multi-pillar scoring system encourages learners to improve their security knowledge and independent problem-solving skills.</a:t>
            </a:r>
          </a:p>
          <a:p>
            <a:pPr marL="285750" lvl="0" indent="-28575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Overall, SecureCode AI bridges the gap between traditional programming practice and secure coding education.</a:t>
            </a:r>
          </a:p>
        </p:txBody>
      </p:sp>
      <p:sp>
        <p:nvSpPr>
          <p:cNvPr id="5" name="TextBox 4">
            <a:extLst>
              <a:ext uri="{FF2B5EF4-FFF2-40B4-BE49-F238E27FC236}">
                <a16:creationId xmlns:a16="http://schemas.microsoft.com/office/drawing/2014/main" id="{4070596E-9C65-23C9-3985-66EBC6EE0C49}"/>
              </a:ext>
            </a:extLst>
          </p:cNvPr>
          <p:cNvSpPr txBox="1"/>
          <p:nvPr/>
        </p:nvSpPr>
        <p:spPr>
          <a:xfrm>
            <a:off x="4830269" y="965200"/>
            <a:ext cx="2531462" cy="707886"/>
          </a:xfrm>
          <a:prstGeom prst="rect">
            <a:avLst/>
          </a:prstGeom>
          <a:noFill/>
        </p:spPr>
        <p:txBody>
          <a:bodyPr wrap="none" rtlCol="0">
            <a:spAutoFit/>
          </a:bodyPr>
          <a:lstStyle/>
          <a:p>
            <a:r>
              <a:rPr lang="en-IN" sz="400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320073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06CFDF-35C7-056D-2C9C-7A5A609E9BE6}"/>
              </a:ext>
            </a:extLst>
          </p:cNvPr>
          <p:cNvSpPr txBox="1"/>
          <p:nvPr/>
        </p:nvSpPr>
        <p:spPr>
          <a:xfrm>
            <a:off x="421639" y="1828800"/>
            <a:ext cx="11348720" cy="4708981"/>
          </a:xfrm>
          <a:prstGeom prst="rect">
            <a:avLst/>
          </a:prstGeom>
          <a:noFill/>
        </p:spPr>
        <p:txBody>
          <a:bodyPr wrap="square" rtlCol="0">
            <a:spAutoFit/>
          </a:bodyPr>
          <a:lstStyle/>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[1]  Dai, S.-C., Xu, J., &amp; Tao, G. (2026). Rethinking the evaluation of secure code generation. In 2026 IEEE/ACM 48th International Conference on Software Engineering (ICSE '26), April 12-18, 2026, Rio de Janeiro, Brazil. ACM.</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[2]  Patir, R., Guo, K., Cai, H., &amp; Hu, H. (2026). SoK: AI secure code generation: Progress, pitfalls, and paths </a:t>
            </a: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forward. Preprint, University at Buffalo, SUNY. arXiv:2606.25195.</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[3]  Xin Zhou, Sicong Cao, Xiaobing Sun, David Lo. Large Language Model for Vulnerability Detection and Repair: Literature Review and the Road Ahead. 2024.</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[4]  Yan, H., Vaidya, S. S., Zhang, X., &amp; Yao, Z. (2025). Guiding AI to fix its own flaws: An empirical study on LLM-driven secure code generation. Preprint, George Mason University. arXiv:2506.23034.</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[5]  Belozerov, V., Barclay, P. J., &amp; Sami, A. (2026). Secure Coding with AI - From Detection to Repair. Empirical Software Engineering, 31, Article 93.</a:t>
            </a:r>
          </a:p>
        </p:txBody>
      </p:sp>
      <p:sp>
        <p:nvSpPr>
          <p:cNvPr id="5" name="TextBox 4">
            <a:extLst>
              <a:ext uri="{FF2B5EF4-FFF2-40B4-BE49-F238E27FC236}">
                <a16:creationId xmlns:a16="http://schemas.microsoft.com/office/drawing/2014/main" id="{9B03CAA1-BE0B-250B-A49C-A9EE69E7095A}"/>
              </a:ext>
            </a:extLst>
          </p:cNvPr>
          <p:cNvSpPr txBox="1"/>
          <p:nvPr/>
        </p:nvSpPr>
        <p:spPr>
          <a:xfrm>
            <a:off x="4959727" y="995680"/>
            <a:ext cx="2464136" cy="707886"/>
          </a:xfrm>
          <a:prstGeom prst="rect">
            <a:avLst/>
          </a:prstGeom>
          <a:noFill/>
        </p:spPr>
        <p:txBody>
          <a:bodyPr wrap="none" rtlCol="0">
            <a:spAutoFit/>
          </a:bodyPr>
          <a:lstStyle/>
          <a:p>
            <a:r>
              <a:rPr lang="en-IN" sz="4000">
                <a:solidFill>
                  <a:schemeClr val="bg1"/>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107862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6C166A-A9A3-C303-4DCF-C621FDAA87BE}"/>
              </a:ext>
            </a:extLst>
          </p:cNvPr>
          <p:cNvSpPr txBox="1"/>
          <p:nvPr/>
        </p:nvSpPr>
        <p:spPr>
          <a:xfrm>
            <a:off x="426720" y="833120"/>
            <a:ext cx="11297920" cy="5324535"/>
          </a:xfrm>
          <a:prstGeom prst="rect">
            <a:avLst/>
          </a:prstGeom>
          <a:noFill/>
        </p:spPr>
        <p:txBody>
          <a:bodyPr wrap="square" rtlCol="0">
            <a:spAutoFit/>
          </a:bodyPr>
          <a:lstStyle/>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[6]  Guo, Yuejun, and Seifeddine Bettaieb. "An Investigation of Quality Issues in Vulnerability Detection Datasets." arXiv preprint arXiv:2410.06030 (2024).</a:t>
            </a:r>
            <a:endParaRPr lang="en-IN" sz="2000">
              <a:latin typeface="Times New Roman" panose="02020603050405020304" pitchFamily="18" charset="0"/>
              <a:cs typeface="Times New Roman" panose="02020603050405020304" pitchFamily="18" charset="0"/>
            </a:endParaRPr>
          </a:p>
          <a:p>
            <a:endPar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[7]  Bi, Yingzhou, Jiangtao Huang, Peihui Liu, and Lianmei Wang. "Benchmarking Software Vulnerability Detection Techniques: A Survey." arXiv preprint arXiv:2303.16362 (2023).</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[8]  Alwageed, Hathal S., and Rafiq Ahmad Khan. "The Role of Generative AI in Strengthening Secure Software Coding Practices: A Systematic Perspective." (2025).</a:t>
            </a: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[9]  Combéfis, S. (2022). Automated code assessment for education: Review, classification and perspectives on techniques and tools. Software, 1(1), 3-30. </a:t>
            </a:r>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hlinkClick r:id="rId2"/>
              </a:rPr>
              <a:t>https://doi.org/10.3390/software1010002</a:t>
            </a:r>
            <a:endPar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a:p>
            <a:r>
              <a:rPr lang="en-US" sz="200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[10]  Rahman, Md. Mostafizer, Yutaka Watanobe, Atsushi Shirafuji, and Mohamed Hamada. "Exploring Automated Code Evaluation Systems and Resources for Code Analysis: A Comprehensive Survey." J. ACM 37, no. 4, Article 111 (2018).</a:t>
            </a:r>
            <a:endParaRPr lang="en-IN"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087275"/>
      </p:ext>
    </p:extLst>
  </p:cSld>
  <p:clrMapOvr>
    <a:masterClrMapping/>
  </p:clrMapOvr>
</p:sld>
</file>

<file path=ppt/theme/theme1.xml><?xml version="1.0" encoding="utf-8"?>
<a:theme xmlns:a="http://schemas.openxmlformats.org/drawingml/2006/main" name="1_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2819</Words>
  <Application>Microsoft Office PowerPoint</Application>
  <PresentationFormat>Widescreen</PresentationFormat>
  <Paragraphs>313</Paragraphs>
  <Slides>34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34</vt:i4>
      </vt:variant>
    </vt:vector>
  </HeadingPairs>
  <TitlesOfParts>
    <vt:vector size="40" baseType="lpstr">
      <vt:lpstr>Gill Sans MT</vt:lpstr>
      <vt:lpstr>Times New Roman</vt:lpstr>
      <vt:lpstr>Wingdings</vt:lpstr>
      <vt:lpstr>Wingdings 2</vt:lpstr>
      <vt:lpstr>1_Dividend</vt:lpstr>
      <vt:lpstr>Dividend</vt:lpstr>
      <vt:lpstr>PowerPoint Presentation</vt:lpstr>
      <vt:lpstr>PowerPoint Presentation</vt:lpstr>
      <vt:lpstr>Abstract</vt:lpstr>
      <vt:lpstr>Introduction</vt:lpstr>
      <vt:lpstr>PowerPoint Presentation</vt:lpstr>
      <vt:lpstr>PowerPoint Presentation</vt:lpstr>
      <vt:lpstr>PowerPoint Presentation</vt:lpstr>
      <vt:lpstr>PowerPoint Presentation</vt:lpstr>
      <vt:lpstr>PowerPoint Presentation</vt:lpstr>
      <vt:lpstr>PowerPoint Presentation</vt:lpstr>
      <vt:lpstr>Problem Statement</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jain</dc:creator>
  <cp:lastModifiedBy>harsh jain</cp:lastModifiedBy>
  <cp:revision>7</cp:revision>
  <dcterms:created xsi:type="dcterms:W3CDTF">2026-10-29T12:21:30Z</dcterms:created>
  <dcterms:modified xsi:type="dcterms:W3CDTF">2026-10-29T17:48:16Z</dcterms:modified>
</cp:coreProperties>
</file>