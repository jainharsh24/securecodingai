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9" r:id="rId3"/>
    <p:sldId id="258" r:id="rId4"/>
    <p:sldId id="260" r:id="rId5"/>
    <p:sldId id="262" r:id="rId6"/>
    <p:sldId id="263" r:id="rId7"/>
    <p:sldId id="261" r:id="rId8"/>
    <p:sldId id="275" r:id="rId9"/>
    <p:sldId id="264" r:id="rId10"/>
    <p:sldId id="265" r:id="rId11"/>
    <p:sldId id="266" r:id="rId12"/>
    <p:sldId id="267" r:id="rId13"/>
    <p:sldId id="268" r:id="rId14"/>
    <p:sldId id="269" r:id="rId15"/>
    <p:sldId id="270" r:id="rId16"/>
    <p:sldId id="271" r:id="rId17"/>
    <p:sldId id="272" r:id="rId18"/>
    <p:sldId id="276" r:id="rId19"/>
    <p:sldId id="277" r:id="rId20"/>
    <p:sldId id="273" r:id="rId21"/>
    <p:sldId id="27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78D993-1391-4C4D-9587-DD6D59E1ED76}" type="datetimeFigureOut">
              <a:rPr lang="en-IN" smtClean="0"/>
              <a:t>16-08-2026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402B31-A58C-4099-9A8D-61DE4F7CA5D2}" type="slidenum">
              <a:rPr lang="en-IN" smtClean="0"/>
              <a:t>‹#›</a:t>
            </a:fld>
            <a:endParaRPr lang="en-IN"/>
          </a:p>
        </p:txBody>
      </p:sp>
    </p:spTree>
    <p:extLst>
      <p:ext uri="{BB962C8B-B14F-4D97-AF65-F5344CB8AC3E}">
        <p14:creationId xmlns:p14="http://schemas.microsoft.com/office/powerpoint/2010/main" val="166544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5" name="Google Shape;7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FBC62-6066-ABBE-7A88-62F693ECFC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0C34034-27D8-34E3-49F8-C1736A4BD4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CD3700B-EACE-86FF-7105-CF365D5D3A3D}"/>
              </a:ext>
            </a:extLst>
          </p:cNvPr>
          <p:cNvSpPr>
            <a:spLocks noGrp="1"/>
          </p:cNvSpPr>
          <p:nvPr>
            <p:ph type="dt" sz="half" idx="10"/>
          </p:nvPr>
        </p:nvSpPr>
        <p:spPr/>
        <p:txBody>
          <a:bodyPr/>
          <a:lstStyle/>
          <a:p>
            <a:fld id="{7BB75732-3BA2-401B-9BCF-7B77B273F1C2}" type="datetimeFigureOut">
              <a:rPr lang="en-IN" smtClean="0"/>
              <a:t>16-08-2026</a:t>
            </a:fld>
            <a:endParaRPr lang="en-IN"/>
          </a:p>
        </p:txBody>
      </p:sp>
      <p:sp>
        <p:nvSpPr>
          <p:cNvPr id="5" name="Footer Placeholder 4">
            <a:extLst>
              <a:ext uri="{FF2B5EF4-FFF2-40B4-BE49-F238E27FC236}">
                <a16:creationId xmlns:a16="http://schemas.microsoft.com/office/drawing/2014/main" id="{EC79FC96-A76E-39DD-2CD6-787FBCF5D2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092156-8A99-438A-133E-ED21360F6E54}"/>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368593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B61EC-FDF1-0E4C-4A14-3B742A62D25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DE8C58-9E9C-B33C-88BD-C619A9EAED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91B084-1F88-6B5E-7F0F-FE50C34121E4}"/>
              </a:ext>
            </a:extLst>
          </p:cNvPr>
          <p:cNvSpPr>
            <a:spLocks noGrp="1"/>
          </p:cNvSpPr>
          <p:nvPr>
            <p:ph type="dt" sz="half" idx="10"/>
          </p:nvPr>
        </p:nvSpPr>
        <p:spPr/>
        <p:txBody>
          <a:bodyPr/>
          <a:lstStyle/>
          <a:p>
            <a:fld id="{7BB75732-3BA2-401B-9BCF-7B77B273F1C2}" type="datetimeFigureOut">
              <a:rPr lang="en-IN" smtClean="0"/>
              <a:t>16-08-2026</a:t>
            </a:fld>
            <a:endParaRPr lang="en-IN"/>
          </a:p>
        </p:txBody>
      </p:sp>
      <p:sp>
        <p:nvSpPr>
          <p:cNvPr id="5" name="Footer Placeholder 4">
            <a:extLst>
              <a:ext uri="{FF2B5EF4-FFF2-40B4-BE49-F238E27FC236}">
                <a16:creationId xmlns:a16="http://schemas.microsoft.com/office/drawing/2014/main" id="{122E34AD-0AD8-0E25-F1E7-BFD5D7FC80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ACBD25-3AED-4088-71E9-1B22C75F969C}"/>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242564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D25DE-2BC5-99CB-2C23-56DF76A8D1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11EBF6E-510D-D508-F91D-676FEE28F4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B13B23-7E3D-0A2A-B525-7303FC1DF204}"/>
              </a:ext>
            </a:extLst>
          </p:cNvPr>
          <p:cNvSpPr>
            <a:spLocks noGrp="1"/>
          </p:cNvSpPr>
          <p:nvPr>
            <p:ph type="dt" sz="half" idx="10"/>
          </p:nvPr>
        </p:nvSpPr>
        <p:spPr/>
        <p:txBody>
          <a:bodyPr/>
          <a:lstStyle/>
          <a:p>
            <a:fld id="{7BB75732-3BA2-401B-9BCF-7B77B273F1C2}" type="datetimeFigureOut">
              <a:rPr lang="en-IN" smtClean="0"/>
              <a:t>16-08-2026</a:t>
            </a:fld>
            <a:endParaRPr lang="en-IN"/>
          </a:p>
        </p:txBody>
      </p:sp>
      <p:sp>
        <p:nvSpPr>
          <p:cNvPr id="5" name="Footer Placeholder 4">
            <a:extLst>
              <a:ext uri="{FF2B5EF4-FFF2-40B4-BE49-F238E27FC236}">
                <a16:creationId xmlns:a16="http://schemas.microsoft.com/office/drawing/2014/main" id="{2C48D830-D238-CE90-676F-C8B841F208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5372CC-6206-C132-1B91-8197DBC500F3}"/>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3377839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F32A8-3063-889A-16E6-9ECB054D27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C0845B-BFC7-E439-E220-8A10372E2B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3D91EAD-BFA0-5AEA-098B-88E69D74F4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EA75B39-C50F-3982-3D4B-EF865605BB4D}"/>
              </a:ext>
            </a:extLst>
          </p:cNvPr>
          <p:cNvSpPr>
            <a:spLocks noGrp="1"/>
          </p:cNvSpPr>
          <p:nvPr>
            <p:ph type="dt" sz="half" idx="10"/>
          </p:nvPr>
        </p:nvSpPr>
        <p:spPr/>
        <p:txBody>
          <a:bodyPr/>
          <a:lstStyle/>
          <a:p>
            <a:fld id="{7BB75732-3BA2-401B-9BCF-7B77B273F1C2}" type="datetimeFigureOut">
              <a:rPr lang="en-IN" smtClean="0"/>
              <a:t>16-08-2026</a:t>
            </a:fld>
            <a:endParaRPr lang="en-IN"/>
          </a:p>
        </p:txBody>
      </p:sp>
      <p:sp>
        <p:nvSpPr>
          <p:cNvPr id="6" name="Footer Placeholder 5">
            <a:extLst>
              <a:ext uri="{FF2B5EF4-FFF2-40B4-BE49-F238E27FC236}">
                <a16:creationId xmlns:a16="http://schemas.microsoft.com/office/drawing/2014/main" id="{F417C9C9-0BC1-B9B2-4CBF-4B49324741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D8B4B1-39BF-9A98-86BA-CB979934C830}"/>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1310538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53A9C-ED25-6CFD-98CE-B1F4A8B8F9A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2EF574-E599-4BA3-FD7A-C9A5B3A47A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4F171A-1EC4-EE47-98E5-FE941F9D1D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F488B29-A830-8C47-17D3-DF7077658C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77B887-1059-99B8-0F32-8E6ECAFEAD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4F873B7-95F1-E123-EA32-295B5232B195}"/>
              </a:ext>
            </a:extLst>
          </p:cNvPr>
          <p:cNvSpPr>
            <a:spLocks noGrp="1"/>
          </p:cNvSpPr>
          <p:nvPr>
            <p:ph type="dt" sz="half" idx="10"/>
          </p:nvPr>
        </p:nvSpPr>
        <p:spPr/>
        <p:txBody>
          <a:bodyPr/>
          <a:lstStyle/>
          <a:p>
            <a:fld id="{7BB75732-3BA2-401B-9BCF-7B77B273F1C2}" type="datetimeFigureOut">
              <a:rPr lang="en-IN" smtClean="0"/>
              <a:t>16-08-2026</a:t>
            </a:fld>
            <a:endParaRPr lang="en-IN"/>
          </a:p>
        </p:txBody>
      </p:sp>
      <p:sp>
        <p:nvSpPr>
          <p:cNvPr id="8" name="Footer Placeholder 7">
            <a:extLst>
              <a:ext uri="{FF2B5EF4-FFF2-40B4-BE49-F238E27FC236}">
                <a16:creationId xmlns:a16="http://schemas.microsoft.com/office/drawing/2014/main" id="{9816E8B2-219E-B801-253B-6656A140856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61D59BB-D91F-0152-3ABA-31847798C181}"/>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527251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DDA13-692F-45E0-B1E6-F2C3B3F352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8663D9A-D85C-997F-F3FF-D23062DA576F}"/>
              </a:ext>
            </a:extLst>
          </p:cNvPr>
          <p:cNvSpPr>
            <a:spLocks noGrp="1"/>
          </p:cNvSpPr>
          <p:nvPr>
            <p:ph type="dt" sz="half" idx="10"/>
          </p:nvPr>
        </p:nvSpPr>
        <p:spPr/>
        <p:txBody>
          <a:bodyPr/>
          <a:lstStyle/>
          <a:p>
            <a:fld id="{7BB75732-3BA2-401B-9BCF-7B77B273F1C2}" type="datetimeFigureOut">
              <a:rPr lang="en-IN" smtClean="0"/>
              <a:t>16-08-2026</a:t>
            </a:fld>
            <a:endParaRPr lang="en-IN"/>
          </a:p>
        </p:txBody>
      </p:sp>
      <p:sp>
        <p:nvSpPr>
          <p:cNvPr id="4" name="Footer Placeholder 3">
            <a:extLst>
              <a:ext uri="{FF2B5EF4-FFF2-40B4-BE49-F238E27FC236}">
                <a16:creationId xmlns:a16="http://schemas.microsoft.com/office/drawing/2014/main" id="{9C03D58C-6B3C-314E-808C-1DA93BF4BF0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029E5E8-5D59-0717-1A56-F26E9BB7BCC2}"/>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706823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E501B7-2718-96AA-7A4F-78EB58E409E9}"/>
              </a:ext>
            </a:extLst>
          </p:cNvPr>
          <p:cNvSpPr>
            <a:spLocks noGrp="1"/>
          </p:cNvSpPr>
          <p:nvPr>
            <p:ph type="dt" sz="half" idx="10"/>
          </p:nvPr>
        </p:nvSpPr>
        <p:spPr/>
        <p:txBody>
          <a:bodyPr/>
          <a:lstStyle/>
          <a:p>
            <a:fld id="{7BB75732-3BA2-401B-9BCF-7B77B273F1C2}" type="datetimeFigureOut">
              <a:rPr lang="en-IN" smtClean="0"/>
              <a:t>16-08-2026</a:t>
            </a:fld>
            <a:endParaRPr lang="en-IN"/>
          </a:p>
        </p:txBody>
      </p:sp>
      <p:sp>
        <p:nvSpPr>
          <p:cNvPr id="3" name="Footer Placeholder 2">
            <a:extLst>
              <a:ext uri="{FF2B5EF4-FFF2-40B4-BE49-F238E27FC236}">
                <a16:creationId xmlns:a16="http://schemas.microsoft.com/office/drawing/2014/main" id="{12347D12-C455-79E3-5727-FE95ACE0EA0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6704E28-4DE6-300D-ECC7-4345F9D99F86}"/>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2631078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0D198-CE5B-227E-498B-9832F2C41B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01CE8BD-81E4-8B01-012A-8FE0D36611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72988C-20E0-8C0B-7A82-485E7A3692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50CFFC-D316-FAD6-D73E-8F8637CB34D7}"/>
              </a:ext>
            </a:extLst>
          </p:cNvPr>
          <p:cNvSpPr>
            <a:spLocks noGrp="1"/>
          </p:cNvSpPr>
          <p:nvPr>
            <p:ph type="dt" sz="half" idx="10"/>
          </p:nvPr>
        </p:nvSpPr>
        <p:spPr/>
        <p:txBody>
          <a:bodyPr/>
          <a:lstStyle/>
          <a:p>
            <a:fld id="{7BB75732-3BA2-401B-9BCF-7B77B273F1C2}" type="datetimeFigureOut">
              <a:rPr lang="en-IN" smtClean="0"/>
              <a:t>16-08-2026</a:t>
            </a:fld>
            <a:endParaRPr lang="en-IN"/>
          </a:p>
        </p:txBody>
      </p:sp>
      <p:sp>
        <p:nvSpPr>
          <p:cNvPr id="6" name="Footer Placeholder 5">
            <a:extLst>
              <a:ext uri="{FF2B5EF4-FFF2-40B4-BE49-F238E27FC236}">
                <a16:creationId xmlns:a16="http://schemas.microsoft.com/office/drawing/2014/main" id="{6A7FEB4E-4AF4-00C0-E8F6-C4698E36BF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9F54B3-1453-2793-B6EE-E5AB5D77CABC}"/>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3203300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BEECD-7938-043E-D358-B63AB6685E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67A8DCC-862A-87B0-E21F-D72BF8D197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AB8BA58-88B5-8877-07D8-A25672B960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3DAC2E-8F40-F562-B776-EB22B8CF7BAC}"/>
              </a:ext>
            </a:extLst>
          </p:cNvPr>
          <p:cNvSpPr>
            <a:spLocks noGrp="1"/>
          </p:cNvSpPr>
          <p:nvPr>
            <p:ph type="dt" sz="half" idx="10"/>
          </p:nvPr>
        </p:nvSpPr>
        <p:spPr/>
        <p:txBody>
          <a:bodyPr/>
          <a:lstStyle/>
          <a:p>
            <a:fld id="{7BB75732-3BA2-401B-9BCF-7B77B273F1C2}" type="datetimeFigureOut">
              <a:rPr lang="en-IN" smtClean="0"/>
              <a:t>16-08-2026</a:t>
            </a:fld>
            <a:endParaRPr lang="en-IN"/>
          </a:p>
        </p:txBody>
      </p:sp>
      <p:sp>
        <p:nvSpPr>
          <p:cNvPr id="6" name="Footer Placeholder 5">
            <a:extLst>
              <a:ext uri="{FF2B5EF4-FFF2-40B4-BE49-F238E27FC236}">
                <a16:creationId xmlns:a16="http://schemas.microsoft.com/office/drawing/2014/main" id="{854DB60B-D6A0-6E9C-6DDE-89F0312BFA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2EB4B3-C434-6C34-E55A-76A689B1F7D2}"/>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2319076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9344C-61DF-713C-8630-565F2487A30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B8E189-31A7-6D1E-E22C-6903188760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63E3B2-7C5A-CB51-F75F-409D75E7B8B2}"/>
              </a:ext>
            </a:extLst>
          </p:cNvPr>
          <p:cNvSpPr>
            <a:spLocks noGrp="1"/>
          </p:cNvSpPr>
          <p:nvPr>
            <p:ph type="dt" sz="half" idx="10"/>
          </p:nvPr>
        </p:nvSpPr>
        <p:spPr/>
        <p:txBody>
          <a:bodyPr/>
          <a:lstStyle/>
          <a:p>
            <a:fld id="{7BB75732-3BA2-401B-9BCF-7B77B273F1C2}" type="datetimeFigureOut">
              <a:rPr lang="en-IN" smtClean="0"/>
              <a:t>16-08-2026</a:t>
            </a:fld>
            <a:endParaRPr lang="en-IN"/>
          </a:p>
        </p:txBody>
      </p:sp>
      <p:sp>
        <p:nvSpPr>
          <p:cNvPr id="5" name="Footer Placeholder 4">
            <a:extLst>
              <a:ext uri="{FF2B5EF4-FFF2-40B4-BE49-F238E27FC236}">
                <a16:creationId xmlns:a16="http://schemas.microsoft.com/office/drawing/2014/main" id="{18F65787-051D-DC57-1C13-08410B286A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8996F3-67F8-CF8A-34BD-F92F8F4E66BB}"/>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2787581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B6881F-D768-590F-DB75-40F366ACC94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6A0AE1-B954-88D4-FC39-6EACEACBBD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8A7C5F-8087-1F0B-09E0-0EBEA0E0A509}"/>
              </a:ext>
            </a:extLst>
          </p:cNvPr>
          <p:cNvSpPr>
            <a:spLocks noGrp="1"/>
          </p:cNvSpPr>
          <p:nvPr>
            <p:ph type="dt" sz="half" idx="10"/>
          </p:nvPr>
        </p:nvSpPr>
        <p:spPr/>
        <p:txBody>
          <a:bodyPr/>
          <a:lstStyle/>
          <a:p>
            <a:fld id="{7BB75732-3BA2-401B-9BCF-7B77B273F1C2}" type="datetimeFigureOut">
              <a:rPr lang="en-IN" smtClean="0"/>
              <a:t>16-08-2026</a:t>
            </a:fld>
            <a:endParaRPr lang="en-IN"/>
          </a:p>
        </p:txBody>
      </p:sp>
      <p:sp>
        <p:nvSpPr>
          <p:cNvPr id="5" name="Footer Placeholder 4">
            <a:extLst>
              <a:ext uri="{FF2B5EF4-FFF2-40B4-BE49-F238E27FC236}">
                <a16:creationId xmlns:a16="http://schemas.microsoft.com/office/drawing/2014/main" id="{F77A1124-FEB1-2895-6645-7CE9EEBB97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F1FA22-AEAF-C246-EACA-A66B9B950754}"/>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1049726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7CA6E1-1802-81DE-2DE0-810B60EC59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59272E-67FE-8088-7F0C-FF6D5ECB34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8DB8DA-DC65-3B80-C4B5-9C5AF6FB30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B75732-3BA2-401B-9BCF-7B77B273F1C2}" type="datetimeFigureOut">
              <a:rPr lang="en-IN" smtClean="0"/>
              <a:t>16-08-2026</a:t>
            </a:fld>
            <a:endParaRPr lang="en-IN"/>
          </a:p>
        </p:txBody>
      </p:sp>
      <p:sp>
        <p:nvSpPr>
          <p:cNvPr id="5" name="Footer Placeholder 4">
            <a:extLst>
              <a:ext uri="{FF2B5EF4-FFF2-40B4-BE49-F238E27FC236}">
                <a16:creationId xmlns:a16="http://schemas.microsoft.com/office/drawing/2014/main" id="{69F1E900-266C-053D-FD30-857C65C811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BDCFF32-F7F4-7ACF-DE4B-ED12867598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9CED1F-BFA2-422D-A5A0-0B190E36321B}" type="slidenum">
              <a:rPr lang="en-IN" smtClean="0"/>
              <a:t>‹#›</a:t>
            </a:fld>
            <a:endParaRPr lang="en-IN"/>
          </a:p>
        </p:txBody>
      </p:sp>
    </p:spTree>
    <p:extLst>
      <p:ext uri="{BB962C8B-B14F-4D97-AF65-F5344CB8AC3E}">
        <p14:creationId xmlns:p14="http://schemas.microsoft.com/office/powerpoint/2010/main" val="646286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2"/>
          <p:cNvSpPr txBox="1">
            <a:spLocks noGrp="1"/>
          </p:cNvSpPr>
          <p:nvPr>
            <p:ph type="ctrTitle"/>
          </p:nvPr>
        </p:nvSpPr>
        <p:spPr>
          <a:xfrm>
            <a:off x="2332800" y="944425"/>
            <a:ext cx="7526400" cy="7782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“Secure Coding AI”</a:t>
            </a:r>
            <a:endParaRPr dirty="0"/>
          </a:p>
        </p:txBody>
      </p:sp>
      <p:pic>
        <p:nvPicPr>
          <p:cNvPr id="78" name="Google Shape;78;p12"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79" name="Google Shape;79;p12"/>
          <p:cNvSpPr txBox="1"/>
          <p:nvPr/>
        </p:nvSpPr>
        <p:spPr>
          <a:xfrm>
            <a:off x="1432389" y="4973781"/>
            <a:ext cx="38484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Under the Guidance of :</a:t>
            </a:r>
            <a:br>
              <a:rPr lang="en-US" sz="1800" b="0" i="0" u="none" strike="noStrike" cap="none">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Prof. Mohini misale Mam</a:t>
            </a:r>
            <a:endParaRPr sz="1800" b="0" i="0" u="none" strike="noStrike" cap="none" dirty="0">
              <a:solidFill>
                <a:schemeClr val="dk1"/>
              </a:solidFill>
              <a:latin typeface="Times New Roman"/>
              <a:ea typeface="Times New Roman"/>
              <a:cs typeface="Times New Roman"/>
              <a:sym typeface="Times New Roman"/>
            </a:endParaRPr>
          </a:p>
        </p:txBody>
      </p:sp>
      <p:sp>
        <p:nvSpPr>
          <p:cNvPr id="80" name="Google Shape;80;p12"/>
          <p:cNvSpPr txBox="1"/>
          <p:nvPr/>
        </p:nvSpPr>
        <p:spPr>
          <a:xfrm>
            <a:off x="2285550" y="2305350"/>
            <a:ext cx="7620900" cy="1939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dirty="0">
                <a:solidFill>
                  <a:srgbClr val="000000"/>
                </a:solidFill>
                <a:latin typeface="Times New Roman"/>
                <a:ea typeface="Times New Roman"/>
                <a:cs typeface="Times New Roman"/>
                <a:sym typeface="Times New Roman"/>
              </a:rPr>
              <a:t>Department of Computer Engineering</a:t>
            </a:r>
            <a:endParaRPr sz="20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dirty="0">
                <a:solidFill>
                  <a:srgbClr val="000000"/>
                </a:solidFill>
                <a:latin typeface="Times New Roman"/>
                <a:ea typeface="Times New Roman"/>
                <a:cs typeface="Times New Roman"/>
                <a:sym typeface="Times New Roman"/>
              </a:rPr>
              <a:t>TERNA ENGINEERING COLLEGE </a:t>
            </a:r>
            <a:endParaRPr sz="20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Times New Roman"/>
                <a:ea typeface="Times New Roman"/>
                <a:cs typeface="Times New Roman"/>
                <a:sym typeface="Times New Roman"/>
              </a:rPr>
              <a:t>Nerul (W), Navi Mumbai 400706</a:t>
            </a:r>
            <a:endParaRPr sz="20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br>
              <a:rPr lang="en-US" sz="2000" b="1" i="0" u="none" strike="noStrike" cap="none" dirty="0">
                <a:solidFill>
                  <a:srgbClr val="FF0000"/>
                </a:solidFill>
                <a:latin typeface="Times New Roman"/>
                <a:ea typeface="Times New Roman"/>
                <a:cs typeface="Times New Roman"/>
                <a:sym typeface="Times New Roman"/>
              </a:rPr>
            </a:br>
            <a:r>
              <a:rPr lang="en-US" sz="2000" b="1" i="0" u="none" strike="noStrike" cap="none" dirty="0">
                <a:solidFill>
                  <a:srgbClr val="FF0000"/>
                </a:solidFill>
                <a:latin typeface="Times New Roman"/>
                <a:ea typeface="Times New Roman"/>
                <a:cs typeface="Times New Roman"/>
                <a:sym typeface="Times New Roman"/>
              </a:rPr>
              <a:t>Group ID </a:t>
            </a:r>
            <a:r>
              <a:rPr lang="en-US" sz="2000" b="1" i="0" u="none" strike="noStrike" cap="none">
                <a:solidFill>
                  <a:srgbClr val="FF0000"/>
                </a:solidFill>
                <a:latin typeface="Times New Roman"/>
                <a:ea typeface="Times New Roman"/>
                <a:cs typeface="Times New Roman"/>
                <a:sym typeface="Times New Roman"/>
              </a:rPr>
              <a:t>: A10</a:t>
            </a:r>
            <a:endParaRPr sz="2000" b="1" i="0" u="none" strike="noStrike" cap="none" dirty="0">
              <a:solidFill>
                <a:srgbClr val="FF0000"/>
              </a:solidFill>
              <a:latin typeface="Times New Roman"/>
              <a:ea typeface="Times New Roman"/>
              <a:cs typeface="Times New Roman"/>
              <a:sym typeface="Times New Roman"/>
            </a:endParaRPr>
          </a:p>
        </p:txBody>
      </p:sp>
      <p:sp>
        <p:nvSpPr>
          <p:cNvPr id="81" name="Google Shape;81;p12"/>
          <p:cNvSpPr txBox="1"/>
          <p:nvPr/>
        </p:nvSpPr>
        <p:spPr>
          <a:xfrm>
            <a:off x="6109855" y="4973781"/>
            <a:ext cx="5777400" cy="17542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Group Members:</a:t>
            </a:r>
            <a:r>
              <a:rPr lang="en-US" sz="1800" dirty="0">
                <a:solidFill>
                  <a:schemeClr val="dk1"/>
                </a:solidFill>
                <a:latin typeface="Times New Roman"/>
                <a:ea typeface="Times New Roman"/>
                <a:cs typeface="Times New Roman"/>
                <a:sym typeface="Times New Roman"/>
              </a:rPr>
              <a:t> </a:t>
            </a:r>
            <a:r>
              <a:rPr lang="en-US" sz="1800" b="0" i="0" u="none" strike="noStrike" cap="none" dirty="0">
                <a:solidFill>
                  <a:schemeClr val="dk1"/>
                </a:solidFill>
                <a:latin typeface="Times New Roman"/>
                <a:ea typeface="Times New Roman"/>
                <a:cs typeface="Times New Roman"/>
                <a:sym typeface="Times New Roman"/>
              </a:rPr>
              <a:t>     Harsh </a:t>
            </a:r>
            <a:r>
              <a:rPr lang="en-US" sz="1800" b="0" i="0" u="none" strike="noStrike" cap="none">
                <a:solidFill>
                  <a:schemeClr val="dk1"/>
                </a:solidFill>
                <a:latin typeface="Times New Roman"/>
                <a:ea typeface="Times New Roman"/>
                <a:cs typeface="Times New Roman"/>
                <a:sym typeface="Times New Roman"/>
              </a:rPr>
              <a:t>Jain             </a:t>
            </a:r>
            <a:r>
              <a:rPr lang="en-US" sz="1800">
                <a:solidFill>
                  <a:schemeClr val="dk1"/>
                </a:solidFill>
                <a:latin typeface="Times New Roman"/>
                <a:ea typeface="Times New Roman"/>
                <a:cs typeface="Times New Roman"/>
                <a:sym typeface="Times New Roman"/>
              </a:rPr>
              <a:t>      </a:t>
            </a:r>
            <a:r>
              <a:rPr lang="en-US" sz="1800" b="0" i="0" u="none" strike="noStrike" cap="none">
                <a:solidFill>
                  <a:schemeClr val="dk1"/>
                </a:solidFill>
                <a:latin typeface="Times New Roman"/>
                <a:ea typeface="Times New Roman"/>
                <a:cs typeface="Times New Roman"/>
                <a:sym typeface="Times New Roman"/>
              </a:rPr>
              <a:t>A-58</a:t>
            </a:r>
          </a:p>
          <a:p>
            <a:pPr marL="0" marR="0" lvl="0" indent="0" algn="l" rtl="0">
              <a:lnSpc>
                <a:spcPct val="100000"/>
              </a:lnSpc>
              <a:spcBef>
                <a:spcPts val="0"/>
              </a:spcBef>
              <a:spcAft>
                <a:spcPts val="0"/>
              </a:spcAft>
              <a:buClr>
                <a:srgbClr val="000000"/>
              </a:buClr>
              <a:buSzPts val="1800"/>
              <a:buFont typeface="Arial"/>
              <a:buNone/>
            </a:pPr>
            <a:r>
              <a:rPr lang="en-US">
                <a:solidFill>
                  <a:schemeClr val="dk1"/>
                </a:solidFill>
                <a:latin typeface="Times New Roman"/>
                <a:ea typeface="Times New Roman"/>
                <a:cs typeface="Times New Roman"/>
                <a:sym typeface="Times New Roman"/>
              </a:rPr>
              <a:t>                                  Atharav Kadam          A-54</a:t>
            </a:r>
            <a:endParaRPr sz="1800" b="0" i="0" u="none" strike="noStrike" cap="none" dirty="0">
              <a:solidFill>
                <a:schemeClr val="dk1"/>
              </a:solidFill>
              <a:latin typeface="Times New Roman"/>
              <a:ea typeface="Times New Roman"/>
              <a:cs typeface="Times New Roman"/>
              <a:sym typeface="Times New Roman"/>
            </a:endParaRPr>
          </a:p>
          <a:p>
            <a:pPr marL="1371600" lvl="0" indent="457200">
              <a:buSzPts val="1800"/>
            </a:pPr>
            <a:r>
              <a:rPr lang="en-US" sz="1800" b="0" i="0" u="none" strike="noStrike" cap="none" dirty="0">
                <a:solidFill>
                  <a:schemeClr val="dk1"/>
                </a:solidFill>
                <a:latin typeface="Times New Roman"/>
                <a:ea typeface="Times New Roman"/>
                <a:cs typeface="Times New Roman"/>
                <a:sym typeface="Times New Roman"/>
              </a:rPr>
              <a:t>  </a:t>
            </a:r>
            <a:r>
              <a:rPr lang="en-IN" sz="1800" dirty="0"/>
              <a:t>Sayli </a:t>
            </a:r>
            <a:r>
              <a:rPr lang="en-IN" sz="1800" dirty="0" err="1"/>
              <a:t>Vekhande</a:t>
            </a:r>
            <a:r>
              <a:rPr lang="en-US" sz="1800" b="0" i="0" u="none" strike="noStrike" cap="none" dirty="0">
                <a:solidFill>
                  <a:schemeClr val="dk1"/>
                </a:solidFill>
                <a:latin typeface="Times New Roman"/>
                <a:ea typeface="Times New Roman"/>
                <a:cs typeface="Times New Roman"/>
                <a:sym typeface="Times New Roman"/>
              </a:rPr>
              <a:t>           A-63</a:t>
            </a:r>
            <a:endParaRPr sz="1800" b="0" i="0" u="none" strike="noStrike" cap="none" dirty="0">
              <a:solidFill>
                <a:schemeClr val="dk1"/>
              </a:solidFill>
              <a:latin typeface="Times New Roman"/>
              <a:ea typeface="Times New Roman"/>
              <a:cs typeface="Times New Roman"/>
              <a:sym typeface="Times New Roman"/>
            </a:endParaRPr>
          </a:p>
          <a:p>
            <a:pPr lvl="0">
              <a:buSzPts val="1800"/>
            </a:pPr>
            <a:r>
              <a:rPr lang="en-US" sz="1800" b="0" i="0" u="none" strike="noStrike" cap="none" dirty="0">
                <a:solidFill>
                  <a:schemeClr val="dk1"/>
                </a:solidFill>
                <a:latin typeface="Times New Roman"/>
                <a:ea typeface="Times New Roman"/>
                <a:cs typeface="Times New Roman"/>
                <a:sym typeface="Times New Roman"/>
              </a:rPr>
              <a:t>                                  Arya </a:t>
            </a:r>
            <a:r>
              <a:rPr lang="en-IN" sz="1800"/>
              <a:t>Ratnakar</a:t>
            </a:r>
            <a:r>
              <a:rPr lang="en-US" sz="1800" b="0" i="0" u="none" strike="noStrike" cap="none">
                <a:solidFill>
                  <a:schemeClr val="dk1"/>
                </a:solidFill>
                <a:latin typeface="Times New Roman"/>
                <a:ea typeface="Times New Roman"/>
                <a:cs typeface="Times New Roman"/>
                <a:sym typeface="Times New Roman"/>
              </a:rPr>
              <a:t>            A-47</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BF02A-4730-4B50-3FC5-475F063467EE}"/>
              </a:ext>
            </a:extLst>
          </p:cNvPr>
          <p:cNvSpPr>
            <a:spLocks noGrp="1"/>
          </p:cNvSpPr>
          <p:nvPr>
            <p:ph type="title"/>
          </p:nvPr>
        </p:nvSpPr>
        <p:spPr>
          <a:xfrm>
            <a:off x="4940943" y="243984"/>
            <a:ext cx="2310114" cy="713539"/>
          </a:xfrm>
        </p:spPr>
        <p:txBody>
          <a:bodyPr>
            <a:normAutofit/>
          </a:bodyPr>
          <a:lstStyle/>
          <a:p>
            <a:pPr algn="ctr"/>
            <a:r>
              <a:rPr lang="en-IN" sz="400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D277CFB5-783E-5DDC-2901-72CAD1042412}"/>
              </a:ext>
            </a:extLst>
          </p:cNvPr>
          <p:cNvSpPr>
            <a:spLocks noGrp="1"/>
          </p:cNvSpPr>
          <p:nvPr>
            <p:ph idx="1"/>
          </p:nvPr>
        </p:nvSpPr>
        <p:spPr>
          <a:xfrm>
            <a:off x="838200" y="957523"/>
            <a:ext cx="10515600" cy="5362254"/>
          </a:xfrm>
        </p:spPr>
        <p:txBody>
          <a:bodyPr>
            <a:noAutofit/>
          </a:bodyPr>
          <a:lstStyle/>
          <a:p>
            <a:pPr marL="0" indent="0" algn="just">
              <a:lnSpc>
                <a:spcPct val="100000"/>
              </a:lnSpc>
              <a:buNone/>
            </a:pPr>
            <a:r>
              <a:rPr lang="en-IN" sz="2000">
                <a:latin typeface="Times New Roman" panose="02020603050405020304" pitchFamily="18" charset="0"/>
                <a:cs typeface="Times New Roman" panose="02020603050405020304" pitchFamily="18" charset="0"/>
              </a:rPr>
              <a:t>Software vulnerabilities remain one of the leading causes of security breaches in modern applications, with </a:t>
            </a:r>
            <a:r>
              <a:rPr lang="en-IN" sz="2000" b="1">
                <a:latin typeface="Times New Roman" panose="02020603050405020304" pitchFamily="18" charset="0"/>
                <a:cs typeface="Times New Roman" panose="02020603050405020304" pitchFamily="18" charset="0"/>
              </a:rPr>
              <a:t>Injection Attacks</a:t>
            </a:r>
            <a:r>
              <a:rPr lang="en-IN" sz="2000">
                <a:latin typeface="Times New Roman" panose="02020603050405020304" pitchFamily="18" charset="0"/>
                <a:cs typeface="Times New Roman" panose="02020603050405020304" pitchFamily="18" charset="0"/>
              </a:rPr>
              <a:t> consistently ranked among the most critical vulnerabilities in the OWASP Top 10. Although various platforms provide algorithmic coding practice, cybersecurity training, or vulnerability scanning tools, there is a limited focus on </a:t>
            </a:r>
            <a:r>
              <a:rPr lang="en-IN" sz="2000" b="1">
                <a:latin typeface="Times New Roman" panose="02020603050405020304" pitchFamily="18" charset="0"/>
                <a:cs typeface="Times New Roman" panose="02020603050405020304" pitchFamily="18" charset="0"/>
              </a:rPr>
              <a:t>teaching developers how to write secure code during software development</a:t>
            </a:r>
            <a:r>
              <a:rPr lang="en-IN" sz="2000">
                <a:latin typeface="Times New Roman" panose="02020603050405020304" pitchFamily="18" charset="0"/>
                <a:cs typeface="Times New Roman" panose="02020603050405020304" pitchFamily="18" charset="0"/>
              </a:rPr>
              <a:t>. This gap often results in developers learning how to detect or exploit vulnerabilities rather than preventing them through secure coding practices. To address this challenge, this project proposes </a:t>
            </a:r>
            <a:r>
              <a:rPr lang="en-IN" sz="2000" b="1">
                <a:latin typeface="Times New Roman" panose="02020603050405020304" pitchFamily="18" charset="0"/>
                <a:cs typeface="Times New Roman" panose="02020603050405020304" pitchFamily="18" charset="0"/>
              </a:rPr>
              <a:t>SecureCode AI</a:t>
            </a:r>
            <a:r>
              <a:rPr lang="en-IN" sz="2000">
                <a:latin typeface="Times New Roman" panose="02020603050405020304" pitchFamily="18" charset="0"/>
                <a:cs typeface="Times New Roman" panose="02020603050405020304" pitchFamily="18" charset="0"/>
              </a:rPr>
              <a:t>, a competitive secure coding education platform that enables learners to practice secure software development through hands-on vulnerability-based coding challenges. The initial version of the platform focuses exclusively on the </a:t>
            </a:r>
            <a:r>
              <a:rPr lang="en-IN" sz="2000" b="1">
                <a:latin typeface="Times New Roman" panose="02020603050405020304" pitchFamily="18" charset="0"/>
                <a:cs typeface="Times New Roman" panose="02020603050405020304" pitchFamily="18" charset="0"/>
              </a:rPr>
              <a:t>Injection Attack</a:t>
            </a:r>
            <a:r>
              <a:rPr lang="en-IN" sz="2000">
                <a:latin typeface="Times New Roman" panose="02020603050405020304" pitchFamily="18" charset="0"/>
                <a:cs typeface="Times New Roman" panose="02020603050405020304" pitchFamily="18" charset="0"/>
              </a:rPr>
              <a:t> category, covering its major subtypes through interactive programming exercises. Each submitted solution is evaluated for both </a:t>
            </a:r>
            <a:r>
              <a:rPr lang="en-IN" sz="2000" b="1">
                <a:latin typeface="Times New Roman" panose="02020603050405020304" pitchFamily="18" charset="0"/>
                <a:cs typeface="Times New Roman" panose="02020603050405020304" pitchFamily="18" charset="0"/>
              </a:rPr>
              <a:t>functional correctness</a:t>
            </a:r>
            <a:r>
              <a:rPr lang="en-IN" sz="2000">
                <a:latin typeface="Times New Roman" panose="02020603050405020304" pitchFamily="18" charset="0"/>
                <a:cs typeface="Times New Roman" panose="02020603050405020304" pitchFamily="18" charset="0"/>
              </a:rPr>
              <a:t> and </a:t>
            </a:r>
            <a:r>
              <a:rPr lang="en-IN" sz="2000" b="1">
                <a:latin typeface="Times New Roman" panose="02020603050405020304" pitchFamily="18" charset="0"/>
                <a:cs typeface="Times New Roman" panose="02020603050405020304" pitchFamily="18" charset="0"/>
              </a:rPr>
              <a:t>security correctness</a:t>
            </a:r>
            <a:r>
              <a:rPr lang="en-IN" sz="2000">
                <a:latin typeface="Times New Roman" panose="02020603050405020304" pitchFamily="18" charset="0"/>
                <a:cs typeface="Times New Roman" panose="02020603050405020304" pitchFamily="18" charset="0"/>
              </a:rPr>
              <a:t>, while learners receive educational feedback based on secure coding standards and best practices. The platform aims to strengthen developers' secure coding skills through practical learning rather than theoretical concepts alone. In future versions, the platform will be extended to include additional OWASP vulnerability categories, providing a comprehensive secure coding learning environment.</a:t>
            </a:r>
          </a:p>
        </p:txBody>
      </p:sp>
    </p:spTree>
    <p:extLst>
      <p:ext uri="{BB962C8B-B14F-4D97-AF65-F5344CB8AC3E}">
        <p14:creationId xmlns:p14="http://schemas.microsoft.com/office/powerpoint/2010/main" val="1185055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0545A-A879-BC49-14AC-B67287F43FA2}"/>
              </a:ext>
            </a:extLst>
          </p:cNvPr>
          <p:cNvSpPr>
            <a:spLocks noGrp="1"/>
          </p:cNvSpPr>
          <p:nvPr>
            <p:ph type="title"/>
          </p:nvPr>
        </p:nvSpPr>
        <p:spPr>
          <a:xfrm>
            <a:off x="4465074" y="130040"/>
            <a:ext cx="3261852" cy="1001559"/>
          </a:xfrm>
        </p:spPr>
        <p:txBody>
          <a:bodyPr>
            <a:normAutofit/>
          </a:bodyPr>
          <a:lstStyle/>
          <a:p>
            <a:r>
              <a:rPr lang="en-IN">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11EB8F4C-5C19-9E46-3DFA-37E60975185D}"/>
              </a:ext>
            </a:extLst>
          </p:cNvPr>
          <p:cNvSpPr>
            <a:spLocks noGrp="1"/>
          </p:cNvSpPr>
          <p:nvPr>
            <p:ph idx="1"/>
          </p:nvPr>
        </p:nvSpPr>
        <p:spPr>
          <a:xfrm>
            <a:off x="838200" y="1131599"/>
            <a:ext cx="10515600" cy="5362217"/>
          </a:xfrm>
        </p:spPr>
        <p:txBody>
          <a:bodyPr>
            <a:noAutofit/>
          </a:bodyPr>
          <a:lstStyle/>
          <a:p>
            <a:pPr marL="0" indent="0" algn="just">
              <a:lnSpc>
                <a:spcPct val="100000"/>
              </a:lnSpc>
              <a:buNone/>
            </a:pPr>
            <a:r>
              <a:rPr lang="en-IN" sz="2000">
                <a:latin typeface="Times New Roman" panose="02020603050405020304" pitchFamily="18" charset="0"/>
                <a:cs typeface="Times New Roman" panose="02020603050405020304" pitchFamily="18" charset="0"/>
              </a:rPr>
              <a:t>With the rapid growth of web applications and digital services, developing secure software has become a critical requirement for modern software engineers. Despite advances in cybersecurity, software vulnerabilities continue to be one of the primary causes of data breaches and cyberattacks. Among these, </a:t>
            </a:r>
            <a:r>
              <a:rPr lang="en-IN" sz="2000" b="1">
                <a:latin typeface="Times New Roman" panose="02020603050405020304" pitchFamily="18" charset="0"/>
                <a:cs typeface="Times New Roman" panose="02020603050405020304" pitchFamily="18" charset="0"/>
              </a:rPr>
              <a:t>Injection Attacks</a:t>
            </a:r>
            <a:r>
              <a:rPr lang="en-IN" sz="2000">
                <a:latin typeface="Times New Roman" panose="02020603050405020304" pitchFamily="18" charset="0"/>
                <a:cs typeface="Times New Roman" panose="02020603050405020304" pitchFamily="18" charset="0"/>
              </a:rPr>
              <a:t> are consistently ranked among the most critical vulnerabilities in the OWASP Top 10 due to their high impact and widespread occurrence. Although numerous platforms provide vulnerability scanning, penetration testing, coding practice, or cybersecurity training, very few focus on </a:t>
            </a:r>
            <a:r>
              <a:rPr lang="en-IN" sz="2000" b="1">
                <a:latin typeface="Times New Roman" panose="02020603050405020304" pitchFamily="18" charset="0"/>
                <a:cs typeface="Times New Roman" panose="02020603050405020304" pitchFamily="18" charset="0"/>
              </a:rPr>
              <a:t>teaching developers how to write secure code while building software</a:t>
            </a:r>
            <a:r>
              <a:rPr lang="en-IN" sz="2000">
                <a:latin typeface="Times New Roman" panose="02020603050405020304" pitchFamily="18" charset="0"/>
                <a:cs typeface="Times New Roman" panose="02020603050405020304" pitchFamily="18" charset="0"/>
              </a:rPr>
              <a:t>. Existing educational platforms primarily emphasize algorithmic programming, offensive security, or vulnerability detection rather than secure coding practices. This creates a significant gap in secure software development education. To address this gap, our project proposes </a:t>
            </a:r>
            <a:r>
              <a:rPr lang="en-IN" sz="2000" b="1">
                <a:latin typeface="Times New Roman" panose="02020603050405020304" pitchFamily="18" charset="0"/>
                <a:cs typeface="Times New Roman" panose="02020603050405020304" pitchFamily="18" charset="0"/>
              </a:rPr>
              <a:t>SecureCode AI</a:t>
            </a:r>
            <a:r>
              <a:rPr lang="en-IN" sz="2000">
                <a:latin typeface="Times New Roman" panose="02020603050405020304" pitchFamily="18" charset="0"/>
                <a:cs typeface="Times New Roman" panose="02020603050405020304" pitchFamily="18" charset="0"/>
              </a:rPr>
              <a:t>, a competitive learning platform that enables users to practice secure coding through vulnerability-based programming challenges. In the initial version, the platform focuses specifically on the </a:t>
            </a:r>
            <a:r>
              <a:rPr lang="en-IN" sz="2000" b="1">
                <a:latin typeface="Times New Roman" panose="02020603050405020304" pitchFamily="18" charset="0"/>
                <a:cs typeface="Times New Roman" panose="02020603050405020304" pitchFamily="18" charset="0"/>
              </a:rPr>
              <a:t>Injection Attack</a:t>
            </a:r>
            <a:r>
              <a:rPr lang="en-IN" sz="2000">
                <a:latin typeface="Times New Roman" panose="02020603050405020304" pitchFamily="18" charset="0"/>
                <a:cs typeface="Times New Roman" panose="02020603050405020304" pitchFamily="18" charset="0"/>
              </a:rPr>
              <a:t> category and its major subtypes, allowing learners to identify, fix, and prevent injection vulnerabilities through hands-on coding exercises. The platform evaluates both the functional correctness and security correctness of submitted solutions while providing educational feedback to improve secure coding skills. Future versions will extend the platform to cover additional OWASP vulnerability categories.</a:t>
            </a:r>
          </a:p>
        </p:txBody>
      </p:sp>
    </p:spTree>
    <p:extLst>
      <p:ext uri="{BB962C8B-B14F-4D97-AF65-F5344CB8AC3E}">
        <p14:creationId xmlns:p14="http://schemas.microsoft.com/office/powerpoint/2010/main" val="1271796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FA27E6F-E769-7D7E-1CBD-19A621423C8A}"/>
              </a:ext>
            </a:extLst>
          </p:cNvPr>
          <p:cNvGraphicFramePr>
            <a:graphicFrameLocks noGrp="1"/>
          </p:cNvGraphicFramePr>
          <p:nvPr>
            <p:extLst>
              <p:ext uri="{D42A27DB-BD31-4B8C-83A1-F6EECF244321}">
                <p14:modId xmlns:p14="http://schemas.microsoft.com/office/powerpoint/2010/main" val="882654544"/>
              </p:ext>
            </p:extLst>
          </p:nvPr>
        </p:nvGraphicFramePr>
        <p:xfrm>
          <a:off x="367633" y="924195"/>
          <a:ext cx="11456733" cy="5823077"/>
        </p:xfrm>
        <a:graphic>
          <a:graphicData uri="http://schemas.openxmlformats.org/drawingml/2006/table">
            <a:tbl>
              <a:tblPr firstRow="1" bandRow="1">
                <a:tableStyleId>{5C22544A-7EE6-4342-B048-85BDC9FD1C3A}</a:tableStyleId>
              </a:tblPr>
              <a:tblGrid>
                <a:gridCol w="535859">
                  <a:extLst>
                    <a:ext uri="{9D8B030D-6E8A-4147-A177-3AD203B41FA5}">
                      <a16:colId xmlns:a16="http://schemas.microsoft.com/office/drawing/2014/main" val="1425768034"/>
                    </a:ext>
                  </a:extLst>
                </a:gridCol>
                <a:gridCol w="2429643">
                  <a:extLst>
                    <a:ext uri="{9D8B030D-6E8A-4147-A177-3AD203B41FA5}">
                      <a16:colId xmlns:a16="http://schemas.microsoft.com/office/drawing/2014/main" val="3814177953"/>
                    </a:ext>
                  </a:extLst>
                </a:gridCol>
                <a:gridCol w="2841523">
                  <a:extLst>
                    <a:ext uri="{9D8B030D-6E8A-4147-A177-3AD203B41FA5}">
                      <a16:colId xmlns:a16="http://schemas.microsoft.com/office/drawing/2014/main" val="1340773443"/>
                    </a:ext>
                  </a:extLst>
                </a:gridCol>
                <a:gridCol w="2487561">
                  <a:extLst>
                    <a:ext uri="{9D8B030D-6E8A-4147-A177-3AD203B41FA5}">
                      <a16:colId xmlns:a16="http://schemas.microsoft.com/office/drawing/2014/main" val="281377767"/>
                    </a:ext>
                  </a:extLst>
                </a:gridCol>
                <a:gridCol w="3162147">
                  <a:extLst>
                    <a:ext uri="{9D8B030D-6E8A-4147-A177-3AD203B41FA5}">
                      <a16:colId xmlns:a16="http://schemas.microsoft.com/office/drawing/2014/main" val="80272989"/>
                    </a:ext>
                  </a:extLst>
                </a:gridCol>
              </a:tblGrid>
              <a:tr h="432657">
                <a:tc>
                  <a:txBody>
                    <a:bodyPr/>
                    <a:lstStyle/>
                    <a:p>
                      <a:r>
                        <a:rPr lang="en-IN" sz="1600">
                          <a:latin typeface="Times New Roman" panose="02020603050405020304" pitchFamily="18" charset="0"/>
                          <a:cs typeface="Times New Roman" panose="02020603050405020304" pitchFamily="18" charset="0"/>
                        </a:rPr>
                        <a:t>Sr No.</a:t>
                      </a:r>
                    </a:p>
                  </a:txBody>
                  <a:tcPr/>
                </a:tc>
                <a:tc>
                  <a:txBody>
                    <a:bodyPr/>
                    <a:lstStyle/>
                    <a:p>
                      <a:r>
                        <a:rPr lang="en-IN" sz="1600">
                          <a:latin typeface="Times New Roman" panose="02020603050405020304" pitchFamily="18" charset="0"/>
                          <a:cs typeface="Times New Roman" panose="02020603050405020304" pitchFamily="18" charset="0"/>
                        </a:rPr>
                        <a:t>Paper (Authors)</a:t>
                      </a:r>
                    </a:p>
                  </a:txBody>
                  <a:tcPr/>
                </a:tc>
                <a:tc>
                  <a:txBody>
                    <a:bodyPr/>
                    <a:lstStyle/>
                    <a:p>
                      <a:r>
                        <a:rPr lang="en-IN" sz="1600">
                          <a:latin typeface="Times New Roman" panose="02020603050405020304" pitchFamily="18" charset="0"/>
                          <a:cs typeface="Times New Roman" panose="02020603050405020304" pitchFamily="18" charset="0"/>
                        </a:rPr>
                        <a:t>Key Findings</a:t>
                      </a:r>
                    </a:p>
                  </a:txBody>
                  <a:tcPr/>
                </a:tc>
                <a:tc>
                  <a:txBody>
                    <a:bodyPr/>
                    <a:lstStyle/>
                    <a:p>
                      <a:r>
                        <a:rPr lang="en-IN" sz="1600">
                          <a:latin typeface="Times New Roman" panose="02020603050405020304" pitchFamily="18" charset="0"/>
                          <a:cs typeface="Times New Roman" panose="02020603050405020304" pitchFamily="18" charset="0"/>
                        </a:rPr>
                        <a:t>Vulnerabilities Addressed</a:t>
                      </a:r>
                    </a:p>
                  </a:txBody>
                  <a:tcPr/>
                </a:tc>
                <a:tc>
                  <a:txBody>
                    <a:bodyPr/>
                    <a:lstStyle/>
                    <a:p>
                      <a:r>
                        <a:rPr lang="en-IN" sz="160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2301276141"/>
                  </a:ext>
                </a:extLst>
              </a:tr>
              <a:tr h="1647317">
                <a:tc>
                  <a:txBody>
                    <a:bodyPr/>
                    <a:lstStyle/>
                    <a:p>
                      <a:r>
                        <a:rPr lang="en-IN" sz="1600">
                          <a:latin typeface="Times New Roman" panose="02020603050405020304" pitchFamily="18" charset="0"/>
                          <a:cs typeface="Times New Roman" panose="02020603050405020304" pitchFamily="18" charset="0"/>
                        </a:rPr>
                        <a:t>1</a:t>
                      </a:r>
                    </a:p>
                  </a:txBody>
                  <a:tcPr/>
                </a:tc>
                <a:tc>
                  <a:txBody>
                    <a:bodyPr/>
                    <a:lstStyle/>
                    <a:p>
                      <a:r>
                        <a:rPr lang="en-IN" sz="1600" b="1">
                          <a:latin typeface="Times New Roman" panose="02020603050405020304" pitchFamily="18" charset="0"/>
                          <a:cs typeface="Times New Roman" panose="02020603050405020304" pitchFamily="18" charset="0"/>
                        </a:rPr>
                        <a:t>Secure Coding with AI – From Detection to Repair</a:t>
                      </a:r>
                      <a:r>
                        <a:rPr lang="en-IN" sz="1600">
                          <a:latin typeface="Times New Roman" panose="02020603050405020304" pitchFamily="18" charset="0"/>
                          <a:cs typeface="Times New Roman" panose="02020603050405020304" pitchFamily="18" charset="0"/>
                        </a:rPr>
                        <a:t> (Vladislav Belozerov, Peter J. Barclay, Ashkan Sami, 2026)</a:t>
                      </a:r>
                    </a:p>
                  </a:txBody>
                  <a:tcPr/>
                </a:tc>
                <a:tc>
                  <a:txBody>
                    <a:bodyPr/>
                    <a:lstStyle/>
                    <a:p>
                      <a:r>
                        <a:rPr lang="en-IN" sz="1600">
                          <a:latin typeface="Times New Roman" panose="02020603050405020304" pitchFamily="18" charset="0"/>
                          <a:cs typeface="Times New Roman" panose="02020603050405020304" pitchFamily="18" charset="0"/>
                        </a:rPr>
                        <a:t>Evaluated GPT-4.1, GPT-5 and Claude for real-world vulnerability detection and repair. Modern LLMs repaired around 75–80% of detected vulnerabilities.</a:t>
                      </a:r>
                    </a:p>
                  </a:txBody>
                  <a:tcPr/>
                </a:tc>
                <a:tc>
                  <a:txBody>
                    <a:bodyPr/>
                    <a:lstStyle/>
                    <a:p>
                      <a:r>
                        <a:rPr lang="en-IN" sz="1600">
                          <a:latin typeface="Times New Roman" panose="02020603050405020304" pitchFamily="18" charset="0"/>
                          <a:cs typeface="Times New Roman" panose="02020603050405020304" pitchFamily="18" charset="0"/>
                        </a:rPr>
                        <a:t>SQL Injection, Command Injection, Buffer Overflow, Path Traversal, Hardcoded Secrets, Integer Overflow, Memory Corruption, Input Validation flaws</a:t>
                      </a:r>
                    </a:p>
                  </a:txBody>
                  <a:tcPr/>
                </a:tc>
                <a:tc>
                  <a:txBody>
                    <a:bodyPr/>
                    <a:lstStyle/>
                    <a:p>
                      <a:r>
                        <a:rPr lang="en-IN" sz="1600">
                          <a:latin typeface="Times New Roman" panose="02020603050405020304" pitchFamily="18" charset="0"/>
                          <a:cs typeface="Times New Roman" panose="02020603050405020304" pitchFamily="18" charset="0"/>
                        </a:rPr>
                        <a:t>Focuses only on evaluating LLMs for vulnerability detection and repair. Does not provide an interactive secure coding practice platform, coding challenges, learner progress tracking, or AI-assisted educational feedback.</a:t>
                      </a:r>
                    </a:p>
                  </a:txBody>
                  <a:tcPr/>
                </a:tc>
                <a:extLst>
                  <a:ext uri="{0D108BD9-81ED-4DB2-BD59-A6C34878D82A}">
                    <a16:rowId xmlns:a16="http://schemas.microsoft.com/office/drawing/2014/main" val="1214652384"/>
                  </a:ext>
                </a:extLst>
              </a:tr>
              <a:tr h="1647317">
                <a:tc>
                  <a:txBody>
                    <a:bodyPr/>
                    <a:lstStyle/>
                    <a:p>
                      <a:r>
                        <a:rPr lang="en-IN" sz="1600">
                          <a:latin typeface="Times New Roman" panose="02020603050405020304" pitchFamily="18" charset="0"/>
                          <a:cs typeface="Times New Roman" panose="02020603050405020304" pitchFamily="18" charset="0"/>
                        </a:rPr>
                        <a:t>2</a:t>
                      </a:r>
                    </a:p>
                  </a:txBody>
                  <a:tcPr/>
                </a:tc>
                <a:tc>
                  <a:txBody>
                    <a:bodyPr/>
                    <a:lstStyle/>
                    <a:p>
                      <a:r>
                        <a:rPr lang="en-IN" sz="1600" b="1">
                          <a:latin typeface="Times New Roman" panose="02020603050405020304" pitchFamily="18" charset="0"/>
                          <a:cs typeface="Times New Roman" panose="02020603050405020304" pitchFamily="18" charset="0"/>
                        </a:rPr>
                        <a:t>An Empirical Study on LLM-Driven Secure Code Generation</a:t>
                      </a:r>
                      <a:r>
                        <a:rPr lang="en-IN" sz="1600">
                          <a:latin typeface="Times New Roman" panose="02020603050405020304" pitchFamily="18" charset="0"/>
                          <a:cs typeface="Times New Roman" panose="02020603050405020304" pitchFamily="18" charset="0"/>
                        </a:rPr>
                        <a:t> (Hao Yan, Swapneel S. Vaidya, Xiaokuan Zhang, Ziyu Yao, 2025)</a:t>
                      </a:r>
                    </a:p>
                  </a:txBody>
                  <a:tcPr/>
                </a:tc>
                <a:tc>
                  <a:txBody>
                    <a:bodyPr/>
                    <a:lstStyle/>
                    <a:p>
                      <a:r>
                        <a:rPr lang="en-IN" sz="1600">
                          <a:latin typeface="Times New Roman" panose="02020603050405020304" pitchFamily="18" charset="0"/>
                          <a:cs typeface="Times New Roman" panose="02020603050405020304" pitchFamily="18" charset="0"/>
                        </a:rPr>
                        <a:t>Demonstrated that self-generated vulnerability hints significantly improve secure code generation and vulnerability repair by LLMs.</a:t>
                      </a:r>
                    </a:p>
                  </a:txBody>
                  <a:tcPr/>
                </a:tc>
                <a:tc>
                  <a:txBody>
                    <a:bodyPr/>
                    <a:lstStyle/>
                    <a:p>
                      <a:r>
                        <a:rPr lang="en-IN" sz="1600">
                          <a:latin typeface="Times New Roman" panose="02020603050405020304" pitchFamily="18" charset="0"/>
                          <a:cs typeface="Times New Roman" panose="02020603050405020304" pitchFamily="18" charset="0"/>
                        </a:rPr>
                        <a:t>SQL Injection, Command Injection, Buffer Overflow, Path Traversal, Hardcoded Credentials, Weak Input Validation</a:t>
                      </a:r>
                    </a:p>
                  </a:txBody>
                  <a:tcPr/>
                </a:tc>
                <a:tc>
                  <a:txBody>
                    <a:bodyPr/>
                    <a:lstStyle/>
                    <a:p>
                      <a:r>
                        <a:rPr lang="en-IN" sz="1600">
                          <a:latin typeface="Times New Roman" panose="02020603050405020304" pitchFamily="18" charset="0"/>
                          <a:cs typeface="Times New Roman" panose="02020603050405020304" pitchFamily="18" charset="0"/>
                        </a:rPr>
                        <a:t>Focuses on improving LLM code generation rather than building a learning platform. Does not support secure coding exercises, user assessment, or personalized developer learning.</a:t>
                      </a:r>
                    </a:p>
                  </a:txBody>
                  <a:tcPr/>
                </a:tc>
                <a:extLst>
                  <a:ext uri="{0D108BD9-81ED-4DB2-BD59-A6C34878D82A}">
                    <a16:rowId xmlns:a16="http://schemas.microsoft.com/office/drawing/2014/main" val="3675125292"/>
                  </a:ext>
                </a:extLst>
              </a:tr>
              <a:tr h="1647317">
                <a:tc>
                  <a:txBody>
                    <a:bodyPr/>
                    <a:lstStyle/>
                    <a:p>
                      <a:r>
                        <a:rPr lang="en-IN" sz="1600">
                          <a:latin typeface="Times New Roman" panose="02020603050405020304" pitchFamily="18" charset="0"/>
                          <a:cs typeface="Times New Roman" panose="02020603050405020304" pitchFamily="18" charset="0"/>
                        </a:rPr>
                        <a:t>3</a:t>
                      </a:r>
                    </a:p>
                  </a:txBody>
                  <a:tcPr/>
                </a:tc>
                <a:tc>
                  <a:txBody>
                    <a:bodyPr/>
                    <a:lstStyle/>
                    <a:p>
                      <a:r>
                        <a:rPr lang="en-IN" sz="1600" b="1">
                          <a:latin typeface="Times New Roman" panose="02020603050405020304" pitchFamily="18" charset="0"/>
                          <a:cs typeface="Times New Roman" panose="02020603050405020304" pitchFamily="18" charset="0"/>
                        </a:rPr>
                        <a:t>Design of Secure Coding Challenges for Cybersecurity Education in the Industry</a:t>
                      </a:r>
                      <a:r>
                        <a:rPr lang="en-IN" sz="1600">
                          <a:latin typeface="Times New Roman" panose="02020603050405020304" pitchFamily="18" charset="0"/>
                          <a:cs typeface="Times New Roman" panose="02020603050405020304" pitchFamily="18" charset="0"/>
                        </a:rPr>
                        <a:t> (Tiago Gasiba, Ulrike Lechner, Maria Pinto-Albuquerque, Alae Zouitni, 2021) </a:t>
                      </a:r>
                    </a:p>
                  </a:txBody>
                  <a:tcPr/>
                </a:tc>
                <a:tc>
                  <a:txBody>
                    <a:bodyPr/>
                    <a:lstStyle/>
                    <a:p>
                      <a:pPr rtl="0" eaLnBrk="1" latinLnBrk="0" hangingPunct="1"/>
                      <a:r>
                        <a:rPr lang="en-IN" sz="1800" kern="1200">
                          <a:solidFill>
                            <a:schemeClr val="dk1"/>
                          </a:solidFill>
                          <a:effectLst/>
                          <a:latin typeface="+mn-lt"/>
                          <a:ea typeface="+mn-ea"/>
                          <a:cs typeface="+mn-cs"/>
                        </a:rPr>
                        <a:t>Introduces Capture-the-Flag (CTF) challenge structures to improve developers' secure coding skills.</a:t>
                      </a:r>
                      <a:endParaRPr lang="en-IN" sz="1600">
                        <a:effectLs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a:latin typeface="Times New Roman" panose="02020603050405020304" pitchFamily="18" charset="0"/>
                          <a:cs typeface="Times New Roman" panose="02020603050405020304" pitchFamily="18" charset="0"/>
                        </a:rPr>
                        <a:t>SQL Injection, XSS, Buffer Overflow, Authentication flaws, Secure Coding Practices</a:t>
                      </a:r>
                    </a:p>
                    <a:p>
                      <a:endParaRPr lang="en-IN" sz="1600">
                        <a:latin typeface="Times New Roman" panose="02020603050405020304" pitchFamily="18" charset="0"/>
                        <a:cs typeface="Times New Roman" panose="02020603050405020304" pitchFamily="18" charset="0"/>
                      </a:endParaRPr>
                    </a:p>
                  </a:txBody>
                  <a:tcPr/>
                </a:tc>
                <a:tc>
                  <a:txBody>
                    <a:bodyPr/>
                    <a:lstStyle/>
                    <a:p>
                      <a:pPr rtl="0" eaLnBrk="1" latinLnBrk="0" hangingPunct="1"/>
                      <a:r>
                        <a:rPr lang="en-IN" sz="1800" kern="1200">
                          <a:solidFill>
                            <a:schemeClr val="dk1"/>
                          </a:solidFill>
                          <a:effectLst/>
                          <a:latin typeface="+mn-lt"/>
                          <a:ea typeface="+mn-ea"/>
                          <a:cs typeface="+mn-cs"/>
                        </a:rPr>
                        <a:t>Provides challenge design only. Does not include automated code evaluation, AI-generated explanations, adaptive learning, or progress tracking.</a:t>
                      </a:r>
                      <a:endParaRPr lang="en-IN" sz="1600">
                        <a:effectLst/>
                      </a:endParaRPr>
                    </a:p>
                  </a:txBody>
                  <a:tcPr/>
                </a:tc>
                <a:extLst>
                  <a:ext uri="{0D108BD9-81ED-4DB2-BD59-A6C34878D82A}">
                    <a16:rowId xmlns:a16="http://schemas.microsoft.com/office/drawing/2014/main" val="4275212338"/>
                  </a:ext>
                </a:extLst>
              </a:tr>
            </a:tbl>
          </a:graphicData>
        </a:graphic>
      </p:graphicFrame>
      <p:sp>
        <p:nvSpPr>
          <p:cNvPr id="5" name="TextBox 4">
            <a:extLst>
              <a:ext uri="{FF2B5EF4-FFF2-40B4-BE49-F238E27FC236}">
                <a16:creationId xmlns:a16="http://schemas.microsoft.com/office/drawing/2014/main" id="{D9E8943A-19E3-1493-431E-08D546C5F62F}"/>
              </a:ext>
            </a:extLst>
          </p:cNvPr>
          <p:cNvSpPr txBox="1"/>
          <p:nvPr/>
        </p:nvSpPr>
        <p:spPr>
          <a:xfrm>
            <a:off x="4201090" y="108155"/>
            <a:ext cx="3789820" cy="707886"/>
          </a:xfrm>
          <a:prstGeom prst="rect">
            <a:avLst/>
          </a:prstGeom>
          <a:noFill/>
        </p:spPr>
        <p:txBody>
          <a:bodyPr wrap="none" rtlCol="0">
            <a:spAutoFit/>
          </a:bodyPr>
          <a:lstStyle/>
          <a:p>
            <a:r>
              <a:rPr lang="en-IN" sz="400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1487381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57592-B2C0-A0AE-3C93-EFBEF6CC2669}"/>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255D6ED-020F-2A6F-5409-3EC41B87AA8D}"/>
              </a:ext>
            </a:extLst>
          </p:cNvPr>
          <p:cNvGraphicFramePr>
            <a:graphicFrameLocks noGrp="1"/>
          </p:cNvGraphicFramePr>
          <p:nvPr>
            <p:extLst>
              <p:ext uri="{D42A27DB-BD31-4B8C-83A1-F6EECF244321}">
                <p14:modId xmlns:p14="http://schemas.microsoft.com/office/powerpoint/2010/main" val="2775555459"/>
              </p:ext>
            </p:extLst>
          </p:nvPr>
        </p:nvGraphicFramePr>
        <p:xfrm>
          <a:off x="132736" y="327864"/>
          <a:ext cx="11926527" cy="6385152"/>
        </p:xfrm>
        <a:graphic>
          <a:graphicData uri="http://schemas.openxmlformats.org/drawingml/2006/table">
            <a:tbl>
              <a:tblPr firstRow="1" bandRow="1">
                <a:tableStyleId>{5C22544A-7EE6-4342-B048-85BDC9FD1C3A}</a:tableStyleId>
              </a:tblPr>
              <a:tblGrid>
                <a:gridCol w="595818">
                  <a:extLst>
                    <a:ext uri="{9D8B030D-6E8A-4147-A177-3AD203B41FA5}">
                      <a16:colId xmlns:a16="http://schemas.microsoft.com/office/drawing/2014/main" val="1425768034"/>
                    </a:ext>
                  </a:extLst>
                </a:gridCol>
                <a:gridCol w="2861959">
                  <a:extLst>
                    <a:ext uri="{9D8B030D-6E8A-4147-A177-3AD203B41FA5}">
                      <a16:colId xmlns:a16="http://schemas.microsoft.com/office/drawing/2014/main" val="3814177953"/>
                    </a:ext>
                  </a:extLst>
                </a:gridCol>
                <a:gridCol w="2637890">
                  <a:extLst>
                    <a:ext uri="{9D8B030D-6E8A-4147-A177-3AD203B41FA5}">
                      <a16:colId xmlns:a16="http://schemas.microsoft.com/office/drawing/2014/main" val="1340773443"/>
                    </a:ext>
                  </a:extLst>
                </a:gridCol>
                <a:gridCol w="2525857">
                  <a:extLst>
                    <a:ext uri="{9D8B030D-6E8A-4147-A177-3AD203B41FA5}">
                      <a16:colId xmlns:a16="http://schemas.microsoft.com/office/drawing/2014/main" val="281377767"/>
                    </a:ext>
                  </a:extLst>
                </a:gridCol>
                <a:gridCol w="3305003">
                  <a:extLst>
                    <a:ext uri="{9D8B030D-6E8A-4147-A177-3AD203B41FA5}">
                      <a16:colId xmlns:a16="http://schemas.microsoft.com/office/drawing/2014/main" val="80272989"/>
                    </a:ext>
                  </a:extLst>
                </a:gridCol>
              </a:tblGrid>
              <a:tr h="679493">
                <a:tc>
                  <a:txBody>
                    <a:bodyPr/>
                    <a:lstStyle/>
                    <a:p>
                      <a:r>
                        <a:rPr lang="en-IN" sz="1600">
                          <a:latin typeface="Times New Roman" panose="02020603050405020304" pitchFamily="18" charset="0"/>
                          <a:cs typeface="Times New Roman" panose="02020603050405020304" pitchFamily="18" charset="0"/>
                        </a:rPr>
                        <a:t>Sr No.</a:t>
                      </a:r>
                    </a:p>
                  </a:txBody>
                  <a:tcPr/>
                </a:tc>
                <a:tc>
                  <a:txBody>
                    <a:bodyPr/>
                    <a:lstStyle/>
                    <a:p>
                      <a:r>
                        <a:rPr lang="en-IN" sz="1600">
                          <a:latin typeface="Times New Roman" panose="02020603050405020304" pitchFamily="18" charset="0"/>
                          <a:cs typeface="Times New Roman" panose="02020603050405020304" pitchFamily="18" charset="0"/>
                        </a:rPr>
                        <a:t>Paper (Authors)</a:t>
                      </a:r>
                    </a:p>
                  </a:txBody>
                  <a:tcPr/>
                </a:tc>
                <a:tc>
                  <a:txBody>
                    <a:bodyPr/>
                    <a:lstStyle/>
                    <a:p>
                      <a:r>
                        <a:rPr lang="en-IN" sz="1600">
                          <a:latin typeface="Times New Roman" panose="02020603050405020304" pitchFamily="18" charset="0"/>
                          <a:cs typeface="Times New Roman" panose="02020603050405020304" pitchFamily="18" charset="0"/>
                        </a:rPr>
                        <a:t>Key Findings</a:t>
                      </a:r>
                    </a:p>
                  </a:txBody>
                  <a:tcPr/>
                </a:tc>
                <a:tc>
                  <a:txBody>
                    <a:bodyPr/>
                    <a:lstStyle/>
                    <a:p>
                      <a:r>
                        <a:rPr lang="en-IN" sz="1600">
                          <a:latin typeface="Times New Roman" panose="02020603050405020304" pitchFamily="18" charset="0"/>
                          <a:cs typeface="Times New Roman" panose="02020603050405020304" pitchFamily="18" charset="0"/>
                        </a:rPr>
                        <a:t>Vulnerabilities Addressed</a:t>
                      </a:r>
                    </a:p>
                  </a:txBody>
                  <a:tcPr/>
                </a:tc>
                <a:tc>
                  <a:txBody>
                    <a:bodyPr/>
                    <a:lstStyle/>
                    <a:p>
                      <a:r>
                        <a:rPr lang="en-IN" sz="160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2301276141"/>
                  </a:ext>
                </a:extLst>
              </a:tr>
              <a:tr h="1308343">
                <a:tc>
                  <a:txBody>
                    <a:bodyPr/>
                    <a:lstStyle/>
                    <a:p>
                      <a:r>
                        <a:rPr lang="en-IN" sz="1600">
                          <a:latin typeface="Times New Roman" panose="02020603050405020304" pitchFamily="18" charset="0"/>
                          <a:cs typeface="Times New Roman" panose="02020603050405020304" pitchFamily="18" charset="0"/>
                        </a:rPr>
                        <a:t>4</a:t>
                      </a:r>
                    </a:p>
                  </a:txBody>
                  <a:tcPr/>
                </a:tc>
                <a:tc>
                  <a:txBody>
                    <a:bodyPr/>
                    <a:lstStyle/>
                    <a:p>
                      <a:r>
                        <a:rPr lang="en-IN" sz="1600" b="1">
                          <a:latin typeface="Times New Roman" panose="02020603050405020304" pitchFamily="18" charset="0"/>
                          <a:cs typeface="Times New Roman" panose="02020603050405020304" pitchFamily="18" charset="0"/>
                        </a:rPr>
                        <a:t>The Role of Generative AI in Strengthening Secure Software Coding Practices</a:t>
                      </a:r>
                      <a:r>
                        <a:rPr lang="en-IN" sz="1600">
                          <a:latin typeface="Times New Roman" panose="02020603050405020304" pitchFamily="18" charset="0"/>
                          <a:cs typeface="Times New Roman" panose="02020603050405020304" pitchFamily="18" charset="0"/>
                        </a:rPr>
                        <a:t> (Hathal S. Alwageed, Rafiq Ahmad Khan, 2025)</a:t>
                      </a:r>
                    </a:p>
                  </a:txBody>
                  <a:tcPr/>
                </a:tc>
                <a:tc>
                  <a:txBody>
                    <a:bodyPr/>
                    <a:lstStyle/>
                    <a:p>
                      <a:r>
                        <a:rPr lang="en-IN" sz="1600">
                          <a:latin typeface="Times New Roman" panose="02020603050405020304" pitchFamily="18" charset="0"/>
                          <a:cs typeface="Times New Roman" panose="02020603050405020304" pitchFamily="18" charset="0"/>
                        </a:rPr>
                        <a:t>Reviews how GenAI improves secure coding, vulnerability detection and developer productivity.</a:t>
                      </a:r>
                    </a:p>
                  </a:txBody>
                  <a:tcPr/>
                </a:tc>
                <a:tc>
                  <a:txBody>
                    <a:bodyPr/>
                    <a:lstStyle/>
                    <a:p>
                      <a:r>
                        <a:rPr lang="en-IN" sz="1600">
                          <a:latin typeface="Times New Roman" panose="02020603050405020304" pitchFamily="18" charset="0"/>
                          <a:cs typeface="Times New Roman" panose="02020603050405020304" pitchFamily="18" charset="0"/>
                        </a:rPr>
                        <a:t>SQL Injection, Cross-Site Scripting (XSS), Buffer Overflow, Input Validation issues</a:t>
                      </a:r>
                    </a:p>
                  </a:txBody>
                  <a:tcPr/>
                </a:tc>
                <a:tc>
                  <a:txBody>
                    <a:bodyPr/>
                    <a:lstStyle/>
                    <a:p>
                      <a:r>
                        <a:rPr lang="en-IN" sz="1600">
                          <a:latin typeface="Times New Roman" panose="02020603050405020304" pitchFamily="18" charset="0"/>
                          <a:cs typeface="Times New Roman" panose="02020603050405020304" pitchFamily="18" charset="0"/>
                        </a:rPr>
                        <a:t>Provides theoretical discussion only. No implementation of a secure coding platform, coding challenges, AI feedback, or vulnerability assessment workflow.</a:t>
                      </a:r>
                    </a:p>
                  </a:txBody>
                  <a:tcPr/>
                </a:tc>
                <a:extLst>
                  <a:ext uri="{0D108BD9-81ED-4DB2-BD59-A6C34878D82A}">
                    <a16:rowId xmlns:a16="http://schemas.microsoft.com/office/drawing/2014/main" val="1214652384"/>
                  </a:ext>
                </a:extLst>
              </a:tr>
              <a:tr h="1347019">
                <a:tc>
                  <a:txBody>
                    <a:bodyPr/>
                    <a:lstStyle/>
                    <a:p>
                      <a:r>
                        <a:rPr lang="en-IN" sz="1600">
                          <a:latin typeface="Times New Roman" panose="02020603050405020304" pitchFamily="18" charset="0"/>
                          <a:cs typeface="Times New Roman" panose="02020603050405020304" pitchFamily="18" charset="0"/>
                        </a:rPr>
                        <a:t>5</a:t>
                      </a:r>
                    </a:p>
                  </a:txBody>
                  <a:tcPr/>
                </a:tc>
                <a:tc>
                  <a:txBody>
                    <a:bodyPr/>
                    <a:lstStyle/>
                    <a:p>
                      <a:r>
                        <a:rPr lang="en-IN" sz="1600" b="1">
                          <a:latin typeface="Times New Roman" panose="02020603050405020304" pitchFamily="18" charset="0"/>
                          <a:cs typeface="Times New Roman" panose="02020603050405020304" pitchFamily="18" charset="0"/>
                        </a:rPr>
                        <a:t>Secure Coding with AI Coding Assistants: From Preventive to Reactive Security</a:t>
                      </a:r>
                      <a:r>
                        <a:rPr lang="en-IN" sz="1600">
                          <a:latin typeface="Times New Roman" panose="02020603050405020304" pitchFamily="18" charset="0"/>
                          <a:cs typeface="Times New Roman" panose="02020603050405020304" pitchFamily="18" charset="0"/>
                        </a:rPr>
                        <a:t> (Faisal Haque Bappy et al., 2026)</a:t>
                      </a:r>
                    </a:p>
                  </a:txBody>
                  <a:tcPr/>
                </a:tc>
                <a:tc>
                  <a:txBody>
                    <a:bodyPr/>
                    <a:lstStyle/>
                    <a:p>
                      <a:r>
                        <a:rPr lang="en-IN" sz="1600">
                          <a:latin typeface="Times New Roman" panose="02020603050405020304" pitchFamily="18" charset="0"/>
                          <a:cs typeface="Times New Roman" panose="02020603050405020304" pitchFamily="18" charset="0"/>
                        </a:rPr>
                        <a:t>Shows AI coding assistants shift developers from writing secure code proactively to reviewing security after code generation.</a:t>
                      </a:r>
                    </a:p>
                  </a:txBody>
                  <a:tcPr/>
                </a:tc>
                <a:tc>
                  <a:txBody>
                    <a:bodyPr/>
                    <a:lstStyle/>
                    <a:p>
                      <a:r>
                        <a:rPr lang="en-IN" sz="1600">
                          <a:latin typeface="Times New Roman" panose="02020603050405020304" pitchFamily="18" charset="0"/>
                          <a:cs typeface="Times New Roman" panose="02020603050405020304" pitchFamily="18" charset="0"/>
                        </a:rPr>
                        <a:t>General secure coding awareness for OWASP Top 10 vulnerabilities</a:t>
                      </a:r>
                    </a:p>
                  </a:txBody>
                  <a:tcPr/>
                </a:tc>
                <a:tc>
                  <a:txBody>
                    <a:bodyPr/>
                    <a:lstStyle/>
                    <a:p>
                      <a:r>
                        <a:rPr lang="en-IN" sz="1600">
                          <a:latin typeface="Times New Roman" panose="02020603050405020304" pitchFamily="18" charset="0"/>
                          <a:cs typeface="Times New Roman" panose="02020603050405020304" pitchFamily="18" charset="0"/>
                        </a:rPr>
                        <a:t>Focuses on developer behaviour rather than developing a secure coding education platform with automated vulnerability detection, scoring, and learning analytics.</a:t>
                      </a:r>
                    </a:p>
                  </a:txBody>
                  <a:tcPr/>
                </a:tc>
                <a:extLst>
                  <a:ext uri="{0D108BD9-81ED-4DB2-BD59-A6C34878D82A}">
                    <a16:rowId xmlns:a16="http://schemas.microsoft.com/office/drawing/2014/main" val="3675125292"/>
                  </a:ext>
                </a:extLst>
              </a:tr>
              <a:tr h="1051123">
                <a:tc>
                  <a:txBody>
                    <a:bodyPr/>
                    <a:lstStyle/>
                    <a:p>
                      <a:r>
                        <a:rPr lang="en-IN" sz="1600">
                          <a:latin typeface="Times New Roman" panose="02020603050405020304" pitchFamily="18" charset="0"/>
                          <a:cs typeface="Times New Roman" panose="02020603050405020304" pitchFamily="18" charset="0"/>
                        </a:rPr>
                        <a:t>6</a:t>
                      </a:r>
                    </a:p>
                  </a:txBody>
                  <a:tcPr/>
                </a:tc>
                <a:tc>
                  <a:txBody>
                    <a:bodyPr/>
                    <a:lstStyle/>
                    <a:p>
                      <a:r>
                        <a:rPr lang="en-IN" sz="1600" b="1">
                          <a:latin typeface="Times New Roman" panose="02020603050405020304" pitchFamily="18" charset="0"/>
                          <a:cs typeface="Times New Roman" panose="02020603050405020304" pitchFamily="18" charset="0"/>
                        </a:rPr>
                        <a:t>Is Secure Coding Education in the Industry Needed?</a:t>
                      </a:r>
                      <a:r>
                        <a:rPr lang="en-IN" sz="1600">
                          <a:latin typeface="Times New Roman" panose="02020603050405020304" pitchFamily="18" charset="0"/>
                          <a:cs typeface="Times New Roman" panose="02020603050405020304" pitchFamily="18" charset="0"/>
                        </a:rPr>
                        <a:t> (Tiago Espinha Gasiba, Ulrike Lechner, Maria Pinto-Albuquerque, Daniel Mendez, 2021)</a:t>
                      </a:r>
                    </a:p>
                  </a:txBody>
                  <a:tcPr/>
                </a:tc>
                <a:tc>
                  <a:txBody>
                    <a:bodyPr/>
                    <a:lstStyle/>
                    <a:p>
                      <a:r>
                        <a:rPr lang="en-IN" sz="1600">
                          <a:latin typeface="Times New Roman" panose="02020603050405020304" pitchFamily="18" charset="0"/>
                          <a:cs typeface="Times New Roman" panose="02020603050405020304" pitchFamily="18" charset="0"/>
                        </a:rPr>
                        <a:t>Large-scale survey reveals many developers lack awareness and compliance with secure coding guidelines.</a:t>
                      </a:r>
                    </a:p>
                  </a:txBody>
                  <a:tcPr/>
                </a:tc>
                <a:tc>
                  <a:txBody>
                    <a:bodyPr/>
                    <a:lstStyle/>
                    <a:p>
                      <a:r>
                        <a:rPr lang="en-IN" sz="1600">
                          <a:latin typeface="Times New Roman" panose="02020603050405020304" pitchFamily="18" charset="0"/>
                          <a:cs typeface="Times New Roman" panose="02020603050405020304" pitchFamily="18" charset="0"/>
                        </a:rPr>
                        <a:t>General secure coding issues including SQL Injection, XSS, Authentication, Secure Coding Standards</a:t>
                      </a:r>
                    </a:p>
                  </a:txBody>
                  <a:tcPr/>
                </a:tc>
                <a:tc>
                  <a:txBody>
                    <a:bodyPr/>
                    <a:lstStyle/>
                    <a:p>
                      <a:r>
                        <a:rPr lang="en-IN" sz="1600">
                          <a:latin typeface="Times New Roman" panose="02020603050405020304" pitchFamily="18" charset="0"/>
                          <a:cs typeface="Times New Roman" panose="02020603050405020304" pitchFamily="18" charset="0"/>
                        </a:rPr>
                        <a:t>Identifies the need for secure coding education but does not propose or implement an AI-assisted secure coding learning platform.</a:t>
                      </a:r>
                    </a:p>
                  </a:txBody>
                  <a:tcPr/>
                </a:tc>
                <a:extLst>
                  <a:ext uri="{0D108BD9-81ED-4DB2-BD59-A6C34878D82A}">
                    <a16:rowId xmlns:a16="http://schemas.microsoft.com/office/drawing/2014/main" val="4275212338"/>
                  </a:ext>
                </a:extLst>
              </a:tr>
              <a:tr h="1051123">
                <a:tc>
                  <a:txBody>
                    <a:bodyPr/>
                    <a:lstStyle/>
                    <a:p>
                      <a:r>
                        <a:rPr lang="en-IN" sz="1600">
                          <a:latin typeface="Times New Roman" panose="02020603050405020304" pitchFamily="18" charset="0"/>
                          <a:cs typeface="Times New Roman" panose="02020603050405020304" pitchFamily="18" charset="0"/>
                        </a:rPr>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a:latin typeface="Times New Roman" panose="02020603050405020304" pitchFamily="18" charset="0"/>
                          <a:cs typeface="Times New Roman" panose="02020603050405020304" pitchFamily="18" charset="0"/>
                        </a:rPr>
                        <a:t>SoK: AI Secure Code Generation – Progress, Pitfalls and Paths Forward</a:t>
                      </a:r>
                      <a:r>
                        <a:rPr lang="en-IN" sz="1600">
                          <a:latin typeface="Times New Roman" panose="02020603050405020304" pitchFamily="18" charset="0"/>
                          <a:cs typeface="Times New Roman" panose="02020603050405020304" pitchFamily="18" charset="0"/>
                        </a:rPr>
                        <a:t> (Rupam Patir, Keyan Guo, Haipeng Cai, Hongxin Hu, 2026)</a:t>
                      </a:r>
                    </a:p>
                    <a:p>
                      <a:endParaRPr lang="en-IN" sz="1600">
                        <a:latin typeface="Times New Roman" panose="02020603050405020304" pitchFamily="18" charset="0"/>
                        <a:cs typeface="Times New Roman" panose="02020603050405020304" pitchFamily="18" charset="0"/>
                      </a:endParaRPr>
                    </a:p>
                  </a:txBody>
                  <a:tcPr/>
                </a:tc>
                <a:tc>
                  <a:txBody>
                    <a:bodyPr/>
                    <a:lstStyle/>
                    <a:p>
                      <a:pPr rtl="0" eaLnBrk="1" latinLnBrk="0" hangingPunct="1"/>
                      <a:r>
                        <a:rPr lang="en-IN" sz="1800" kern="1200">
                          <a:solidFill>
                            <a:schemeClr val="dk1"/>
                          </a:solidFill>
                          <a:effectLst/>
                          <a:latin typeface="+mn-lt"/>
                          <a:ea typeface="+mn-ea"/>
                          <a:cs typeface="+mn-cs"/>
                        </a:rPr>
                        <a:t>Comprehensive survey introducing KAUGE framework for evaluating secure code generation using secure coding principles.</a:t>
                      </a:r>
                      <a:endParaRPr lang="en-IN" sz="1600">
                        <a:effectLst/>
                      </a:endParaRPr>
                    </a:p>
                  </a:txBody>
                  <a:tcPr/>
                </a:tc>
                <a:tc>
                  <a:txBody>
                    <a:bodyPr/>
                    <a:lstStyle/>
                    <a:p>
                      <a:r>
                        <a:rPr lang="en-IN" sz="1600">
                          <a:latin typeface="Times New Roman" panose="02020603050405020304" pitchFamily="18" charset="0"/>
                          <a:cs typeface="Times New Roman" panose="02020603050405020304" pitchFamily="18" charset="0"/>
                        </a:rPr>
                        <a:t>SQL Injection, Command Injection, Path Traversal, Weak Cryptography, Security Misconfiguration, Dependency Vulnerabilities</a:t>
                      </a:r>
                    </a:p>
                  </a:txBody>
                  <a:tcPr/>
                </a:tc>
                <a:tc>
                  <a:txBody>
                    <a:bodyPr/>
                    <a:lstStyle/>
                    <a:p>
                      <a:pPr rtl="0" eaLnBrk="1" latinLnBrk="0" hangingPunct="1"/>
                      <a:r>
                        <a:rPr lang="en-IN" sz="1800" kern="1200">
                          <a:solidFill>
                            <a:schemeClr val="dk1"/>
                          </a:solidFill>
                          <a:effectLst/>
                          <a:latin typeface="+mn-lt"/>
                          <a:ea typeface="+mn-ea"/>
                          <a:cs typeface="+mn-cs"/>
                        </a:rPr>
                        <a:t>Survey paper only. Does not implement an AI-powered secure coding environment, automated code evaluation, or practical learning modules.</a:t>
                      </a:r>
                      <a:endParaRPr lang="en-IN" sz="1600">
                        <a:effectLst/>
                      </a:endParaRPr>
                    </a:p>
                  </a:txBody>
                  <a:tcPr/>
                </a:tc>
                <a:extLst>
                  <a:ext uri="{0D108BD9-81ED-4DB2-BD59-A6C34878D82A}">
                    <a16:rowId xmlns:a16="http://schemas.microsoft.com/office/drawing/2014/main" val="3941584282"/>
                  </a:ext>
                </a:extLst>
              </a:tr>
            </a:tbl>
          </a:graphicData>
        </a:graphic>
      </p:graphicFrame>
    </p:spTree>
    <p:extLst>
      <p:ext uri="{BB962C8B-B14F-4D97-AF65-F5344CB8AC3E}">
        <p14:creationId xmlns:p14="http://schemas.microsoft.com/office/powerpoint/2010/main" val="3988993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DFE00-D8E0-9CE4-E7CF-8BE2F38CE125}"/>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5F63D742-6294-C970-1D48-E215A7F661A7}"/>
              </a:ext>
            </a:extLst>
          </p:cNvPr>
          <p:cNvGraphicFramePr>
            <a:graphicFrameLocks noGrp="1"/>
          </p:cNvGraphicFramePr>
          <p:nvPr>
            <p:extLst>
              <p:ext uri="{D42A27DB-BD31-4B8C-83A1-F6EECF244321}">
                <p14:modId xmlns:p14="http://schemas.microsoft.com/office/powerpoint/2010/main" val="1408467545"/>
              </p:ext>
            </p:extLst>
          </p:nvPr>
        </p:nvGraphicFramePr>
        <p:xfrm>
          <a:off x="162233" y="208917"/>
          <a:ext cx="11867534" cy="6164864"/>
        </p:xfrm>
        <a:graphic>
          <a:graphicData uri="http://schemas.openxmlformats.org/drawingml/2006/table">
            <a:tbl>
              <a:tblPr firstRow="1" bandRow="1">
                <a:tableStyleId>{5C22544A-7EE6-4342-B048-85BDC9FD1C3A}</a:tableStyleId>
              </a:tblPr>
              <a:tblGrid>
                <a:gridCol w="555073">
                  <a:extLst>
                    <a:ext uri="{9D8B030D-6E8A-4147-A177-3AD203B41FA5}">
                      <a16:colId xmlns:a16="http://schemas.microsoft.com/office/drawing/2014/main" val="1425768034"/>
                    </a:ext>
                  </a:extLst>
                </a:gridCol>
                <a:gridCol w="2863046">
                  <a:extLst>
                    <a:ext uri="{9D8B030D-6E8A-4147-A177-3AD203B41FA5}">
                      <a16:colId xmlns:a16="http://schemas.microsoft.com/office/drawing/2014/main" val="3814177953"/>
                    </a:ext>
                  </a:extLst>
                </a:gridCol>
                <a:gridCol w="3055444">
                  <a:extLst>
                    <a:ext uri="{9D8B030D-6E8A-4147-A177-3AD203B41FA5}">
                      <a16:colId xmlns:a16="http://schemas.microsoft.com/office/drawing/2014/main" val="1340773443"/>
                    </a:ext>
                  </a:extLst>
                </a:gridCol>
                <a:gridCol w="2504348">
                  <a:extLst>
                    <a:ext uri="{9D8B030D-6E8A-4147-A177-3AD203B41FA5}">
                      <a16:colId xmlns:a16="http://schemas.microsoft.com/office/drawing/2014/main" val="281377767"/>
                    </a:ext>
                  </a:extLst>
                </a:gridCol>
                <a:gridCol w="2889623">
                  <a:extLst>
                    <a:ext uri="{9D8B030D-6E8A-4147-A177-3AD203B41FA5}">
                      <a16:colId xmlns:a16="http://schemas.microsoft.com/office/drawing/2014/main" val="80272989"/>
                    </a:ext>
                  </a:extLst>
                </a:gridCol>
              </a:tblGrid>
              <a:tr h="690302">
                <a:tc>
                  <a:txBody>
                    <a:bodyPr/>
                    <a:lstStyle/>
                    <a:p>
                      <a:r>
                        <a:rPr lang="en-IN" sz="1600">
                          <a:latin typeface="Times New Roman" panose="02020603050405020304" pitchFamily="18" charset="0"/>
                          <a:cs typeface="Times New Roman" panose="02020603050405020304" pitchFamily="18" charset="0"/>
                        </a:rPr>
                        <a:t>Sr No.</a:t>
                      </a:r>
                    </a:p>
                  </a:txBody>
                  <a:tcPr/>
                </a:tc>
                <a:tc>
                  <a:txBody>
                    <a:bodyPr/>
                    <a:lstStyle/>
                    <a:p>
                      <a:r>
                        <a:rPr lang="en-IN" sz="1600">
                          <a:latin typeface="Times New Roman" panose="02020603050405020304" pitchFamily="18" charset="0"/>
                          <a:cs typeface="Times New Roman" panose="02020603050405020304" pitchFamily="18" charset="0"/>
                        </a:rPr>
                        <a:t>Paper (Authors)</a:t>
                      </a:r>
                    </a:p>
                  </a:txBody>
                  <a:tcPr/>
                </a:tc>
                <a:tc>
                  <a:txBody>
                    <a:bodyPr/>
                    <a:lstStyle/>
                    <a:p>
                      <a:r>
                        <a:rPr lang="en-IN" sz="1600">
                          <a:latin typeface="Times New Roman" panose="02020603050405020304" pitchFamily="18" charset="0"/>
                          <a:cs typeface="Times New Roman" panose="02020603050405020304" pitchFamily="18" charset="0"/>
                        </a:rPr>
                        <a:t>Key Findings</a:t>
                      </a:r>
                    </a:p>
                  </a:txBody>
                  <a:tcPr/>
                </a:tc>
                <a:tc>
                  <a:txBody>
                    <a:bodyPr/>
                    <a:lstStyle/>
                    <a:p>
                      <a:r>
                        <a:rPr lang="en-IN" sz="1600">
                          <a:latin typeface="Times New Roman" panose="02020603050405020304" pitchFamily="18" charset="0"/>
                          <a:cs typeface="Times New Roman" panose="02020603050405020304" pitchFamily="18" charset="0"/>
                        </a:rPr>
                        <a:t>Vulnerabilities Addressed</a:t>
                      </a:r>
                    </a:p>
                  </a:txBody>
                  <a:tcPr/>
                </a:tc>
                <a:tc>
                  <a:txBody>
                    <a:bodyPr/>
                    <a:lstStyle/>
                    <a:p>
                      <a:r>
                        <a:rPr lang="en-IN" sz="160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2301276141"/>
                  </a:ext>
                </a:extLst>
              </a:tr>
              <a:tr h="1824854">
                <a:tc>
                  <a:txBody>
                    <a:bodyPr/>
                    <a:lstStyle/>
                    <a:p>
                      <a:r>
                        <a:rPr lang="en-IN" sz="1600">
                          <a:latin typeface="Times New Roman" panose="02020603050405020304" pitchFamily="18" charset="0"/>
                          <a:cs typeface="Times New Roman" panose="02020603050405020304" pitchFamily="18" charset="0"/>
                        </a:rPr>
                        <a:t>8</a:t>
                      </a:r>
                    </a:p>
                  </a:txBody>
                  <a:tcPr/>
                </a:tc>
                <a:tc>
                  <a:txBody>
                    <a:bodyPr/>
                    <a:lstStyle/>
                    <a:p>
                      <a:r>
                        <a:rPr lang="en-IN" sz="1600" b="1">
                          <a:latin typeface="Times New Roman" panose="02020603050405020304" pitchFamily="18" charset="0"/>
                          <a:cs typeface="Times New Roman" panose="02020603050405020304" pitchFamily="18" charset="0"/>
                        </a:rPr>
                        <a:t>Using Real-World Bug Bounty Programs in Secure Coding Course</a:t>
                      </a:r>
                      <a:r>
                        <a:rPr lang="en-IN" sz="1600">
                          <a:latin typeface="Times New Roman" panose="02020603050405020304" pitchFamily="18" charset="0"/>
                          <a:cs typeface="Times New Roman" panose="02020603050405020304" pitchFamily="18" charset="0"/>
                        </a:rPr>
                        <a:t> (Kamil Malinka et al., 2024)</a:t>
                      </a:r>
                    </a:p>
                  </a:txBody>
                  <a:tcPr/>
                </a:tc>
                <a:tc>
                  <a:txBody>
                    <a:bodyPr/>
                    <a:lstStyle/>
                    <a:p>
                      <a:r>
                        <a:rPr lang="en-IN" sz="1600">
                          <a:latin typeface="Times New Roman" panose="02020603050405020304" pitchFamily="18" charset="0"/>
                          <a:cs typeface="Times New Roman" panose="02020603050405020304" pitchFamily="18" charset="0"/>
                        </a:rPr>
                        <a:t>Demonstrates that integrating bug bounty programs into education improves practical vulnerability discovery skills.</a:t>
                      </a:r>
                    </a:p>
                  </a:txBody>
                  <a:tcPr/>
                </a:tc>
                <a:tc>
                  <a:txBody>
                    <a:bodyPr/>
                    <a:lstStyle/>
                    <a:p>
                      <a:r>
                        <a:rPr lang="en-IN" sz="1600">
                          <a:latin typeface="Times New Roman" panose="02020603050405020304" pitchFamily="18" charset="0"/>
                          <a:cs typeface="Times New Roman" panose="02020603050405020304" pitchFamily="18" charset="0"/>
                        </a:rPr>
                        <a:t>Real-world Web Vulnerabilities (SQLi, XSS, Access Control, Misconfigurations depending on targets)</a:t>
                      </a:r>
                    </a:p>
                  </a:txBody>
                  <a:tcPr/>
                </a:tc>
                <a:tc>
                  <a:txBody>
                    <a:bodyPr/>
                    <a:lstStyle/>
                    <a:p>
                      <a:r>
                        <a:rPr lang="en-IN" sz="1600">
                          <a:latin typeface="Times New Roman" panose="02020603050405020304" pitchFamily="18" charset="0"/>
                          <a:cs typeface="Times New Roman" panose="02020603050405020304" pitchFamily="18" charset="0"/>
                        </a:rPr>
                        <a:t>Depends on external bug bounty programs. Does not offer a structured AI-based learning environment with predefined secure coding exercises and automated assessment.</a:t>
                      </a:r>
                    </a:p>
                  </a:txBody>
                  <a:tcPr/>
                </a:tc>
                <a:extLst>
                  <a:ext uri="{0D108BD9-81ED-4DB2-BD59-A6C34878D82A}">
                    <a16:rowId xmlns:a16="http://schemas.microsoft.com/office/drawing/2014/main" val="1214652384"/>
                  </a:ext>
                </a:extLst>
              </a:tr>
              <a:tr h="1824854">
                <a:tc>
                  <a:txBody>
                    <a:bodyPr/>
                    <a:lstStyle/>
                    <a:p>
                      <a:r>
                        <a:rPr lang="en-IN" sz="1600">
                          <a:latin typeface="Times New Roman" panose="02020603050405020304" pitchFamily="18" charset="0"/>
                          <a:cs typeface="Times New Roman" panose="02020603050405020304" pitchFamily="18" charset="0"/>
                        </a:rPr>
                        <a:t>9</a:t>
                      </a:r>
                    </a:p>
                  </a:txBody>
                  <a:tcPr/>
                </a:tc>
                <a:tc>
                  <a:txBody>
                    <a:bodyPr/>
                    <a:lstStyle/>
                    <a:p>
                      <a:r>
                        <a:rPr lang="en-IN" sz="1600" b="1">
                          <a:latin typeface="Times New Roman" panose="02020603050405020304" pitchFamily="18" charset="0"/>
                          <a:cs typeface="Times New Roman" panose="02020603050405020304" pitchFamily="18" charset="0"/>
                        </a:rPr>
                        <a:t>A Systematic Mapping Study on Teaching Security Concepts in Programming Courses</a:t>
                      </a:r>
                      <a:r>
                        <a:rPr lang="en-IN" sz="1600">
                          <a:latin typeface="Times New Roman" panose="02020603050405020304" pitchFamily="18" charset="0"/>
                          <a:cs typeface="Times New Roman" panose="02020603050405020304" pitchFamily="18" charset="0"/>
                        </a:rPr>
                        <a:t> (Alina Torbunova, Adnan Ashraf, Ivan Porres, 2024)</a:t>
                      </a:r>
                    </a:p>
                  </a:txBody>
                  <a:tcPr/>
                </a:tc>
                <a:tc>
                  <a:txBody>
                    <a:bodyPr/>
                    <a:lstStyle/>
                    <a:p>
                      <a:r>
                        <a:rPr lang="en-IN" sz="1600">
                          <a:latin typeface="Times New Roman" panose="02020603050405020304" pitchFamily="18" charset="0"/>
                          <a:cs typeface="Times New Roman" panose="02020603050405020304" pitchFamily="18" charset="0"/>
                        </a:rPr>
                        <a:t>Reviews approaches for teaching secure programming and identifies gaps in university-level cybersecurity education.</a:t>
                      </a:r>
                    </a:p>
                  </a:txBody>
                  <a:tcPr/>
                </a:tc>
                <a:tc>
                  <a:txBody>
                    <a:bodyPr/>
                    <a:lstStyle/>
                    <a:p>
                      <a:r>
                        <a:rPr lang="en-IN" sz="1600">
                          <a:latin typeface="Times New Roman" panose="02020603050405020304" pitchFamily="18" charset="0"/>
                          <a:cs typeface="Times New Roman" panose="02020603050405020304" pitchFamily="18" charset="0"/>
                        </a:rPr>
                        <a:t>General Secure Coding Concepts, Common Vulnerabilities, Secure Programming Practices</a:t>
                      </a:r>
                    </a:p>
                  </a:txBody>
                  <a:tcPr/>
                </a:tc>
                <a:tc>
                  <a:txBody>
                    <a:bodyPr/>
                    <a:lstStyle/>
                    <a:p>
                      <a:r>
                        <a:rPr lang="en-IN" sz="1600">
                          <a:latin typeface="Times New Roman" panose="02020603050405020304" pitchFamily="18" charset="0"/>
                          <a:cs typeface="Times New Roman" panose="02020603050405020304" pitchFamily="18" charset="0"/>
                        </a:rPr>
                        <a:t>Reviews existing teaching methods but does not propose an intelligent adaptive learning platform with AI-assisted vulnerability analysis and coding practice.</a:t>
                      </a:r>
                    </a:p>
                  </a:txBody>
                  <a:tcPr/>
                </a:tc>
                <a:extLst>
                  <a:ext uri="{0D108BD9-81ED-4DB2-BD59-A6C34878D82A}">
                    <a16:rowId xmlns:a16="http://schemas.microsoft.com/office/drawing/2014/main" val="3675125292"/>
                  </a:ext>
                </a:extLst>
              </a:tr>
              <a:tr h="1824854">
                <a:tc>
                  <a:txBody>
                    <a:bodyPr/>
                    <a:lstStyle/>
                    <a:p>
                      <a:r>
                        <a:rPr lang="en-IN" sz="1600">
                          <a:latin typeface="Times New Roman" panose="02020603050405020304" pitchFamily="18" charset="0"/>
                          <a:cs typeface="Times New Roman" panose="02020603050405020304" pitchFamily="18" charset="0"/>
                        </a:rPr>
                        <a:t>10</a:t>
                      </a:r>
                    </a:p>
                  </a:txBody>
                  <a:tcPr/>
                </a:tc>
                <a:tc>
                  <a:txBody>
                    <a:bodyPr/>
                    <a:lstStyle/>
                    <a:p>
                      <a:r>
                        <a:rPr lang="en-IN" sz="1600" b="1">
                          <a:latin typeface="Times New Roman" panose="02020603050405020304" pitchFamily="18" charset="0"/>
                          <a:cs typeface="Times New Roman" panose="02020603050405020304" pitchFamily="18" charset="0"/>
                        </a:rPr>
                        <a:t>Secure Coding Education Through Gamification and CTF Challenges</a:t>
                      </a:r>
                      <a:r>
                        <a:rPr lang="en-IN" sz="1600">
                          <a:latin typeface="Times New Roman" panose="02020603050405020304" pitchFamily="18" charset="0"/>
                          <a:cs typeface="Times New Roman" panose="02020603050405020304" pitchFamily="18" charset="0"/>
                        </a:rPr>
                        <a:t> (Tiago Gasiba et al., 2021)</a:t>
                      </a:r>
                    </a:p>
                  </a:txBody>
                  <a:tcPr/>
                </a:tc>
                <a:tc>
                  <a:txBody>
                    <a:bodyPr/>
                    <a:lstStyle/>
                    <a:p>
                      <a:r>
                        <a:rPr lang="en-IN" sz="1600">
                          <a:latin typeface="Times New Roman" panose="02020603050405020304" pitchFamily="18" charset="0"/>
                          <a:cs typeface="Times New Roman" panose="02020603050405020304" pitchFamily="18" charset="0"/>
                        </a:rPr>
                        <a:t>Shows gamified secure coding exercises improve developer engagement and secure programming awareness.</a:t>
                      </a:r>
                    </a:p>
                  </a:txBody>
                  <a:tcPr/>
                </a:tc>
                <a:tc>
                  <a:txBody>
                    <a:bodyPr/>
                    <a:lstStyle/>
                    <a:p>
                      <a:r>
                        <a:rPr lang="en-IN" sz="1600">
                          <a:latin typeface="Times New Roman" panose="02020603050405020304" pitchFamily="18" charset="0"/>
                          <a:cs typeface="Times New Roman" panose="02020603050405020304" pitchFamily="18" charset="0"/>
                        </a:rPr>
                        <a:t>SQL Injection, XSS, Buffer Overflow, Secure Authentication</a:t>
                      </a:r>
                    </a:p>
                  </a:txBody>
                  <a:tcPr/>
                </a:tc>
                <a:tc>
                  <a:txBody>
                    <a:bodyPr/>
                    <a:lstStyle/>
                    <a:p>
                      <a:r>
                        <a:rPr lang="en-IN" sz="1600">
                          <a:latin typeface="Times New Roman" panose="02020603050405020304" pitchFamily="18" charset="0"/>
                          <a:cs typeface="Times New Roman" panose="02020603050405020304" pitchFamily="18" charset="0"/>
                        </a:rPr>
                        <a:t>Uses gamification but lacks AI-powered code analysis, automated vulnerability detection, personalized feedback, and secure coding performance analytics.</a:t>
                      </a:r>
                    </a:p>
                  </a:txBody>
                  <a:tcPr/>
                </a:tc>
                <a:extLst>
                  <a:ext uri="{0D108BD9-81ED-4DB2-BD59-A6C34878D82A}">
                    <a16:rowId xmlns:a16="http://schemas.microsoft.com/office/drawing/2014/main" val="4275212338"/>
                  </a:ext>
                </a:extLst>
              </a:tr>
            </a:tbl>
          </a:graphicData>
        </a:graphic>
      </p:graphicFrame>
    </p:spTree>
    <p:extLst>
      <p:ext uri="{BB962C8B-B14F-4D97-AF65-F5344CB8AC3E}">
        <p14:creationId xmlns:p14="http://schemas.microsoft.com/office/powerpoint/2010/main" val="2333597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E94337-F293-2009-96D9-E7F642A65E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3960635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6EAC67-E7E9-0A5E-26E5-97AD1F3F5E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207696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02164-E76B-D3A7-2E83-F62210342D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7A181A-FD70-966A-8EDE-784D9106BFEA}"/>
              </a:ext>
            </a:extLst>
          </p:cNvPr>
          <p:cNvSpPr>
            <a:spLocks noGrp="1"/>
          </p:cNvSpPr>
          <p:nvPr>
            <p:ph type="title"/>
          </p:nvPr>
        </p:nvSpPr>
        <p:spPr>
          <a:xfrm>
            <a:off x="4524067" y="143898"/>
            <a:ext cx="3143865" cy="736088"/>
          </a:xfrm>
        </p:spPr>
        <p:txBody>
          <a:bodyPr>
            <a:normAutofit/>
          </a:bodyPr>
          <a:lstStyle/>
          <a:p>
            <a:r>
              <a:rPr lang="en-IN" sz="4000">
                <a:latin typeface="Times New Roman" panose="02020603050405020304" pitchFamily="18" charset="0"/>
                <a:cs typeface="Times New Roman" panose="02020603050405020304" pitchFamily="18" charset="0"/>
              </a:rPr>
              <a:t>Research Gap</a:t>
            </a:r>
          </a:p>
        </p:txBody>
      </p:sp>
      <p:sp>
        <p:nvSpPr>
          <p:cNvPr id="3" name="Content Placeholder 2">
            <a:extLst>
              <a:ext uri="{FF2B5EF4-FFF2-40B4-BE49-F238E27FC236}">
                <a16:creationId xmlns:a16="http://schemas.microsoft.com/office/drawing/2014/main" id="{DA3758E9-497C-AD86-F412-F71EEE1C179D}"/>
              </a:ext>
            </a:extLst>
          </p:cNvPr>
          <p:cNvSpPr>
            <a:spLocks noGrp="1"/>
          </p:cNvSpPr>
          <p:nvPr>
            <p:ph idx="1"/>
          </p:nvPr>
        </p:nvSpPr>
        <p:spPr>
          <a:xfrm>
            <a:off x="838199" y="976979"/>
            <a:ext cx="10515600" cy="5648633"/>
          </a:xfrm>
        </p:spPr>
        <p:txBody>
          <a:bodyPr>
            <a:noAutofit/>
          </a:bodyPr>
          <a:lstStyle/>
          <a:p>
            <a:pPr lvl="0"/>
            <a:r>
              <a:rPr lang="en-IN" sz="1800">
                <a:latin typeface="Times New Roman" panose="02020603050405020304" pitchFamily="18" charset="0"/>
                <a:cs typeface="Times New Roman" panose="02020603050405020304" pitchFamily="18" charset="0"/>
              </a:rPr>
              <a:t>Most studies focus on AI-based vulnerability detection and repair, but do not provide an interactive platform for practicing secure coding.</a:t>
            </a:r>
          </a:p>
          <a:p>
            <a:pPr lvl="0"/>
            <a:r>
              <a:rPr lang="en-IN" sz="1800">
                <a:latin typeface="Times New Roman" panose="02020603050405020304" pitchFamily="18" charset="0"/>
                <a:cs typeface="Times New Roman" panose="02020603050405020304" pitchFamily="18" charset="0"/>
              </a:rPr>
              <a:t>Existing research emphasizes secure code generation using LLMs rather than developing developers' secure coding skills through hands-on programming exercises.</a:t>
            </a:r>
          </a:p>
          <a:p>
            <a:pPr lvl="0"/>
            <a:r>
              <a:rPr lang="en-IN" sz="1800">
                <a:latin typeface="Times New Roman" panose="02020603050405020304" pitchFamily="18" charset="0"/>
                <a:cs typeface="Times New Roman" panose="02020603050405020304" pitchFamily="18" charset="0"/>
              </a:rPr>
              <a:t>Survey papers discuss secure coding techniques and frameworks but lack practical implementation of an intelligent secure coding learning environment.</a:t>
            </a:r>
          </a:p>
          <a:p>
            <a:pPr lvl="0"/>
            <a:r>
              <a:rPr lang="en-IN" sz="1800">
                <a:latin typeface="Times New Roman" panose="02020603050405020304" pitchFamily="18" charset="0"/>
                <a:cs typeface="Times New Roman" panose="02020603050405020304" pitchFamily="18" charset="0"/>
              </a:rPr>
              <a:t>Current approaches provide theoretical discussions or developer assistance but do not integrate automated functional evaluation and security evaluation within a single platform.</a:t>
            </a:r>
          </a:p>
          <a:p>
            <a:pPr lvl="0"/>
            <a:r>
              <a:rPr lang="en-IN" sz="1800">
                <a:latin typeface="Times New Roman" panose="02020603050405020304" pitchFamily="18" charset="0"/>
                <a:cs typeface="Times New Roman" panose="02020603050405020304" pitchFamily="18" charset="0"/>
              </a:rPr>
              <a:t>Existing secure coding education methods and CTF-based challenges do not offer AI-assisted explanations, adaptive learning, personalized feedback, or learner progress tracking.</a:t>
            </a:r>
          </a:p>
          <a:p>
            <a:pPr lvl="0"/>
            <a:r>
              <a:rPr lang="en-IN" sz="1800">
                <a:latin typeface="Times New Roman" panose="02020603050405020304" pitchFamily="18" charset="0"/>
                <a:cs typeface="Times New Roman" panose="02020603050405020304" pitchFamily="18" charset="0"/>
              </a:rPr>
              <a:t>Bug bounty and cybersecurity training platforms depend on external environments and do not provide structured, curriculum-based secure coding exercises.</a:t>
            </a:r>
          </a:p>
          <a:p>
            <a:pPr lvl="0"/>
            <a:r>
              <a:rPr lang="en-IN" sz="1800">
                <a:latin typeface="Times New Roman" panose="02020603050405020304" pitchFamily="18" charset="0"/>
                <a:cs typeface="Times New Roman" panose="02020603050405020304" pitchFamily="18" charset="0"/>
              </a:rPr>
              <a:t>Most secure coding education research lacks a competitive programming environment where users can practice, evaluate, and improve secure coding skills through vulnerability-based coding challenges.</a:t>
            </a:r>
          </a:p>
          <a:p>
            <a:pPr lvl="0"/>
            <a:r>
              <a:rPr lang="en-IN" sz="1800">
                <a:latin typeface="Times New Roman" panose="02020603050405020304" pitchFamily="18" charset="0"/>
                <a:cs typeface="Times New Roman" panose="02020603050405020304" pitchFamily="18" charset="0"/>
              </a:rPr>
              <a:t>Therefore, there is a need for a unified platform that combines secure coding practice, automated code evaluation, AI-assisted educational feedback, learning analytics, and challenge-based learning to improve secure software development skills.</a:t>
            </a:r>
          </a:p>
        </p:txBody>
      </p:sp>
    </p:spTree>
    <p:extLst>
      <p:ext uri="{BB962C8B-B14F-4D97-AF65-F5344CB8AC3E}">
        <p14:creationId xmlns:p14="http://schemas.microsoft.com/office/powerpoint/2010/main" val="2455687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A4046-68D6-D68A-E108-F96BC7F71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FAC316-B2F8-2548-3920-2EA20216ABB0}"/>
              </a:ext>
            </a:extLst>
          </p:cNvPr>
          <p:cNvSpPr>
            <a:spLocks noGrp="1"/>
          </p:cNvSpPr>
          <p:nvPr>
            <p:ph type="title"/>
          </p:nvPr>
        </p:nvSpPr>
        <p:spPr>
          <a:xfrm>
            <a:off x="4061951" y="384789"/>
            <a:ext cx="4068097" cy="775417"/>
          </a:xfrm>
        </p:spPr>
        <p:txBody>
          <a:bodyPr>
            <a:normAutofit/>
          </a:bodyPr>
          <a:lstStyle/>
          <a:p>
            <a:r>
              <a:rPr lang="en-IN" sz="400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33325219-D5DB-F99D-A1EA-47823F985F99}"/>
              </a:ext>
            </a:extLst>
          </p:cNvPr>
          <p:cNvSpPr>
            <a:spLocks noGrp="1"/>
          </p:cNvSpPr>
          <p:nvPr>
            <p:ph idx="1"/>
          </p:nvPr>
        </p:nvSpPr>
        <p:spPr>
          <a:xfrm>
            <a:off x="838200" y="1579819"/>
            <a:ext cx="10515600" cy="2943020"/>
          </a:xfrm>
        </p:spPr>
        <p:txBody>
          <a:bodyPr>
            <a:normAutofit/>
          </a:bodyPr>
          <a:lstStyle/>
          <a:p>
            <a:pPr marL="0" indent="0" algn="just">
              <a:lnSpc>
                <a:spcPct val="100000"/>
              </a:lnSpc>
              <a:buNone/>
            </a:pPr>
            <a:r>
              <a:rPr lang="en-IN" sz="2000">
                <a:latin typeface="Times New Roman" panose="02020603050405020304" pitchFamily="18" charset="0"/>
                <a:cs typeface="Times New Roman" panose="02020603050405020304" pitchFamily="18" charset="0"/>
              </a:rPr>
              <a:t>Modern software applications are increasingly vulnerable to security flaws due to the lack of practical secure coding skills among developers. Existing educational platforms primarily focus on algorithmic programming, cybersecurity awareness, penetration testing, or vulnerability detection, but they provide limited opportunities to practice </a:t>
            </a:r>
            <a:r>
              <a:rPr lang="en-IN" sz="2000" b="1">
                <a:latin typeface="Times New Roman" panose="02020603050405020304" pitchFamily="18" charset="0"/>
                <a:cs typeface="Times New Roman" panose="02020603050405020304" pitchFamily="18" charset="0"/>
              </a:rPr>
              <a:t>secure software development</a:t>
            </a:r>
            <a:r>
              <a:rPr lang="en-IN" sz="2000">
                <a:latin typeface="Times New Roman" panose="02020603050405020304" pitchFamily="18" charset="0"/>
                <a:cs typeface="Times New Roman" panose="02020603050405020304" pitchFamily="18" charset="0"/>
              </a:rPr>
              <a:t> through real coding exercises. As a result, many developers are able to write functionally correct programs but struggle to implement secure coding practices that prevent vulnerabilities during development. There is a need for an interactive learning platform that enables developers to practice secure coding through vulnerability-based programming challenges, evaluate both functional and security correctness, and receive educational feedback to improve their secure software development skills.</a:t>
            </a:r>
          </a:p>
        </p:txBody>
      </p:sp>
    </p:spTree>
    <p:extLst>
      <p:ext uri="{BB962C8B-B14F-4D97-AF65-F5344CB8AC3E}">
        <p14:creationId xmlns:p14="http://schemas.microsoft.com/office/powerpoint/2010/main" val="516225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EEECA-9283-2ADD-35F5-F062FDC7E7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EE029-05FD-1682-4E2C-B180527453E1}"/>
              </a:ext>
            </a:extLst>
          </p:cNvPr>
          <p:cNvSpPr>
            <a:spLocks noGrp="1"/>
          </p:cNvSpPr>
          <p:nvPr>
            <p:ph type="title"/>
          </p:nvPr>
        </p:nvSpPr>
        <p:spPr>
          <a:xfrm>
            <a:off x="5000317" y="308077"/>
            <a:ext cx="2191365" cy="745920"/>
          </a:xfrm>
        </p:spPr>
        <p:txBody>
          <a:bodyPr>
            <a:normAutofit fontScale="90000"/>
          </a:bodyPr>
          <a:lstStyle/>
          <a:p>
            <a:r>
              <a:rPr lang="en-IN" sz="400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31FBCEF3-F3AC-957E-97C2-82666D559C8C}"/>
              </a:ext>
            </a:extLst>
          </p:cNvPr>
          <p:cNvSpPr>
            <a:spLocks noGrp="1"/>
          </p:cNvSpPr>
          <p:nvPr>
            <p:ph idx="1"/>
          </p:nvPr>
        </p:nvSpPr>
        <p:spPr>
          <a:xfrm>
            <a:off x="838199" y="1253331"/>
            <a:ext cx="10515600" cy="4351338"/>
          </a:xfrm>
        </p:spPr>
        <p:txBody>
          <a:bodyPr>
            <a:normAutofit/>
          </a:bodyPr>
          <a:lstStyle/>
          <a:p>
            <a:pPr algn="just"/>
            <a:r>
              <a:rPr lang="en-IN" sz="2000">
                <a:latin typeface="Times New Roman" panose="02020603050405020304" pitchFamily="18" charset="0"/>
                <a:cs typeface="Times New Roman" panose="02020603050405020304" pitchFamily="18" charset="0"/>
              </a:rPr>
              <a:t>To develop an interactive platform for learning and practicing secure software development.</a:t>
            </a:r>
          </a:p>
          <a:p>
            <a:pPr algn="just"/>
            <a:r>
              <a:rPr lang="en-IN" sz="2000">
                <a:latin typeface="Times New Roman" panose="02020603050405020304" pitchFamily="18" charset="0"/>
                <a:cs typeface="Times New Roman" panose="02020603050405020304" pitchFamily="18" charset="0"/>
              </a:rPr>
              <a:t>To improve developers' secure coding skills through vulnerability-based programming challenges.</a:t>
            </a:r>
          </a:p>
          <a:p>
            <a:pPr lvl="0"/>
            <a:r>
              <a:rPr lang="en-IN" sz="2000">
                <a:latin typeface="Times New Roman" panose="02020603050405020304" pitchFamily="18" charset="0"/>
                <a:cs typeface="Times New Roman" panose="02020603050405020304" pitchFamily="18" charset="0"/>
              </a:rPr>
              <a:t>To evaluate submitted code for both functional correctness and security correctness while providing AI-assisted educational feedback to help users understand, identify, and fix security vulnerabilities. </a:t>
            </a:r>
          </a:p>
          <a:p>
            <a:pPr lvl="0"/>
            <a:r>
              <a:rPr lang="en-IN" sz="2000">
                <a:latin typeface="Times New Roman" panose="02020603050405020304" pitchFamily="18" charset="0"/>
                <a:cs typeface="Times New Roman" panose="02020603050405020304" pitchFamily="18" charset="0"/>
              </a:rPr>
              <a:t>To promote hands-on secure coding practice through challenge-based learning while tracking user progress, strengths, and areas for improvement in secure software development.</a:t>
            </a:r>
          </a:p>
          <a:p>
            <a:pPr algn="just"/>
            <a:r>
              <a:rPr lang="en-IN" sz="2000">
                <a:latin typeface="Times New Roman" panose="02020603050405020304" pitchFamily="18" charset="0"/>
                <a:cs typeface="Times New Roman" panose="02020603050405020304" pitchFamily="18" charset="0"/>
              </a:rPr>
              <a:t>To build a scalable platform that can support multiple vulnerability categories and programming languages in future versions.</a:t>
            </a:r>
          </a:p>
        </p:txBody>
      </p:sp>
    </p:spTree>
    <p:extLst>
      <p:ext uri="{BB962C8B-B14F-4D97-AF65-F5344CB8AC3E}">
        <p14:creationId xmlns:p14="http://schemas.microsoft.com/office/powerpoint/2010/main" val="1998835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6AF81-9C9B-FF62-3E1E-11FF75535B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77C868-1FC7-1622-5BEA-15D7BF35A974}"/>
              </a:ext>
            </a:extLst>
          </p:cNvPr>
          <p:cNvSpPr>
            <a:spLocks noGrp="1"/>
          </p:cNvSpPr>
          <p:nvPr>
            <p:ph type="title"/>
          </p:nvPr>
        </p:nvSpPr>
        <p:spPr>
          <a:xfrm>
            <a:off x="5330313" y="266804"/>
            <a:ext cx="1531374" cy="972062"/>
          </a:xfrm>
        </p:spPr>
        <p:txBody>
          <a:bodyPr>
            <a:normAutofit fontScale="90000"/>
          </a:bodyPr>
          <a:lstStyle/>
          <a:p>
            <a:r>
              <a:rPr lang="en-IN">
                <a:latin typeface="Times New Roman" panose="02020603050405020304" pitchFamily="18" charset="0"/>
                <a:cs typeface="Times New Roman" panose="02020603050405020304" pitchFamily="18" charset="0"/>
              </a:rPr>
              <a:t>Scope</a:t>
            </a:r>
          </a:p>
        </p:txBody>
      </p:sp>
      <p:sp>
        <p:nvSpPr>
          <p:cNvPr id="3" name="Content Placeholder 2">
            <a:extLst>
              <a:ext uri="{FF2B5EF4-FFF2-40B4-BE49-F238E27FC236}">
                <a16:creationId xmlns:a16="http://schemas.microsoft.com/office/drawing/2014/main" id="{F1B77F1E-520E-161C-17E4-3044C0F03C3E}"/>
              </a:ext>
            </a:extLst>
          </p:cNvPr>
          <p:cNvSpPr>
            <a:spLocks noGrp="1"/>
          </p:cNvSpPr>
          <p:nvPr>
            <p:ph idx="1"/>
          </p:nvPr>
        </p:nvSpPr>
        <p:spPr>
          <a:xfrm>
            <a:off x="838200" y="1383173"/>
            <a:ext cx="10515600" cy="4899640"/>
          </a:xfrm>
        </p:spPr>
        <p:txBody>
          <a:bodyPr>
            <a:noAutofit/>
          </a:bodyPr>
          <a:lstStyle/>
          <a:p>
            <a:pPr algn="just">
              <a:lnSpc>
                <a:spcPct val="120000"/>
              </a:lnSpc>
            </a:pPr>
            <a:r>
              <a:rPr lang="en-IN" sz="1800">
                <a:latin typeface="Times New Roman" panose="02020603050405020304" pitchFamily="18" charset="0"/>
                <a:cs typeface="Times New Roman" panose="02020603050405020304" pitchFamily="18" charset="0"/>
              </a:rPr>
              <a:t>The proposed platform focuses on secure coding education through practical programming challenges.</a:t>
            </a:r>
          </a:p>
          <a:p>
            <a:pPr algn="just">
              <a:lnSpc>
                <a:spcPct val="120000"/>
              </a:lnSpc>
            </a:pPr>
            <a:r>
              <a:rPr lang="en-IN" sz="1800">
                <a:latin typeface="Times New Roman" panose="02020603050405020304" pitchFamily="18" charset="0"/>
                <a:cs typeface="Times New Roman" panose="02020603050405020304" pitchFamily="18" charset="0"/>
              </a:rPr>
              <a:t>The initial implementation covers the </a:t>
            </a:r>
            <a:r>
              <a:rPr lang="en-IN" sz="1800" b="1">
                <a:latin typeface="Times New Roman" panose="02020603050405020304" pitchFamily="18" charset="0"/>
                <a:cs typeface="Times New Roman" panose="02020603050405020304" pitchFamily="18" charset="0"/>
              </a:rPr>
              <a:t>Injection Attack</a:t>
            </a:r>
            <a:r>
              <a:rPr lang="en-IN" sz="1800">
                <a:latin typeface="Times New Roman" panose="02020603050405020304" pitchFamily="18" charset="0"/>
                <a:cs typeface="Times New Roman" panose="02020603050405020304" pitchFamily="18" charset="0"/>
              </a:rPr>
              <a:t> category and its major subtypes as a proof of concept.</a:t>
            </a:r>
          </a:p>
          <a:p>
            <a:pPr algn="just">
              <a:lnSpc>
                <a:spcPct val="120000"/>
              </a:lnSpc>
            </a:pPr>
            <a:r>
              <a:rPr lang="en-IN" sz="1800">
                <a:latin typeface="Times New Roman" panose="02020603050405020304" pitchFamily="18" charset="0"/>
                <a:cs typeface="Times New Roman" panose="02020603050405020304" pitchFamily="18" charset="0"/>
              </a:rPr>
              <a:t>Users will solve coding challenges designed to identify, prevent, and fix security vulnerabilities.</a:t>
            </a:r>
          </a:p>
          <a:p>
            <a:pPr algn="just">
              <a:lnSpc>
                <a:spcPct val="120000"/>
              </a:lnSpc>
            </a:pPr>
            <a:r>
              <a:rPr lang="en-IN" sz="1800">
                <a:latin typeface="Times New Roman" panose="02020603050405020304" pitchFamily="18" charset="0"/>
                <a:cs typeface="Times New Roman" panose="02020603050405020304" pitchFamily="18" charset="0"/>
              </a:rPr>
              <a:t>The platform will automatically evaluate both functional correctness and security correctness of submitted solutions.</a:t>
            </a:r>
          </a:p>
          <a:p>
            <a:pPr algn="just">
              <a:lnSpc>
                <a:spcPct val="120000"/>
              </a:lnSpc>
            </a:pPr>
            <a:r>
              <a:rPr lang="en-IN" sz="1800">
                <a:latin typeface="Times New Roman" panose="02020603050405020304" pitchFamily="18" charset="0"/>
                <a:cs typeface="Times New Roman" panose="02020603050405020304" pitchFamily="18" charset="0"/>
              </a:rPr>
              <a:t>Secure coding guidance will be provided using recognized standards such as OWASP, CWE, and CERT.</a:t>
            </a:r>
          </a:p>
          <a:p>
            <a:pPr algn="just">
              <a:lnSpc>
                <a:spcPct val="120000"/>
              </a:lnSpc>
            </a:pPr>
            <a:r>
              <a:rPr lang="en-IN" sz="1800">
                <a:latin typeface="Times New Roman" panose="02020603050405020304" pitchFamily="18" charset="0"/>
                <a:cs typeface="Times New Roman" panose="02020603050405020304" pitchFamily="18" charset="0"/>
              </a:rPr>
              <a:t>The platform is intended for students, software developers, and secure coding learners.</a:t>
            </a:r>
          </a:p>
          <a:p>
            <a:pPr algn="just">
              <a:lnSpc>
                <a:spcPct val="120000"/>
              </a:lnSpc>
            </a:pPr>
            <a:r>
              <a:rPr lang="en-IN" sz="1800">
                <a:latin typeface="Times New Roman" panose="02020603050405020304" pitchFamily="18" charset="0"/>
                <a:cs typeface="Times New Roman" panose="02020603050405020304" pitchFamily="18" charset="0"/>
              </a:rPr>
              <a:t>Future versions will extend support to additional OWASP vulnerability categories, more programming languages, AI-assisted learning, and advanced exploit validation.</a:t>
            </a:r>
          </a:p>
          <a:p>
            <a:pPr algn="just">
              <a:lnSpc>
                <a:spcPct val="120000"/>
              </a:lnSpc>
            </a:pPr>
            <a:r>
              <a:rPr lang="en-IN" sz="1800">
                <a:latin typeface="Times New Roman" panose="02020603050405020304" pitchFamily="18" charset="0"/>
                <a:cs typeface="Times New Roman" panose="02020603050405020304" pitchFamily="18" charset="0"/>
              </a:rPr>
              <a:t>The system is designed to be modular and scalable, enabling continuous expansion with new challenges, security rules, and learning resources.</a:t>
            </a:r>
          </a:p>
        </p:txBody>
      </p:sp>
    </p:spTree>
    <p:extLst>
      <p:ext uri="{BB962C8B-B14F-4D97-AF65-F5344CB8AC3E}">
        <p14:creationId xmlns:p14="http://schemas.microsoft.com/office/powerpoint/2010/main" val="1061025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4315B-AD31-6C5E-7BA3-2839A170F7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4E10FE-0A07-223D-774D-B944A28BFC84}"/>
              </a:ext>
            </a:extLst>
          </p:cNvPr>
          <p:cNvSpPr>
            <a:spLocks noGrp="1"/>
          </p:cNvSpPr>
          <p:nvPr>
            <p:ph type="title"/>
          </p:nvPr>
        </p:nvSpPr>
        <p:spPr>
          <a:xfrm>
            <a:off x="5535560" y="362155"/>
            <a:ext cx="1120877" cy="736088"/>
          </a:xfrm>
        </p:spPr>
        <p:txBody>
          <a:bodyPr>
            <a:normAutofit/>
          </a:bodyPr>
          <a:lstStyle/>
          <a:p>
            <a:r>
              <a:rPr lang="en-IN" sz="4000">
                <a:latin typeface="Times New Roman" panose="02020603050405020304" pitchFamily="18" charset="0"/>
                <a:cs typeface="Times New Roman" panose="02020603050405020304" pitchFamily="18" charset="0"/>
              </a:rPr>
              <a:t>SRS</a:t>
            </a:r>
          </a:p>
        </p:txBody>
      </p:sp>
      <p:sp>
        <p:nvSpPr>
          <p:cNvPr id="3" name="Content Placeholder 2">
            <a:extLst>
              <a:ext uri="{FF2B5EF4-FFF2-40B4-BE49-F238E27FC236}">
                <a16:creationId xmlns:a16="http://schemas.microsoft.com/office/drawing/2014/main" id="{51844B9D-2B3F-BA82-6A86-313028EBB8D4}"/>
              </a:ext>
            </a:extLst>
          </p:cNvPr>
          <p:cNvSpPr>
            <a:spLocks noGrp="1"/>
          </p:cNvSpPr>
          <p:nvPr>
            <p:ph idx="1"/>
          </p:nvPr>
        </p:nvSpPr>
        <p:spPr>
          <a:xfrm>
            <a:off x="838199" y="1253331"/>
            <a:ext cx="10515600" cy="3849611"/>
          </a:xfrm>
        </p:spPr>
        <p:txBody>
          <a:bodyPr>
            <a:normAutofit/>
          </a:bodyPr>
          <a:lstStyle/>
          <a:p>
            <a:pPr marL="0" indent="0" algn="just">
              <a:buNone/>
            </a:pPr>
            <a:r>
              <a:rPr lang="en-IN" sz="3200" b="1">
                <a:latin typeface="Times New Roman" panose="02020603050405020304" pitchFamily="18" charset="0"/>
                <a:cs typeface="Times New Roman" panose="02020603050405020304" pitchFamily="18" charset="0"/>
              </a:rPr>
              <a:t>Functional Requirements</a:t>
            </a:r>
          </a:p>
          <a:p>
            <a:pPr algn="just"/>
            <a:r>
              <a:rPr lang="en-IN" sz="2000">
                <a:latin typeface="Times New Roman" panose="02020603050405020304" pitchFamily="18" charset="0"/>
                <a:cs typeface="Times New Roman" panose="02020603050405020304" pitchFamily="18" charset="0"/>
              </a:rPr>
              <a:t>User Registration and Secure Login.</a:t>
            </a:r>
          </a:p>
          <a:p>
            <a:pPr algn="just"/>
            <a:r>
              <a:rPr lang="en-IN" sz="2000">
                <a:latin typeface="Times New Roman" panose="02020603050405020304" pitchFamily="18" charset="0"/>
                <a:cs typeface="Times New Roman" panose="02020603050405020304" pitchFamily="18" charset="0"/>
              </a:rPr>
              <a:t>Browse vulnerability-based coding challenges.</a:t>
            </a:r>
          </a:p>
          <a:p>
            <a:pPr algn="just"/>
            <a:r>
              <a:rPr lang="en-IN" sz="2000">
                <a:latin typeface="Times New Roman" panose="02020603050405020304" pitchFamily="18" charset="0"/>
                <a:cs typeface="Times New Roman" panose="02020603050405020304" pitchFamily="18" charset="0"/>
              </a:rPr>
              <a:t>Online code editor with multi-language support.</a:t>
            </a:r>
          </a:p>
          <a:p>
            <a:pPr algn="just"/>
            <a:r>
              <a:rPr lang="en-IN" sz="2000">
                <a:latin typeface="Times New Roman" panose="02020603050405020304" pitchFamily="18" charset="0"/>
                <a:cs typeface="Times New Roman" panose="02020603050405020304" pitchFamily="18" charset="0"/>
              </a:rPr>
              <a:t>Code submission and functional correctness evaluation.</a:t>
            </a:r>
          </a:p>
          <a:p>
            <a:pPr algn="just"/>
            <a:r>
              <a:rPr lang="en-IN" sz="2000">
                <a:latin typeface="Times New Roman" panose="02020603050405020304" pitchFamily="18" charset="0"/>
                <a:cs typeface="Times New Roman" panose="02020603050405020304" pitchFamily="18" charset="0"/>
              </a:rPr>
              <a:t>Security analysis of submitted code using static analysis tools.</a:t>
            </a:r>
          </a:p>
          <a:p>
            <a:pPr algn="just"/>
            <a:r>
              <a:rPr lang="en-IN" sz="2000">
                <a:latin typeface="Times New Roman" panose="02020603050405020304" pitchFamily="18" charset="0"/>
                <a:cs typeface="Times New Roman" panose="02020603050405020304" pitchFamily="18" charset="0"/>
              </a:rPr>
              <a:t>Detailed feedback with secure coding recommendations.</a:t>
            </a:r>
          </a:p>
          <a:p>
            <a:pPr algn="just"/>
            <a:r>
              <a:rPr lang="en-IN" sz="2000">
                <a:latin typeface="Times New Roman" panose="02020603050405020304" pitchFamily="18" charset="0"/>
                <a:cs typeface="Times New Roman" panose="02020603050405020304" pitchFamily="18" charset="0"/>
              </a:rPr>
              <a:t>Progress tracking and performance dashboard.</a:t>
            </a:r>
          </a:p>
          <a:p>
            <a:pPr algn="just"/>
            <a:r>
              <a:rPr lang="en-IN" sz="2000">
                <a:latin typeface="Times New Roman" panose="02020603050405020304" pitchFamily="18" charset="0"/>
                <a:cs typeface="Times New Roman" panose="02020603050405020304" pitchFamily="18" charset="0"/>
              </a:rPr>
              <a:t>Admin module for managing users, challenges, and learning content.</a:t>
            </a:r>
          </a:p>
        </p:txBody>
      </p:sp>
    </p:spTree>
    <p:extLst>
      <p:ext uri="{BB962C8B-B14F-4D97-AF65-F5344CB8AC3E}">
        <p14:creationId xmlns:p14="http://schemas.microsoft.com/office/powerpoint/2010/main" val="2897261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B2853-125A-A513-A3AC-25293B31A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86EAB5-29CB-467F-BB01-048ED04FEB1A}"/>
              </a:ext>
            </a:extLst>
          </p:cNvPr>
          <p:cNvSpPr>
            <a:spLocks noGrp="1"/>
          </p:cNvSpPr>
          <p:nvPr>
            <p:ph type="title"/>
          </p:nvPr>
        </p:nvSpPr>
        <p:spPr>
          <a:xfrm>
            <a:off x="838200" y="866569"/>
            <a:ext cx="10515600" cy="1325563"/>
          </a:xfrm>
        </p:spPr>
        <p:txBody>
          <a:bodyPr>
            <a:normAutofit/>
          </a:bodyPr>
          <a:lstStyle/>
          <a:p>
            <a:r>
              <a:rPr lang="en-IN" sz="3200" b="1">
                <a:latin typeface="Times New Roman" panose="02020603050405020304" pitchFamily="18" charset="0"/>
                <a:cs typeface="Times New Roman" panose="02020603050405020304" pitchFamily="18" charset="0"/>
              </a:rPr>
              <a:t>Non-Functional Requirements</a:t>
            </a:r>
            <a:endParaRPr lang="en-IN" sz="320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FC7403E-90B5-DF63-3BEE-0F4CE3C5E658}"/>
              </a:ext>
            </a:extLst>
          </p:cNvPr>
          <p:cNvSpPr>
            <a:spLocks noGrp="1"/>
          </p:cNvSpPr>
          <p:nvPr>
            <p:ph idx="1"/>
          </p:nvPr>
        </p:nvSpPr>
        <p:spPr>
          <a:xfrm>
            <a:off x="838200" y="1953444"/>
            <a:ext cx="10515600" cy="4351338"/>
          </a:xfrm>
        </p:spPr>
        <p:txBody>
          <a:bodyPr>
            <a:normAutofit/>
          </a:bodyPr>
          <a:lstStyle/>
          <a:p>
            <a:pPr algn="just"/>
            <a:r>
              <a:rPr lang="en-IN" sz="2000">
                <a:latin typeface="Times New Roman" panose="02020603050405020304" pitchFamily="18" charset="0"/>
                <a:cs typeface="Times New Roman" panose="02020603050405020304" pitchFamily="18" charset="0"/>
              </a:rPr>
              <a:t>User-friendly and responsive interface.</a:t>
            </a:r>
          </a:p>
          <a:p>
            <a:pPr algn="just"/>
            <a:r>
              <a:rPr lang="en-IN" sz="2000">
                <a:latin typeface="Times New Roman" panose="02020603050405020304" pitchFamily="18" charset="0"/>
                <a:cs typeface="Times New Roman" panose="02020603050405020304" pitchFamily="18" charset="0"/>
              </a:rPr>
              <a:t>Fast code compilation and evaluation.</a:t>
            </a:r>
          </a:p>
          <a:p>
            <a:pPr algn="just"/>
            <a:r>
              <a:rPr lang="en-IN" sz="2000">
                <a:latin typeface="Times New Roman" panose="02020603050405020304" pitchFamily="18" charset="0"/>
                <a:cs typeface="Times New Roman" panose="02020603050405020304" pitchFamily="18" charset="0"/>
              </a:rPr>
              <a:t>Secure authentication and data protection.</a:t>
            </a:r>
          </a:p>
          <a:p>
            <a:pPr algn="just"/>
            <a:r>
              <a:rPr lang="en-IN" sz="2000">
                <a:latin typeface="Times New Roman" panose="02020603050405020304" pitchFamily="18" charset="0"/>
                <a:cs typeface="Times New Roman" panose="02020603050405020304" pitchFamily="18" charset="0"/>
              </a:rPr>
              <a:t>Scalable architecture for adding new vulnerability categories.</a:t>
            </a:r>
          </a:p>
          <a:p>
            <a:pPr algn="just"/>
            <a:r>
              <a:rPr lang="en-IN" sz="2000">
                <a:latin typeface="Times New Roman" panose="02020603050405020304" pitchFamily="18" charset="0"/>
                <a:cs typeface="Times New Roman" panose="02020603050405020304" pitchFamily="18" charset="0"/>
              </a:rPr>
              <a:t>High availability and reliable performance.</a:t>
            </a:r>
          </a:p>
          <a:p>
            <a:pPr algn="just"/>
            <a:r>
              <a:rPr lang="en-IN" sz="2000">
                <a:latin typeface="Times New Roman" panose="02020603050405020304" pitchFamily="18" charset="0"/>
                <a:cs typeface="Times New Roman" panose="02020603050405020304" pitchFamily="18" charset="0"/>
              </a:rPr>
              <a:t>Maintainable and modular system architecture.</a:t>
            </a:r>
          </a:p>
          <a:p>
            <a:pPr algn="just"/>
            <a:r>
              <a:rPr lang="en-IN" sz="2000">
                <a:latin typeface="Times New Roman" panose="02020603050405020304" pitchFamily="18" charset="0"/>
                <a:cs typeface="Times New Roman" panose="02020603050405020304" pitchFamily="18" charset="0"/>
              </a:rPr>
              <a:t>Cross-platform accessibility through modern web browsers.</a:t>
            </a:r>
          </a:p>
          <a:p>
            <a:pPr algn="just"/>
            <a:r>
              <a:rPr lang="en-IN" sz="2000">
                <a:latin typeface="Times New Roman" panose="02020603050405020304" pitchFamily="18" charset="0"/>
                <a:cs typeface="Times New Roman" panose="02020603050405020304" pitchFamily="18" charset="0"/>
              </a:rPr>
              <a:t>Easy integration with external APIs and security analysis tools.</a:t>
            </a:r>
          </a:p>
        </p:txBody>
      </p:sp>
    </p:spTree>
    <p:extLst>
      <p:ext uri="{BB962C8B-B14F-4D97-AF65-F5344CB8AC3E}">
        <p14:creationId xmlns:p14="http://schemas.microsoft.com/office/powerpoint/2010/main" val="915307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5EAFE0-A899-D3E3-3189-347AD1C60C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3274400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DCEEAB-7ADE-E92B-1F2B-B14C0E9D83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2043271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319C3A-0402-7975-7910-7ACCA89EBF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194594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5FBDB0-D76A-B0BD-747F-797361C78C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25133253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946BA3-EB64-8C10-26F0-5F880BCA90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981" y="304966"/>
            <a:ext cx="11092037" cy="6248067"/>
          </a:xfrm>
          <a:prstGeom prst="rect">
            <a:avLst/>
          </a:prstGeom>
        </p:spPr>
      </p:pic>
    </p:spTree>
    <p:extLst>
      <p:ext uri="{BB962C8B-B14F-4D97-AF65-F5344CB8AC3E}">
        <p14:creationId xmlns:p14="http://schemas.microsoft.com/office/powerpoint/2010/main" val="4169463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4D758-A975-50FB-40C6-78BCF3708BF5}"/>
              </a:ext>
            </a:extLst>
          </p:cNvPr>
          <p:cNvSpPr>
            <a:spLocks noGrp="1"/>
          </p:cNvSpPr>
          <p:nvPr>
            <p:ph type="title"/>
          </p:nvPr>
        </p:nvSpPr>
        <p:spPr>
          <a:xfrm>
            <a:off x="4833784" y="297809"/>
            <a:ext cx="2524432" cy="766456"/>
          </a:xfrm>
        </p:spPr>
        <p:txBody>
          <a:bodyPr>
            <a:normAutofit/>
          </a:bodyPr>
          <a:lstStyle/>
          <a:p>
            <a:r>
              <a:rPr lang="en-IN" sz="400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BCF1A47-512F-6407-8ACD-C78E796ED96E}"/>
              </a:ext>
            </a:extLst>
          </p:cNvPr>
          <p:cNvSpPr>
            <a:spLocks noGrp="1"/>
          </p:cNvSpPr>
          <p:nvPr>
            <p:ph idx="1"/>
          </p:nvPr>
        </p:nvSpPr>
        <p:spPr>
          <a:xfrm>
            <a:off x="838200" y="1253330"/>
            <a:ext cx="10515600" cy="5462101"/>
          </a:xfrm>
        </p:spPr>
        <p:txBody>
          <a:bodyPr>
            <a:noAutofit/>
          </a:bodyPr>
          <a:lstStyle/>
          <a:p>
            <a:pPr algn="just"/>
            <a:r>
              <a:rPr lang="en-IN" sz="2000">
                <a:latin typeface="Times New Roman" panose="02020603050405020304" pitchFamily="18" charset="0"/>
                <a:cs typeface="Times New Roman" panose="02020603050405020304" pitchFamily="18" charset="0"/>
              </a:rPr>
              <a:t>Software vulnerabilities continue to pose significant risks to modern software applications.</a:t>
            </a:r>
          </a:p>
          <a:p>
            <a:pPr algn="just"/>
            <a:r>
              <a:rPr lang="en-IN" sz="2000">
                <a:latin typeface="Times New Roman" panose="02020603050405020304" pitchFamily="18" charset="0"/>
                <a:cs typeface="Times New Roman" panose="02020603050405020304" pitchFamily="18" charset="0"/>
              </a:rPr>
              <a:t>Existing platforms mainly focus on algorithmic programming, cybersecurity training, or vulnerability detection rather than secure coding practice.</a:t>
            </a:r>
          </a:p>
          <a:p>
            <a:pPr algn="just"/>
            <a:r>
              <a:rPr lang="en-IN" sz="2000">
                <a:latin typeface="Times New Roman" panose="02020603050405020304" pitchFamily="18" charset="0"/>
                <a:cs typeface="Times New Roman" panose="02020603050405020304" pitchFamily="18" charset="0"/>
              </a:rPr>
              <a:t>The literature survey identifies a clear research gap in providing hands-on secure coding education during software development.</a:t>
            </a:r>
          </a:p>
          <a:p>
            <a:pPr algn="just"/>
            <a:r>
              <a:rPr lang="en-IN" sz="2000">
                <a:latin typeface="Times New Roman" panose="02020603050405020304" pitchFamily="18" charset="0"/>
                <a:cs typeface="Times New Roman" panose="02020603050405020304" pitchFamily="18" charset="0"/>
              </a:rPr>
              <a:t>SecureCode AI aims to bridge this gap through vulnerability-based programming challenges and automated code evaluation.</a:t>
            </a:r>
          </a:p>
          <a:p>
            <a:pPr algn="just"/>
            <a:r>
              <a:rPr lang="en-IN" sz="2000">
                <a:latin typeface="Times New Roman" panose="02020603050405020304" pitchFamily="18" charset="0"/>
                <a:cs typeface="Times New Roman" panose="02020603050405020304" pitchFamily="18" charset="0"/>
              </a:rPr>
              <a:t>The first phase of the project focuses on the </a:t>
            </a:r>
            <a:r>
              <a:rPr lang="en-IN" sz="2000" b="1">
                <a:latin typeface="Times New Roman" panose="02020603050405020304" pitchFamily="18" charset="0"/>
                <a:cs typeface="Times New Roman" panose="02020603050405020304" pitchFamily="18" charset="0"/>
              </a:rPr>
              <a:t>Injection Attack</a:t>
            </a:r>
            <a:r>
              <a:rPr lang="en-IN" sz="2000">
                <a:latin typeface="Times New Roman" panose="02020603050405020304" pitchFamily="18" charset="0"/>
                <a:cs typeface="Times New Roman" panose="02020603050405020304" pitchFamily="18" charset="0"/>
              </a:rPr>
              <a:t> category as a proof of concept for secure coding education.</a:t>
            </a:r>
          </a:p>
          <a:p>
            <a:pPr algn="just"/>
            <a:r>
              <a:rPr lang="en-IN" sz="2000">
                <a:latin typeface="Times New Roman" panose="02020603050405020304" pitchFamily="18" charset="0"/>
                <a:cs typeface="Times New Roman" panose="02020603050405020304" pitchFamily="18" charset="0"/>
              </a:rPr>
              <a:t>The platform evaluates both functional correctness and security correctness while providing educational feedback to learners.</a:t>
            </a:r>
          </a:p>
          <a:p>
            <a:pPr algn="just"/>
            <a:r>
              <a:rPr lang="en-IN" sz="2000">
                <a:latin typeface="Times New Roman" panose="02020603050405020304" pitchFamily="18" charset="0"/>
                <a:cs typeface="Times New Roman" panose="02020603050405020304" pitchFamily="18" charset="0"/>
              </a:rPr>
              <a:t>The proposed approach promotes practical secure coding skills and supports continuous learning through progress tracking and challenge-based education.</a:t>
            </a:r>
          </a:p>
          <a:p>
            <a:pPr algn="just"/>
            <a:r>
              <a:rPr lang="en-IN" sz="2000">
                <a:latin typeface="Times New Roman" panose="02020603050405020304" pitchFamily="18" charset="0"/>
                <a:cs typeface="Times New Roman" panose="02020603050405020304" pitchFamily="18" charset="0"/>
              </a:rPr>
              <a:t>Future versions will expand the platform to include additional OWASP vulnerability categories, AI-assisted learning, and advanced security evaluation techniques.</a:t>
            </a:r>
          </a:p>
        </p:txBody>
      </p:sp>
    </p:spTree>
    <p:extLst>
      <p:ext uri="{BB962C8B-B14F-4D97-AF65-F5344CB8AC3E}">
        <p14:creationId xmlns:p14="http://schemas.microsoft.com/office/powerpoint/2010/main" val="1377666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5B7FA-A14C-7259-1049-83A3DDE8FD88}"/>
              </a:ext>
            </a:extLst>
          </p:cNvPr>
          <p:cNvSpPr>
            <a:spLocks noGrp="1"/>
          </p:cNvSpPr>
          <p:nvPr>
            <p:ph type="title"/>
          </p:nvPr>
        </p:nvSpPr>
        <p:spPr>
          <a:xfrm>
            <a:off x="4858364" y="283496"/>
            <a:ext cx="2475271" cy="795081"/>
          </a:xfrm>
        </p:spPr>
        <p:txBody>
          <a:bodyPr>
            <a:normAutofit/>
          </a:bodyPr>
          <a:lstStyle/>
          <a:p>
            <a:r>
              <a:rPr lang="en-IN" sz="400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323A1C7B-8DFB-C9A3-9DA0-16564EF39626}"/>
              </a:ext>
            </a:extLst>
          </p:cNvPr>
          <p:cNvSpPr>
            <a:spLocks noGrp="1"/>
          </p:cNvSpPr>
          <p:nvPr>
            <p:ph idx="1"/>
          </p:nvPr>
        </p:nvSpPr>
        <p:spPr>
          <a:xfrm>
            <a:off x="838199" y="1078577"/>
            <a:ext cx="10515600" cy="4351338"/>
          </a:xfrm>
        </p:spPr>
        <p:txBody>
          <a:bodyPr>
            <a:noAutofit/>
          </a:bodyPr>
          <a:lstStyle/>
          <a:p>
            <a:pPr marL="0" indent="0" algn="just">
              <a:buNone/>
            </a:pPr>
            <a:r>
              <a:rPr lang="en-IN" sz="1800">
                <a:latin typeface="Times New Roman" panose="02020603050405020304" pitchFamily="18" charset="0"/>
                <a:cs typeface="Times New Roman" panose="02020603050405020304" pitchFamily="18" charset="0"/>
              </a:rPr>
              <a:t>[1] V. Belozerov, P. J. Barclay, A. Sami, </a:t>
            </a:r>
            <a:r>
              <a:rPr lang="en-IN" sz="1800" i="1">
                <a:latin typeface="Times New Roman" panose="02020603050405020304" pitchFamily="18" charset="0"/>
                <a:cs typeface="Times New Roman" panose="02020603050405020304" pitchFamily="18" charset="0"/>
              </a:rPr>
              <a:t>et al.</a:t>
            </a:r>
            <a:r>
              <a:rPr lang="en-IN" sz="1800">
                <a:latin typeface="Times New Roman" panose="02020603050405020304" pitchFamily="18" charset="0"/>
                <a:cs typeface="Times New Roman" panose="02020603050405020304" pitchFamily="18" charset="0"/>
              </a:rPr>
              <a:t>, "Secure Coding with AI – From Detection to Repair," 2026.</a:t>
            </a:r>
          </a:p>
          <a:p>
            <a:pPr marL="0" indent="0" algn="just">
              <a:buNone/>
            </a:pPr>
            <a:r>
              <a:rPr lang="en-IN" sz="1800">
                <a:latin typeface="Times New Roman" panose="02020603050405020304" pitchFamily="18" charset="0"/>
                <a:cs typeface="Times New Roman" panose="02020603050405020304" pitchFamily="18" charset="0"/>
              </a:rPr>
              <a:t>[2] H. Yan, S. S. Vaidya, X. Zhang, and Z. Yao, "Guiding AI to Fix Its Own Flaws: An Empirical Study on LLM-Driven Secure Code Generation," 2025.</a:t>
            </a:r>
          </a:p>
          <a:p>
            <a:pPr marL="0" indent="0" algn="just">
              <a:buNone/>
            </a:pPr>
            <a:r>
              <a:rPr lang="en-IN" sz="1800">
                <a:latin typeface="Times New Roman" panose="02020603050405020304" pitchFamily="18" charset="0"/>
                <a:cs typeface="Times New Roman" panose="02020603050405020304" pitchFamily="18" charset="0"/>
              </a:rPr>
              <a:t>[3] R. Patir, K. Guo, H. Cai, and H. Hu, "SoK: AI Secure Code Generation – Progress, Pitfalls and Paths Forward," 2026.</a:t>
            </a:r>
          </a:p>
          <a:p>
            <a:pPr marL="0" indent="0" algn="just">
              <a:buNone/>
            </a:pPr>
            <a:r>
              <a:rPr lang="en-IN" sz="1800">
                <a:latin typeface="Times New Roman" panose="02020603050405020304" pitchFamily="18" charset="0"/>
                <a:cs typeface="Times New Roman" panose="02020603050405020304" pitchFamily="18" charset="0"/>
              </a:rPr>
              <a:t>[4] H. S. Alwageed and R. A. Khan, "The Role of Generative AI in Strengthening Secure Software Coding Practices," 2025.</a:t>
            </a:r>
          </a:p>
          <a:p>
            <a:pPr marL="0" indent="0" algn="just">
              <a:buNone/>
            </a:pPr>
            <a:r>
              <a:rPr lang="en-IN" sz="1800">
                <a:latin typeface="Times New Roman" panose="02020603050405020304" pitchFamily="18" charset="0"/>
                <a:cs typeface="Times New Roman" panose="02020603050405020304" pitchFamily="18" charset="0"/>
              </a:rPr>
              <a:t>[5] F. H. Bappy, </a:t>
            </a:r>
            <a:r>
              <a:rPr lang="en-IN" sz="1800" i="1">
                <a:latin typeface="Times New Roman" panose="02020603050405020304" pitchFamily="18" charset="0"/>
                <a:cs typeface="Times New Roman" panose="02020603050405020304" pitchFamily="18" charset="0"/>
              </a:rPr>
              <a:t>et al.</a:t>
            </a:r>
            <a:r>
              <a:rPr lang="en-IN" sz="1800">
                <a:latin typeface="Times New Roman" panose="02020603050405020304" pitchFamily="18" charset="0"/>
                <a:cs typeface="Times New Roman" panose="02020603050405020304" pitchFamily="18" charset="0"/>
              </a:rPr>
              <a:t>, "Secure Coding with AI Coding Assistants: From Preventive to Reactive Security," 2026.</a:t>
            </a:r>
          </a:p>
          <a:p>
            <a:pPr marL="0" indent="0" algn="just">
              <a:buNone/>
            </a:pPr>
            <a:r>
              <a:rPr lang="en-IN" sz="1800">
                <a:latin typeface="Times New Roman" panose="02020603050405020304" pitchFamily="18" charset="0"/>
                <a:cs typeface="Times New Roman" panose="02020603050405020304" pitchFamily="18" charset="0"/>
              </a:rPr>
              <a:t>[6] T. E. Gasiba, U. Lechner, M. Pinto-Albuquerque, and D. Mendez, "Is Secure Coding Education in the Industry Needed?," 2021.</a:t>
            </a:r>
          </a:p>
          <a:p>
            <a:pPr marL="0" indent="0" algn="just">
              <a:buNone/>
            </a:pPr>
            <a:r>
              <a:rPr lang="en-IN" sz="1800">
                <a:latin typeface="Times New Roman" panose="02020603050405020304" pitchFamily="18" charset="0"/>
                <a:cs typeface="Times New Roman" panose="02020603050405020304" pitchFamily="18" charset="0"/>
              </a:rPr>
              <a:t>[7] T. Gasiba, U. Lechner, M. Pinto-Albuquerque, and A. Zouitni, "Design of Secure Coding Challenges for Cybersecurity Education in the Industry," 2021.</a:t>
            </a:r>
          </a:p>
          <a:p>
            <a:pPr marL="0" indent="0" algn="just">
              <a:buNone/>
            </a:pPr>
            <a:r>
              <a:rPr lang="en-IN" sz="1800">
                <a:latin typeface="Times New Roman" panose="02020603050405020304" pitchFamily="18" charset="0"/>
                <a:cs typeface="Times New Roman" panose="02020603050405020304" pitchFamily="18" charset="0"/>
              </a:rPr>
              <a:t>[8] K. Malinka, </a:t>
            </a:r>
            <a:r>
              <a:rPr lang="en-IN" sz="1800" i="1">
                <a:latin typeface="Times New Roman" panose="02020603050405020304" pitchFamily="18" charset="0"/>
                <a:cs typeface="Times New Roman" panose="02020603050405020304" pitchFamily="18" charset="0"/>
              </a:rPr>
              <a:t>et al.</a:t>
            </a:r>
            <a:r>
              <a:rPr lang="en-IN" sz="1800">
                <a:latin typeface="Times New Roman" panose="02020603050405020304" pitchFamily="18" charset="0"/>
                <a:cs typeface="Times New Roman" panose="02020603050405020304" pitchFamily="18" charset="0"/>
              </a:rPr>
              <a:t>, "Using Real-World Bug Bounty Programs in Secure Coding Course," 2024.</a:t>
            </a:r>
          </a:p>
          <a:p>
            <a:pPr marL="0" indent="0" algn="just">
              <a:buNone/>
            </a:pPr>
            <a:r>
              <a:rPr lang="en-IN" sz="1800">
                <a:latin typeface="Times New Roman" panose="02020603050405020304" pitchFamily="18" charset="0"/>
                <a:cs typeface="Times New Roman" panose="02020603050405020304" pitchFamily="18" charset="0"/>
              </a:rPr>
              <a:t>[9] A. Torbunova, A. Ashraf, and I. Porres, "A Systematic Mapping Study on Teaching Security Concepts in Programming Courses," 2024.</a:t>
            </a:r>
          </a:p>
          <a:p>
            <a:pPr marL="0" indent="0" algn="just">
              <a:buNone/>
            </a:pPr>
            <a:r>
              <a:rPr lang="en-IN" sz="1800">
                <a:latin typeface="Times New Roman" panose="02020603050405020304" pitchFamily="18" charset="0"/>
                <a:cs typeface="Times New Roman" panose="02020603050405020304" pitchFamily="18" charset="0"/>
              </a:rPr>
              <a:t>[10] T. Gasiba, </a:t>
            </a:r>
            <a:r>
              <a:rPr lang="en-IN" sz="1800" i="1">
                <a:latin typeface="Times New Roman" panose="02020603050405020304" pitchFamily="18" charset="0"/>
                <a:cs typeface="Times New Roman" panose="02020603050405020304" pitchFamily="18" charset="0"/>
              </a:rPr>
              <a:t>et al.</a:t>
            </a:r>
            <a:r>
              <a:rPr lang="en-IN" sz="1800">
                <a:latin typeface="Times New Roman" panose="02020603050405020304" pitchFamily="18" charset="0"/>
                <a:cs typeface="Times New Roman" panose="02020603050405020304" pitchFamily="18" charset="0"/>
              </a:rPr>
              <a:t>, "Secure Coding Education Through Gamification and CTF Challenges," 2021.</a:t>
            </a:r>
          </a:p>
        </p:txBody>
      </p:sp>
    </p:spTree>
    <p:extLst>
      <p:ext uri="{BB962C8B-B14F-4D97-AF65-F5344CB8AC3E}">
        <p14:creationId xmlns:p14="http://schemas.microsoft.com/office/powerpoint/2010/main" val="1970901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732</TotalTime>
  <Words>2458</Words>
  <Application>Microsoft Office PowerPoint</Application>
  <PresentationFormat>Widescreen</PresentationFormat>
  <Paragraphs>148</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Office Theme</vt:lpstr>
      <vt:lpstr>“Secure Coding AI”</vt:lpstr>
      <vt:lpstr>Abstract</vt:lpstr>
      <vt:lpstr>Introduction</vt:lpstr>
      <vt:lpstr>PowerPoint Presentation</vt:lpstr>
      <vt:lpstr>PowerPoint Presentation</vt:lpstr>
      <vt:lpstr>PowerPoint Presentation</vt:lpstr>
      <vt:lpstr>PowerPoint Presentation</vt:lpstr>
      <vt:lpstr>PowerPoint Presentation</vt:lpstr>
      <vt:lpstr>Research Gap</vt:lpstr>
      <vt:lpstr>Problem Statement</vt:lpstr>
      <vt:lpstr>Objectives</vt:lpstr>
      <vt:lpstr>Scope</vt:lpstr>
      <vt:lpstr>SRS</vt:lpstr>
      <vt:lpstr>Non-Functional Requirements</vt:lpstr>
      <vt:lpstr>PowerPoint Presentation</vt:lpstr>
      <vt:lpstr>PowerPoint Presentation</vt:lpstr>
      <vt:lpstr>PowerPoint Presentation</vt:lpstr>
      <vt:lpstr>PowerPoint Presentation</vt:lpstr>
      <vt:lpstr>PowerPoint Presentation</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 jain</dc:creator>
  <cp:lastModifiedBy>harsh jain</cp:lastModifiedBy>
  <cp:revision>15</cp:revision>
  <dcterms:created xsi:type="dcterms:W3CDTF">2026-07-27T07:38:45Z</dcterms:created>
  <dcterms:modified xsi:type="dcterms:W3CDTF">2026-08-16T16:26:15Z</dcterms:modified>
</cp:coreProperties>
</file>